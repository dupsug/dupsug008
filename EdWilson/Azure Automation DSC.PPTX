
<file path=[Content_Types].xml><?xml version="1.0" encoding="utf-8"?>
<Types xmlns="http://schemas.openxmlformats.org/package/2006/content-types">
  <Default Extension="png" ContentType="image/png"/>
  <Default Extension="pdf" ContentType="application/pdf"/>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4.xml" ContentType="application/vnd.openxmlformats-officedocument.presentationml.tags+xml"/>
  <Override PartName="/ppt/notesSlides/notesSlide30.xml" ContentType="application/vnd.openxmlformats-officedocument.presentationml.notesSlide+xml"/>
  <Override PartName="/ppt/tags/tag5.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6.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notesMasterIdLst>
    <p:notesMasterId r:id="rId48"/>
  </p:notesMasterIdLst>
  <p:sldIdLst>
    <p:sldId id="257" r:id="rId2"/>
    <p:sldId id="271" r:id="rId3"/>
    <p:sldId id="310" r:id="rId4"/>
    <p:sldId id="311" r:id="rId5"/>
    <p:sldId id="312" r:id="rId6"/>
    <p:sldId id="285" r:id="rId7"/>
    <p:sldId id="286" r:id="rId8"/>
    <p:sldId id="288" r:id="rId9"/>
    <p:sldId id="293" r:id="rId10"/>
    <p:sldId id="297" r:id="rId11"/>
    <p:sldId id="314" r:id="rId12"/>
    <p:sldId id="345" r:id="rId13"/>
    <p:sldId id="346" r:id="rId14"/>
    <p:sldId id="347" r:id="rId15"/>
    <p:sldId id="317" r:id="rId16"/>
    <p:sldId id="315" r:id="rId17"/>
    <p:sldId id="318" r:id="rId18"/>
    <p:sldId id="319" r:id="rId19"/>
    <p:sldId id="320" r:id="rId20"/>
    <p:sldId id="333" r:id="rId21"/>
    <p:sldId id="321" r:id="rId22"/>
    <p:sldId id="329" r:id="rId23"/>
    <p:sldId id="323" r:id="rId24"/>
    <p:sldId id="324" r:id="rId25"/>
    <p:sldId id="325" r:id="rId26"/>
    <p:sldId id="326" r:id="rId27"/>
    <p:sldId id="327" r:id="rId28"/>
    <p:sldId id="328" r:id="rId29"/>
    <p:sldId id="335" r:id="rId30"/>
    <p:sldId id="355" r:id="rId31"/>
    <p:sldId id="331" r:id="rId32"/>
    <p:sldId id="336" r:id="rId33"/>
    <p:sldId id="338" r:id="rId34"/>
    <p:sldId id="341" r:id="rId35"/>
    <p:sldId id="342" r:id="rId36"/>
    <p:sldId id="343" r:id="rId37"/>
    <p:sldId id="339" r:id="rId38"/>
    <p:sldId id="332" r:id="rId39"/>
    <p:sldId id="349" r:id="rId40"/>
    <p:sldId id="344" r:id="rId41"/>
    <p:sldId id="348" r:id="rId42"/>
    <p:sldId id="354" r:id="rId43"/>
    <p:sldId id="350" r:id="rId44"/>
    <p:sldId id="351" r:id="rId45"/>
    <p:sldId id="352" r:id="rId46"/>
    <p:sldId id="35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1" autoAdjust="0"/>
    <p:restoredTop sz="88172" autoAdjust="0"/>
  </p:normalViewPr>
  <p:slideViewPr>
    <p:cSldViewPr snapToGrid="0">
      <p:cViewPr varScale="1">
        <p:scale>
          <a:sx n="63" d="100"/>
          <a:sy n="63" d="100"/>
        </p:scale>
        <p:origin x="72"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008AB5-F6E6-4EFA-93C3-7BB95D965938}"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8229C79B-3A1C-4F1C-9B3F-2E7A940BE463}">
      <dgm:prSet phldrT="[Text]"/>
      <dgm:spPr/>
      <dgm:t>
        <a:bodyPr/>
        <a:lstStyle/>
        <a:p>
          <a:r>
            <a:rPr lang="en-US" dirty="0"/>
            <a:t>Centralized, secure store </a:t>
          </a:r>
        </a:p>
      </dgm:t>
    </dgm:pt>
    <dgm:pt modelId="{E3E5678F-F6BC-4D5E-A9BB-CE93732F77E4}" type="parTrans" cxnId="{0D33666D-88AB-4DC1-B3F2-1529E79F1C8F}">
      <dgm:prSet/>
      <dgm:spPr/>
      <dgm:t>
        <a:bodyPr/>
        <a:lstStyle/>
        <a:p>
          <a:endParaRPr lang="en-US"/>
        </a:p>
      </dgm:t>
    </dgm:pt>
    <dgm:pt modelId="{6A5A050D-D082-458B-B03C-0FF13EA7154F}" type="sibTrans" cxnId="{0D33666D-88AB-4DC1-B3F2-1529E79F1C8F}">
      <dgm:prSet/>
      <dgm:spPr/>
      <dgm:t>
        <a:bodyPr/>
        <a:lstStyle/>
        <a:p>
          <a:endParaRPr lang="en-US"/>
        </a:p>
      </dgm:t>
    </dgm:pt>
    <dgm:pt modelId="{747A00C2-1B3C-4290-9085-DBDA447174D4}">
      <dgm:prSet/>
      <dgm:spPr/>
      <dgm:t>
        <a:bodyPr/>
        <a:lstStyle/>
        <a:p>
          <a:r>
            <a:rPr lang="en-US" dirty="0"/>
            <a:t>Highly Available, Scalable, Manageable</a:t>
          </a:r>
        </a:p>
      </dgm:t>
    </dgm:pt>
    <dgm:pt modelId="{6F6B766C-7F2E-43B0-9DFF-DF4842CCF197}" type="parTrans" cxnId="{3B9D93ED-F78B-4F3F-8B95-FCAD55DE8392}">
      <dgm:prSet/>
      <dgm:spPr/>
      <dgm:t>
        <a:bodyPr/>
        <a:lstStyle/>
        <a:p>
          <a:endParaRPr lang="en-US"/>
        </a:p>
      </dgm:t>
    </dgm:pt>
    <dgm:pt modelId="{6CBD0E70-B6DA-46CC-87B4-0FBDBB4241E2}" type="sibTrans" cxnId="{3B9D93ED-F78B-4F3F-8B95-FCAD55DE8392}">
      <dgm:prSet/>
      <dgm:spPr/>
      <dgm:t>
        <a:bodyPr/>
        <a:lstStyle/>
        <a:p>
          <a:endParaRPr lang="en-US"/>
        </a:p>
      </dgm:t>
    </dgm:pt>
    <dgm:pt modelId="{D7A453DE-2AF8-4EFE-B7E8-B1E49C3947A5}">
      <dgm:prSet/>
      <dgm:spPr/>
      <dgm:t>
        <a:bodyPr/>
        <a:lstStyle/>
        <a:p>
          <a:r>
            <a:rPr lang="en-US" dirty="0"/>
            <a:t>PowerShell</a:t>
          </a:r>
        </a:p>
      </dgm:t>
    </dgm:pt>
    <dgm:pt modelId="{1FE24E08-5FEF-4EF6-B020-DE4BA63FCD0E}" type="parTrans" cxnId="{458477BA-CF4A-423F-9237-2D3121F86338}">
      <dgm:prSet/>
      <dgm:spPr/>
      <dgm:t>
        <a:bodyPr/>
        <a:lstStyle/>
        <a:p>
          <a:endParaRPr lang="en-US"/>
        </a:p>
      </dgm:t>
    </dgm:pt>
    <dgm:pt modelId="{B62D12F4-17E9-4618-8FEC-F51D49AA0837}" type="sibTrans" cxnId="{458477BA-CF4A-423F-9237-2D3121F86338}">
      <dgm:prSet/>
      <dgm:spPr/>
      <dgm:t>
        <a:bodyPr/>
        <a:lstStyle/>
        <a:p>
          <a:endParaRPr lang="en-US"/>
        </a:p>
      </dgm:t>
    </dgm:pt>
    <dgm:pt modelId="{5F83653F-1D74-43D2-A4A4-AE3EF489577D}">
      <dgm:prSet/>
      <dgm:spPr>
        <a:solidFill>
          <a:srgbClr val="0072C6"/>
        </a:solidFill>
      </dgm:spPr>
      <dgm:t>
        <a:bodyPr/>
        <a:lstStyle/>
        <a:p>
          <a:r>
            <a:rPr lang="en-US" b="1" dirty="0"/>
            <a:t>Runbooks</a:t>
          </a:r>
          <a:r>
            <a:rPr lang="en-US" dirty="0"/>
            <a:t> - PowerShell scripts that automate complex, end-to-end processes </a:t>
          </a:r>
        </a:p>
      </dgm:t>
    </dgm:pt>
    <dgm:pt modelId="{1C281DDE-555E-4A94-B235-C7DF5D3E0509}" type="parTrans" cxnId="{FD9A6E19-6575-4C9F-89ED-1713E536B5C6}">
      <dgm:prSet/>
      <dgm:spPr/>
      <dgm:t>
        <a:bodyPr/>
        <a:lstStyle/>
        <a:p>
          <a:endParaRPr lang="en-US"/>
        </a:p>
      </dgm:t>
    </dgm:pt>
    <dgm:pt modelId="{D4F113BB-BD5C-4F58-8DD7-11075AD18423}" type="sibTrans" cxnId="{FD9A6E19-6575-4C9F-89ED-1713E536B5C6}">
      <dgm:prSet/>
      <dgm:spPr/>
      <dgm:t>
        <a:bodyPr/>
        <a:lstStyle/>
        <a:p>
          <a:endParaRPr lang="en-US"/>
        </a:p>
      </dgm:t>
    </dgm:pt>
    <dgm:pt modelId="{D5DCA207-8E10-49C8-9E50-2695AA9805DC}">
      <dgm:prSet/>
      <dgm:spPr/>
      <dgm:t>
        <a:bodyPr/>
        <a:lstStyle/>
        <a:p>
          <a:r>
            <a:rPr lang="en-US" dirty="0"/>
            <a:t>Historical Analysis</a:t>
          </a:r>
        </a:p>
      </dgm:t>
    </dgm:pt>
    <dgm:pt modelId="{630FC450-BCC4-4BB4-BC49-184E4941B8E7}" type="sibTrans" cxnId="{26DBBFAD-7278-4DBC-9C9B-D4CEAEF4B62D}">
      <dgm:prSet/>
      <dgm:spPr/>
      <dgm:t>
        <a:bodyPr/>
        <a:lstStyle/>
        <a:p>
          <a:endParaRPr lang="en-US"/>
        </a:p>
      </dgm:t>
    </dgm:pt>
    <dgm:pt modelId="{7082AB3B-26F9-4A7F-80FC-634EB6A6B98B}" type="parTrans" cxnId="{26DBBFAD-7278-4DBC-9C9B-D4CEAEF4B62D}">
      <dgm:prSet/>
      <dgm:spPr/>
      <dgm:t>
        <a:bodyPr/>
        <a:lstStyle/>
        <a:p>
          <a:endParaRPr lang="en-US"/>
        </a:p>
      </dgm:t>
    </dgm:pt>
    <dgm:pt modelId="{28DA9657-129A-4AB6-AE40-72A130088124}">
      <dgm:prSet/>
      <dgm:spPr>
        <a:solidFill>
          <a:srgbClr val="0072C6"/>
        </a:solidFill>
      </dgm:spPr>
      <dgm:t>
        <a:bodyPr/>
        <a:lstStyle/>
        <a:p>
          <a:r>
            <a:rPr lang="en-US" dirty="0"/>
            <a:t>View runbook version used for each job</a:t>
          </a:r>
        </a:p>
      </dgm:t>
    </dgm:pt>
    <dgm:pt modelId="{61E8B446-597E-40E6-9472-76865910E31D}" type="sibTrans" cxnId="{8E579F5A-1F63-4656-B31A-A0CD788881B0}">
      <dgm:prSet/>
      <dgm:spPr/>
      <dgm:t>
        <a:bodyPr/>
        <a:lstStyle/>
        <a:p>
          <a:endParaRPr lang="en-US"/>
        </a:p>
      </dgm:t>
    </dgm:pt>
    <dgm:pt modelId="{C33F738F-CDE7-48FD-9FBB-FA9900C41D6A}" type="parTrans" cxnId="{8E579F5A-1F63-4656-B31A-A0CD788881B0}">
      <dgm:prSet/>
      <dgm:spPr/>
      <dgm:t>
        <a:bodyPr/>
        <a:lstStyle/>
        <a:p>
          <a:endParaRPr lang="en-US"/>
        </a:p>
      </dgm:t>
    </dgm:pt>
    <dgm:pt modelId="{6E4AD472-B509-474D-A3D3-EA15FC93EFC3}">
      <dgm:prSet/>
      <dgm:spPr>
        <a:solidFill>
          <a:srgbClr val="0072C6"/>
        </a:solidFill>
      </dgm:spPr>
      <dgm:t>
        <a:bodyPr/>
        <a:lstStyle/>
        <a:p>
          <a:r>
            <a:rPr lang="en-US" dirty="0"/>
            <a:t>Historical view of runbook job executions</a:t>
          </a:r>
        </a:p>
      </dgm:t>
    </dgm:pt>
    <dgm:pt modelId="{9CCA1FA0-5D32-4AC3-A5E3-B55CB90E49D4}" type="sibTrans" cxnId="{D260FA37-2724-4F5C-AD9D-D29DDFB21E59}">
      <dgm:prSet/>
      <dgm:spPr/>
      <dgm:t>
        <a:bodyPr/>
        <a:lstStyle/>
        <a:p>
          <a:endParaRPr lang="en-US"/>
        </a:p>
      </dgm:t>
    </dgm:pt>
    <dgm:pt modelId="{FA21199B-2788-44B5-B8F3-06154C5C479C}" type="parTrans" cxnId="{D260FA37-2724-4F5C-AD9D-D29DDFB21E59}">
      <dgm:prSet/>
      <dgm:spPr/>
      <dgm:t>
        <a:bodyPr/>
        <a:lstStyle/>
        <a:p>
          <a:endParaRPr lang="en-US"/>
        </a:p>
      </dgm:t>
    </dgm:pt>
    <dgm:pt modelId="{BD3E42F2-AA31-4032-8D27-55F4C2B02A72}">
      <dgm:prSet/>
      <dgm:spPr>
        <a:solidFill>
          <a:srgbClr val="0072C6"/>
        </a:solidFill>
      </dgm:spPr>
      <dgm:t>
        <a:bodyPr/>
        <a:lstStyle/>
        <a:p>
          <a:r>
            <a:rPr lang="en-US" dirty="0"/>
            <a:t>PS DSC Pull / Reporting server</a:t>
          </a:r>
        </a:p>
      </dgm:t>
    </dgm:pt>
    <dgm:pt modelId="{DEBA9F43-B5D7-4AFD-A361-251A765010B8}" type="sibTrans" cxnId="{6EC49439-A79B-40B0-B353-456CB8032027}">
      <dgm:prSet/>
      <dgm:spPr/>
      <dgm:t>
        <a:bodyPr/>
        <a:lstStyle/>
        <a:p>
          <a:endParaRPr lang="en-US"/>
        </a:p>
      </dgm:t>
    </dgm:pt>
    <dgm:pt modelId="{7379508A-00BB-41A4-84D8-A24FE8ED63D1}" type="parTrans" cxnId="{6EC49439-A79B-40B0-B353-456CB8032027}">
      <dgm:prSet/>
      <dgm:spPr/>
      <dgm:t>
        <a:bodyPr/>
        <a:lstStyle/>
        <a:p>
          <a:endParaRPr lang="en-US"/>
        </a:p>
      </dgm:t>
    </dgm:pt>
    <dgm:pt modelId="{D0C63EAD-069D-44FC-B318-5B696F1A00BB}">
      <dgm:prSet/>
      <dgm:spPr>
        <a:solidFill>
          <a:srgbClr val="0072C6"/>
        </a:solidFill>
      </dgm:spPr>
      <dgm:t>
        <a:bodyPr/>
        <a:lstStyle/>
        <a:p>
          <a:r>
            <a:rPr lang="en-US" dirty="0"/>
            <a:t>Execution environment for PowerShell</a:t>
          </a:r>
        </a:p>
      </dgm:t>
    </dgm:pt>
    <dgm:pt modelId="{11795C78-1B2A-48AB-9F5F-1A35D349D0F4}" type="sibTrans" cxnId="{A31F32AE-74B2-48BB-8569-21E52E2D48B4}">
      <dgm:prSet/>
      <dgm:spPr/>
      <dgm:t>
        <a:bodyPr/>
        <a:lstStyle/>
        <a:p>
          <a:endParaRPr lang="en-US"/>
        </a:p>
      </dgm:t>
    </dgm:pt>
    <dgm:pt modelId="{9B98AE07-47D2-4AA3-8F42-017FC0DF5F16}" type="parTrans" cxnId="{A31F32AE-74B2-48BB-8569-21E52E2D48B4}">
      <dgm:prSet/>
      <dgm:spPr/>
      <dgm:t>
        <a:bodyPr/>
        <a:lstStyle/>
        <a:p>
          <a:endParaRPr lang="en-US"/>
        </a:p>
      </dgm:t>
    </dgm:pt>
    <dgm:pt modelId="{31F3AA93-0CD0-4680-8284-FFE08FC59BCD}">
      <dgm:prSet/>
      <dgm:spPr>
        <a:solidFill>
          <a:srgbClr val="0072C6"/>
        </a:solidFill>
      </dgm:spPr>
      <dgm:t>
        <a:bodyPr/>
        <a:lstStyle/>
        <a:p>
          <a:r>
            <a:rPr lang="en-US" dirty="0"/>
            <a:t>Schedules</a:t>
          </a:r>
        </a:p>
      </dgm:t>
    </dgm:pt>
    <dgm:pt modelId="{BB30678A-3847-4BEA-9A52-550CEBE659EE}" type="sibTrans" cxnId="{4F68EB9B-4299-4AA3-8859-F2DB0BB0FF40}">
      <dgm:prSet/>
      <dgm:spPr/>
      <dgm:t>
        <a:bodyPr/>
        <a:lstStyle/>
        <a:p>
          <a:endParaRPr lang="en-US"/>
        </a:p>
      </dgm:t>
    </dgm:pt>
    <dgm:pt modelId="{EBEA2116-B196-490A-BA3C-6641882DDC27}" type="parTrans" cxnId="{4F68EB9B-4299-4AA3-8859-F2DB0BB0FF40}">
      <dgm:prSet/>
      <dgm:spPr/>
      <dgm:t>
        <a:bodyPr/>
        <a:lstStyle/>
        <a:p>
          <a:endParaRPr lang="en-US"/>
        </a:p>
      </dgm:t>
    </dgm:pt>
    <dgm:pt modelId="{FE0BC528-F2DF-433C-93AC-61EA175AE182}">
      <dgm:prSet/>
      <dgm:spPr>
        <a:solidFill>
          <a:srgbClr val="0072C6"/>
        </a:solidFill>
      </dgm:spPr>
      <dgm:t>
        <a:bodyPr/>
        <a:lstStyle/>
        <a:p>
          <a:r>
            <a:rPr lang="en-US" dirty="0"/>
            <a:t>Draft / published versions</a:t>
          </a:r>
        </a:p>
      </dgm:t>
    </dgm:pt>
    <dgm:pt modelId="{93230466-3BFF-4DE1-A917-4C5F9FF1A72F}" type="sibTrans" cxnId="{6F6D8007-994F-416F-A6D5-3AA79897F215}">
      <dgm:prSet/>
      <dgm:spPr/>
      <dgm:t>
        <a:bodyPr/>
        <a:lstStyle/>
        <a:p>
          <a:endParaRPr lang="en-US"/>
        </a:p>
      </dgm:t>
    </dgm:pt>
    <dgm:pt modelId="{27E25CE3-27B3-40A9-99C9-1C05EC0110ED}" type="parTrans" cxnId="{6F6D8007-994F-416F-A6D5-3AA79897F215}">
      <dgm:prSet/>
      <dgm:spPr/>
      <dgm:t>
        <a:bodyPr/>
        <a:lstStyle/>
        <a:p>
          <a:endParaRPr lang="en-US"/>
        </a:p>
      </dgm:t>
    </dgm:pt>
    <dgm:pt modelId="{767975A5-C042-43DD-A709-FF82298110A0}">
      <dgm:prSet/>
      <dgm:spPr>
        <a:solidFill>
          <a:srgbClr val="0072C6"/>
        </a:solidFill>
      </dgm:spPr>
      <dgm:t>
        <a:bodyPr/>
        <a:lstStyle/>
        <a:p>
          <a:r>
            <a:rPr lang="en-US" dirty="0"/>
            <a:t>PS Modules / PS DSC resources</a:t>
          </a:r>
        </a:p>
      </dgm:t>
    </dgm:pt>
    <dgm:pt modelId="{A6C54583-3A2A-4D5B-9ECF-0F09657B9893}" type="sibTrans" cxnId="{A090B3FC-5C87-457B-BCD2-CBA1422DE29A}">
      <dgm:prSet/>
      <dgm:spPr/>
      <dgm:t>
        <a:bodyPr/>
        <a:lstStyle/>
        <a:p>
          <a:endParaRPr lang="en-US"/>
        </a:p>
      </dgm:t>
    </dgm:pt>
    <dgm:pt modelId="{909A6327-26F8-4212-98D1-FE8763EB91DA}" type="parTrans" cxnId="{A090B3FC-5C87-457B-BCD2-CBA1422DE29A}">
      <dgm:prSet/>
      <dgm:spPr/>
      <dgm:t>
        <a:bodyPr/>
        <a:lstStyle/>
        <a:p>
          <a:endParaRPr lang="en-US"/>
        </a:p>
      </dgm:t>
    </dgm:pt>
    <dgm:pt modelId="{7E9026AA-FC2C-4A12-8EBE-30598A25FC79}">
      <dgm:prSet/>
      <dgm:spPr>
        <a:solidFill>
          <a:srgbClr val="0072C6"/>
        </a:solidFill>
      </dgm:spPr>
      <dgm:t>
        <a:bodyPr/>
        <a:lstStyle/>
        <a:p>
          <a:r>
            <a:rPr lang="en-US" dirty="0"/>
            <a:t>Connections</a:t>
          </a:r>
        </a:p>
      </dgm:t>
    </dgm:pt>
    <dgm:pt modelId="{1D0AD35A-5883-4EFF-9A95-6444A1EFAC24}" type="sibTrans" cxnId="{0B88E6D2-4294-40AA-BA3A-3B94BC90E1E7}">
      <dgm:prSet/>
      <dgm:spPr/>
      <dgm:t>
        <a:bodyPr/>
        <a:lstStyle/>
        <a:p>
          <a:endParaRPr lang="en-US"/>
        </a:p>
      </dgm:t>
    </dgm:pt>
    <dgm:pt modelId="{D171F7F5-5018-4A02-8AE2-01E00D7C905B}" type="parTrans" cxnId="{0B88E6D2-4294-40AA-BA3A-3B94BC90E1E7}">
      <dgm:prSet/>
      <dgm:spPr/>
      <dgm:t>
        <a:bodyPr/>
        <a:lstStyle/>
        <a:p>
          <a:endParaRPr lang="en-US"/>
        </a:p>
      </dgm:t>
    </dgm:pt>
    <dgm:pt modelId="{6AF7FF56-1648-4A86-A0F5-D72020BDA939}">
      <dgm:prSet/>
      <dgm:spPr>
        <a:solidFill>
          <a:srgbClr val="0072C6"/>
        </a:solidFill>
      </dgm:spPr>
      <dgm:t>
        <a:bodyPr/>
        <a:lstStyle/>
        <a:p>
          <a:r>
            <a:rPr lang="en-US" dirty="0"/>
            <a:t>Variables </a:t>
          </a:r>
        </a:p>
      </dgm:t>
    </dgm:pt>
    <dgm:pt modelId="{97532758-FEAA-499C-9982-6182891E0006}" type="sibTrans" cxnId="{19789849-DDF2-4575-9243-2358435C1A99}">
      <dgm:prSet/>
      <dgm:spPr/>
      <dgm:t>
        <a:bodyPr/>
        <a:lstStyle/>
        <a:p>
          <a:endParaRPr lang="en-US"/>
        </a:p>
      </dgm:t>
    </dgm:pt>
    <dgm:pt modelId="{45A787CA-5458-44CC-AD76-DE86AC5EA0D3}" type="parTrans" cxnId="{19789849-DDF2-4575-9243-2358435C1A99}">
      <dgm:prSet/>
      <dgm:spPr/>
      <dgm:t>
        <a:bodyPr/>
        <a:lstStyle/>
        <a:p>
          <a:endParaRPr lang="en-US"/>
        </a:p>
      </dgm:t>
    </dgm:pt>
    <dgm:pt modelId="{4D8431F3-C41C-4B3D-B113-4AFB6FE347D3}">
      <dgm:prSet/>
      <dgm:spPr>
        <a:solidFill>
          <a:srgbClr val="0072C6"/>
        </a:solidFill>
      </dgm:spPr>
      <dgm:t>
        <a:bodyPr/>
        <a:lstStyle/>
        <a:p>
          <a:r>
            <a:rPr lang="en-US" dirty="0"/>
            <a:t>Credentials</a:t>
          </a:r>
        </a:p>
      </dgm:t>
    </dgm:pt>
    <dgm:pt modelId="{360C7058-260F-4E39-A93C-3ADEEBB8F16B}" type="sibTrans" cxnId="{A6B32C74-5E24-4001-B429-360ACABD4E00}">
      <dgm:prSet/>
      <dgm:spPr/>
      <dgm:t>
        <a:bodyPr/>
        <a:lstStyle/>
        <a:p>
          <a:endParaRPr lang="en-US"/>
        </a:p>
      </dgm:t>
    </dgm:pt>
    <dgm:pt modelId="{CD746BAE-C579-40FA-A815-74910853E9B7}" type="parTrans" cxnId="{A6B32C74-5E24-4001-B429-360ACABD4E00}">
      <dgm:prSet/>
      <dgm:spPr/>
      <dgm:t>
        <a:bodyPr/>
        <a:lstStyle/>
        <a:p>
          <a:endParaRPr lang="en-US"/>
        </a:p>
      </dgm:t>
    </dgm:pt>
    <dgm:pt modelId="{8B82AE11-04CF-4B9B-A75F-2EA082E361E7}">
      <dgm:prSet/>
      <dgm:spPr>
        <a:solidFill>
          <a:srgbClr val="0072C6"/>
        </a:solidFill>
      </dgm:spPr>
      <dgm:t>
        <a:bodyPr/>
        <a:lstStyle/>
        <a:p>
          <a:r>
            <a:rPr lang="en-US" dirty="0"/>
            <a:t>Certificates</a:t>
          </a:r>
        </a:p>
      </dgm:t>
    </dgm:pt>
    <dgm:pt modelId="{E31BBA4A-FABA-46FA-870D-DFC7C52C628F}" type="parTrans" cxnId="{F8A06EA7-4631-4107-BC0F-B28568987EAD}">
      <dgm:prSet/>
      <dgm:spPr/>
      <dgm:t>
        <a:bodyPr/>
        <a:lstStyle/>
        <a:p>
          <a:endParaRPr lang="en-US"/>
        </a:p>
      </dgm:t>
    </dgm:pt>
    <dgm:pt modelId="{D84B75AB-805D-40C6-8C8F-7F609931FEFB}" type="sibTrans" cxnId="{F8A06EA7-4631-4107-BC0F-B28568987EAD}">
      <dgm:prSet/>
      <dgm:spPr/>
      <dgm:t>
        <a:bodyPr/>
        <a:lstStyle/>
        <a:p>
          <a:endParaRPr lang="en-US"/>
        </a:p>
      </dgm:t>
    </dgm:pt>
    <dgm:pt modelId="{7F332ADF-7317-4E9C-BC30-F44003214217}">
      <dgm:prSet/>
      <dgm:spPr>
        <a:solidFill>
          <a:srgbClr val="0072C6"/>
        </a:solidFill>
      </dgm:spPr>
      <dgm:t>
        <a:bodyPr/>
        <a:lstStyle/>
        <a:p>
          <a:r>
            <a:rPr lang="en-US" b="1" dirty="0"/>
            <a:t>Configurations</a:t>
          </a:r>
          <a:r>
            <a:rPr lang="en-US" dirty="0"/>
            <a:t> – PowerShell DSC Configurations to enforce how machines should be configured</a:t>
          </a:r>
        </a:p>
      </dgm:t>
    </dgm:pt>
    <dgm:pt modelId="{4C02DB2B-F2AF-4D75-9FD4-9C9D5151EDD6}" type="parTrans" cxnId="{AB4B7615-BDC6-4635-8522-CDAF67406D2F}">
      <dgm:prSet/>
      <dgm:spPr/>
      <dgm:t>
        <a:bodyPr/>
        <a:lstStyle/>
        <a:p>
          <a:endParaRPr lang="en-US"/>
        </a:p>
      </dgm:t>
    </dgm:pt>
    <dgm:pt modelId="{08BDD492-D87A-445B-A46F-BFABD1E0597E}" type="sibTrans" cxnId="{AB4B7615-BDC6-4635-8522-CDAF67406D2F}">
      <dgm:prSet/>
      <dgm:spPr/>
      <dgm:t>
        <a:bodyPr/>
        <a:lstStyle/>
        <a:p>
          <a:endParaRPr lang="en-US"/>
        </a:p>
      </dgm:t>
    </dgm:pt>
    <dgm:pt modelId="{5928D78C-E8C3-4D03-8626-A0978A8D63A7}">
      <dgm:prSet/>
      <dgm:spPr>
        <a:solidFill>
          <a:srgbClr val="0072C6"/>
        </a:solidFill>
      </dgm:spPr>
      <dgm:t>
        <a:bodyPr/>
        <a:lstStyle/>
        <a:p>
          <a:r>
            <a:rPr lang="en-US" dirty="0"/>
            <a:t>REST API, C# SDK, cmdlets, and portal for managing all aspects of the service</a:t>
          </a:r>
        </a:p>
      </dgm:t>
    </dgm:pt>
    <dgm:pt modelId="{158173BC-8A94-48B3-9B6C-CB8953FE621B}" type="parTrans" cxnId="{2D223C01-F369-4EF5-801E-066479918CE4}">
      <dgm:prSet/>
      <dgm:spPr/>
      <dgm:t>
        <a:bodyPr/>
        <a:lstStyle/>
        <a:p>
          <a:endParaRPr lang="en-US"/>
        </a:p>
      </dgm:t>
    </dgm:pt>
    <dgm:pt modelId="{12243DC5-FA58-4A72-A6BE-D2B938C4A110}" type="sibTrans" cxnId="{2D223C01-F369-4EF5-801E-066479918CE4}">
      <dgm:prSet/>
      <dgm:spPr/>
      <dgm:t>
        <a:bodyPr/>
        <a:lstStyle/>
        <a:p>
          <a:endParaRPr lang="en-US"/>
        </a:p>
      </dgm:t>
    </dgm:pt>
    <dgm:pt modelId="{7D754BE7-9AEC-4475-B0D5-7ED64F303EB3}">
      <dgm:prSet/>
      <dgm:spPr>
        <a:solidFill>
          <a:srgbClr val="0072C6"/>
        </a:solidFill>
      </dgm:spPr>
      <dgm:t>
        <a:bodyPr/>
        <a:lstStyle/>
        <a:p>
          <a:r>
            <a:rPr lang="en-US" dirty="0"/>
            <a:t>High-level &amp; granular views of DSC node compliance, now and in the past</a:t>
          </a:r>
        </a:p>
      </dgm:t>
    </dgm:pt>
    <dgm:pt modelId="{B457AFC6-7A3C-4C68-A558-4FB5F766FD5D}" type="parTrans" cxnId="{D8813AFB-4E7D-4AF4-BAAC-56169104AD16}">
      <dgm:prSet/>
      <dgm:spPr/>
      <dgm:t>
        <a:bodyPr/>
        <a:lstStyle/>
        <a:p>
          <a:endParaRPr lang="en-US"/>
        </a:p>
      </dgm:t>
    </dgm:pt>
    <dgm:pt modelId="{B2B56CFF-292E-4A6F-9EB9-E1663957B83B}" type="sibTrans" cxnId="{D8813AFB-4E7D-4AF4-BAAC-56169104AD16}">
      <dgm:prSet/>
      <dgm:spPr/>
      <dgm:t>
        <a:bodyPr/>
        <a:lstStyle/>
        <a:p>
          <a:endParaRPr lang="en-US"/>
        </a:p>
      </dgm:t>
    </dgm:pt>
    <dgm:pt modelId="{42CBE007-005E-4496-BAB0-87FEEED0E776}" type="pres">
      <dgm:prSet presAssocID="{EA008AB5-F6E6-4EFA-93C3-7BB95D965938}" presName="Name0" presStyleCnt="0">
        <dgm:presLayoutVars>
          <dgm:dir/>
          <dgm:animLvl val="lvl"/>
          <dgm:resizeHandles val="exact"/>
        </dgm:presLayoutVars>
      </dgm:prSet>
      <dgm:spPr/>
    </dgm:pt>
    <dgm:pt modelId="{7A501009-E615-4D8C-973A-2E776C2FB87B}" type="pres">
      <dgm:prSet presAssocID="{D7A453DE-2AF8-4EFE-B7E8-B1E49C3947A5}" presName="linNode" presStyleCnt="0"/>
      <dgm:spPr/>
    </dgm:pt>
    <dgm:pt modelId="{37CA3CBB-D43E-4363-BCDF-8F6005F95D5C}" type="pres">
      <dgm:prSet presAssocID="{D7A453DE-2AF8-4EFE-B7E8-B1E49C3947A5}" presName="parTx" presStyleLbl="revTx" presStyleIdx="0" presStyleCnt="4">
        <dgm:presLayoutVars>
          <dgm:chMax val="1"/>
          <dgm:bulletEnabled val="1"/>
        </dgm:presLayoutVars>
      </dgm:prSet>
      <dgm:spPr/>
    </dgm:pt>
    <dgm:pt modelId="{10BEB3C2-A5A1-4F84-AA95-ADE0E4AFEE4B}" type="pres">
      <dgm:prSet presAssocID="{D7A453DE-2AF8-4EFE-B7E8-B1E49C3947A5}" presName="bracket" presStyleLbl="parChTrans1D1" presStyleIdx="0" presStyleCnt="4"/>
      <dgm:spPr/>
    </dgm:pt>
    <dgm:pt modelId="{92BEE00C-A978-49E8-88CC-C42AC6BA7459}" type="pres">
      <dgm:prSet presAssocID="{D7A453DE-2AF8-4EFE-B7E8-B1E49C3947A5}" presName="spH" presStyleCnt="0"/>
      <dgm:spPr/>
    </dgm:pt>
    <dgm:pt modelId="{01438793-A174-4C08-8B81-F5E6C3F97444}" type="pres">
      <dgm:prSet presAssocID="{D7A453DE-2AF8-4EFE-B7E8-B1E49C3947A5}" presName="desTx" presStyleLbl="node1" presStyleIdx="0" presStyleCnt="4">
        <dgm:presLayoutVars>
          <dgm:bulletEnabled val="1"/>
        </dgm:presLayoutVars>
      </dgm:prSet>
      <dgm:spPr/>
    </dgm:pt>
    <dgm:pt modelId="{04B8F529-3CD6-4A9A-AA6B-615CC1FB406A}" type="pres">
      <dgm:prSet presAssocID="{B62D12F4-17E9-4618-8FEC-F51D49AA0837}" presName="spV" presStyleCnt="0"/>
      <dgm:spPr/>
    </dgm:pt>
    <dgm:pt modelId="{8E8A7B8E-3737-41CF-ACDB-C34F06923894}" type="pres">
      <dgm:prSet presAssocID="{8229C79B-3A1C-4F1C-9B3F-2E7A940BE463}" presName="linNode" presStyleCnt="0"/>
      <dgm:spPr/>
    </dgm:pt>
    <dgm:pt modelId="{32322DC2-DAD6-494C-BD81-CC399BC657C4}" type="pres">
      <dgm:prSet presAssocID="{8229C79B-3A1C-4F1C-9B3F-2E7A940BE463}" presName="parTx" presStyleLbl="revTx" presStyleIdx="1" presStyleCnt="4">
        <dgm:presLayoutVars>
          <dgm:chMax val="1"/>
          <dgm:bulletEnabled val="1"/>
        </dgm:presLayoutVars>
      </dgm:prSet>
      <dgm:spPr/>
    </dgm:pt>
    <dgm:pt modelId="{669D122D-E7FB-4355-9A18-3E3A68089DF8}" type="pres">
      <dgm:prSet presAssocID="{8229C79B-3A1C-4F1C-9B3F-2E7A940BE463}" presName="bracket" presStyleLbl="parChTrans1D1" presStyleIdx="1" presStyleCnt="4"/>
      <dgm:spPr/>
    </dgm:pt>
    <dgm:pt modelId="{A93B7339-B699-4F19-84D8-7CC5646B87CA}" type="pres">
      <dgm:prSet presAssocID="{8229C79B-3A1C-4F1C-9B3F-2E7A940BE463}" presName="spH" presStyleCnt="0"/>
      <dgm:spPr/>
    </dgm:pt>
    <dgm:pt modelId="{C9580AB7-FF5B-4C0D-935B-EAA6FB9ADA77}" type="pres">
      <dgm:prSet presAssocID="{8229C79B-3A1C-4F1C-9B3F-2E7A940BE463}" presName="desTx" presStyleLbl="node1" presStyleIdx="1" presStyleCnt="4">
        <dgm:presLayoutVars>
          <dgm:bulletEnabled val="1"/>
        </dgm:presLayoutVars>
      </dgm:prSet>
      <dgm:spPr/>
    </dgm:pt>
    <dgm:pt modelId="{AB538E72-CD12-4503-8ECB-C44B3D3571FD}" type="pres">
      <dgm:prSet presAssocID="{6A5A050D-D082-458B-B03C-0FF13EA7154F}" presName="spV" presStyleCnt="0"/>
      <dgm:spPr/>
    </dgm:pt>
    <dgm:pt modelId="{382E401B-9F5F-4B22-9578-727A599F3EE7}" type="pres">
      <dgm:prSet presAssocID="{747A00C2-1B3C-4290-9085-DBDA447174D4}" presName="linNode" presStyleCnt="0"/>
      <dgm:spPr/>
    </dgm:pt>
    <dgm:pt modelId="{41B30F15-1EFB-4335-80A2-0AA6ABF48054}" type="pres">
      <dgm:prSet presAssocID="{747A00C2-1B3C-4290-9085-DBDA447174D4}" presName="parTx" presStyleLbl="revTx" presStyleIdx="2" presStyleCnt="4">
        <dgm:presLayoutVars>
          <dgm:chMax val="1"/>
          <dgm:bulletEnabled val="1"/>
        </dgm:presLayoutVars>
      </dgm:prSet>
      <dgm:spPr/>
    </dgm:pt>
    <dgm:pt modelId="{7AAEDEA6-EB67-4D01-81C0-1A71D29670CC}" type="pres">
      <dgm:prSet presAssocID="{747A00C2-1B3C-4290-9085-DBDA447174D4}" presName="bracket" presStyleLbl="parChTrans1D1" presStyleIdx="2" presStyleCnt="4"/>
      <dgm:spPr/>
    </dgm:pt>
    <dgm:pt modelId="{F2B20310-BA00-46C2-B035-2D95F7693DF2}" type="pres">
      <dgm:prSet presAssocID="{747A00C2-1B3C-4290-9085-DBDA447174D4}" presName="spH" presStyleCnt="0"/>
      <dgm:spPr/>
    </dgm:pt>
    <dgm:pt modelId="{F7263776-7EF9-4A27-A64E-4F4FD08AE408}" type="pres">
      <dgm:prSet presAssocID="{747A00C2-1B3C-4290-9085-DBDA447174D4}" presName="desTx" presStyleLbl="node1" presStyleIdx="2" presStyleCnt="4">
        <dgm:presLayoutVars>
          <dgm:bulletEnabled val="1"/>
        </dgm:presLayoutVars>
      </dgm:prSet>
      <dgm:spPr/>
    </dgm:pt>
    <dgm:pt modelId="{64BCFB79-DD94-496D-8446-1F57619DD608}" type="pres">
      <dgm:prSet presAssocID="{6CBD0E70-B6DA-46CC-87B4-0FBDBB4241E2}" presName="spV" presStyleCnt="0"/>
      <dgm:spPr/>
    </dgm:pt>
    <dgm:pt modelId="{6A94AE40-D023-4C12-B821-FE5024439E3C}" type="pres">
      <dgm:prSet presAssocID="{D5DCA207-8E10-49C8-9E50-2695AA9805DC}" presName="linNode" presStyleCnt="0"/>
      <dgm:spPr/>
    </dgm:pt>
    <dgm:pt modelId="{A233DA96-2D8A-4DE1-9C7B-D68F56523CE0}" type="pres">
      <dgm:prSet presAssocID="{D5DCA207-8E10-49C8-9E50-2695AA9805DC}" presName="parTx" presStyleLbl="revTx" presStyleIdx="3" presStyleCnt="4">
        <dgm:presLayoutVars>
          <dgm:chMax val="1"/>
          <dgm:bulletEnabled val="1"/>
        </dgm:presLayoutVars>
      </dgm:prSet>
      <dgm:spPr/>
    </dgm:pt>
    <dgm:pt modelId="{29AA4DA8-6369-4012-AD36-64EB3D1FB1F2}" type="pres">
      <dgm:prSet presAssocID="{D5DCA207-8E10-49C8-9E50-2695AA9805DC}" presName="bracket" presStyleLbl="parChTrans1D1" presStyleIdx="3" presStyleCnt="4"/>
      <dgm:spPr/>
    </dgm:pt>
    <dgm:pt modelId="{E1D80B3F-7154-4C61-8D75-5C75F280BD5B}" type="pres">
      <dgm:prSet presAssocID="{D5DCA207-8E10-49C8-9E50-2695AA9805DC}" presName="spH" presStyleCnt="0"/>
      <dgm:spPr/>
    </dgm:pt>
    <dgm:pt modelId="{020901DD-A25F-4947-AA9D-B55ADFF27BA7}" type="pres">
      <dgm:prSet presAssocID="{D5DCA207-8E10-49C8-9E50-2695AA9805DC}" presName="desTx" presStyleLbl="node1" presStyleIdx="3" presStyleCnt="4">
        <dgm:presLayoutVars>
          <dgm:bulletEnabled val="1"/>
        </dgm:presLayoutVars>
      </dgm:prSet>
      <dgm:spPr/>
    </dgm:pt>
  </dgm:ptLst>
  <dgm:cxnLst>
    <dgm:cxn modelId="{0D33666D-88AB-4DC1-B3F2-1529E79F1C8F}" srcId="{EA008AB5-F6E6-4EFA-93C3-7BB95D965938}" destId="{8229C79B-3A1C-4F1C-9B3F-2E7A940BE463}" srcOrd="1" destOrd="0" parTransId="{E3E5678F-F6BC-4D5E-A9BB-CE93732F77E4}" sibTransId="{6A5A050D-D082-458B-B03C-0FF13EA7154F}"/>
    <dgm:cxn modelId="{B3785FA0-8BDF-46B8-A3F7-6765382F1690}" type="presOf" srcId="{EA008AB5-F6E6-4EFA-93C3-7BB95D965938}" destId="{42CBE007-005E-4496-BAB0-87FEEED0E776}" srcOrd="0" destOrd="0" presId="urn:diagrams.loki3.com/BracketList"/>
    <dgm:cxn modelId="{FD9A6E19-6575-4C9F-89ED-1713E536B5C6}" srcId="{D7A453DE-2AF8-4EFE-B7E8-B1E49C3947A5}" destId="{5F83653F-1D74-43D2-A4A4-AE3EF489577D}" srcOrd="0" destOrd="0" parTransId="{1C281DDE-555E-4A94-B235-C7DF5D3E0509}" sibTransId="{D4F113BB-BD5C-4F58-8DD7-11075AD18423}"/>
    <dgm:cxn modelId="{A31F32AE-74B2-48BB-8569-21E52E2D48B4}" srcId="{747A00C2-1B3C-4290-9085-DBDA447174D4}" destId="{D0C63EAD-069D-44FC-B318-5B696F1A00BB}" srcOrd="0" destOrd="0" parTransId="{9B98AE07-47D2-4AA3-8F42-017FC0DF5F16}" sibTransId="{11795C78-1B2A-48AB-9F5F-1A35D349D0F4}"/>
    <dgm:cxn modelId="{3B9D93ED-F78B-4F3F-8B95-FCAD55DE8392}" srcId="{EA008AB5-F6E6-4EFA-93C3-7BB95D965938}" destId="{747A00C2-1B3C-4290-9085-DBDA447174D4}" srcOrd="2" destOrd="0" parTransId="{6F6B766C-7F2E-43B0-9DFF-DF4842CCF197}" sibTransId="{6CBD0E70-B6DA-46CC-87B4-0FBDBB4241E2}"/>
    <dgm:cxn modelId="{8E579F5A-1F63-4656-B31A-A0CD788881B0}" srcId="{D5DCA207-8E10-49C8-9E50-2695AA9805DC}" destId="{28DA9657-129A-4AB6-AE40-72A130088124}" srcOrd="1" destOrd="0" parTransId="{C33F738F-CDE7-48FD-9FBB-FA9900C41D6A}" sibTransId="{61E8B446-597E-40E6-9472-76865910E31D}"/>
    <dgm:cxn modelId="{07423578-3E83-4EFE-B412-B21D3A167BFF}" type="presOf" srcId="{BD3E42F2-AA31-4032-8D27-55F4C2B02A72}" destId="{F7263776-7EF9-4A27-A64E-4F4FD08AE408}" srcOrd="0" destOrd="1" presId="urn:diagrams.loki3.com/BracketList"/>
    <dgm:cxn modelId="{24BE3F7A-2752-433D-AAE2-B285C88A3887}" type="presOf" srcId="{7E9026AA-FC2C-4A12-8EBE-30598A25FC79}" destId="{C9580AB7-FF5B-4C0D-935B-EAA6FB9ADA77}" srcOrd="0" destOrd="3" presId="urn:diagrams.loki3.com/BracketList"/>
    <dgm:cxn modelId="{537A697D-94EB-488E-A6AF-224D8BDEDC33}" type="presOf" srcId="{FE0BC528-F2DF-433C-93AC-61EA175AE182}" destId="{C9580AB7-FF5B-4C0D-935B-EAA6FB9ADA77}" srcOrd="0" destOrd="5" presId="urn:diagrams.loki3.com/BracketList"/>
    <dgm:cxn modelId="{F8A06EA7-4631-4107-BC0F-B28568987EAD}" srcId="{8229C79B-3A1C-4F1C-9B3F-2E7A940BE463}" destId="{8B82AE11-04CF-4B9B-A75F-2EA082E361E7}" srcOrd="1" destOrd="0" parTransId="{E31BBA4A-FABA-46FA-870D-DFC7C52C628F}" sibTransId="{D84B75AB-805D-40C6-8C8F-7F609931FEFB}"/>
    <dgm:cxn modelId="{D4904678-69B8-4021-A087-0D5461F9389A}" type="presOf" srcId="{4D8431F3-C41C-4B3D-B113-4AFB6FE347D3}" destId="{C9580AB7-FF5B-4C0D-935B-EAA6FB9ADA77}" srcOrd="0" destOrd="0" presId="urn:diagrams.loki3.com/BracketList"/>
    <dgm:cxn modelId="{7209BB2D-F370-4EB5-9420-EA6B01FCFF14}" type="presOf" srcId="{6E4AD472-B509-474D-A3D3-EA15FC93EFC3}" destId="{020901DD-A25F-4947-AA9D-B55ADFF27BA7}" srcOrd="0" destOrd="0" presId="urn:diagrams.loki3.com/BracketList"/>
    <dgm:cxn modelId="{26DBBFAD-7278-4DBC-9C9B-D4CEAEF4B62D}" srcId="{EA008AB5-F6E6-4EFA-93C3-7BB95D965938}" destId="{D5DCA207-8E10-49C8-9E50-2695AA9805DC}" srcOrd="3" destOrd="0" parTransId="{7082AB3B-26F9-4A7F-80FC-634EB6A6B98B}" sibTransId="{630FC450-BCC4-4BB4-BC49-184E4941B8E7}"/>
    <dgm:cxn modelId="{8071C844-7287-46F9-88E1-2EE97403C7C3}" type="presOf" srcId="{8B82AE11-04CF-4B9B-A75F-2EA082E361E7}" destId="{C9580AB7-FF5B-4C0D-935B-EAA6FB9ADA77}" srcOrd="0" destOrd="1" presId="urn:diagrams.loki3.com/BracketList"/>
    <dgm:cxn modelId="{4F68EB9B-4299-4AA3-8859-F2DB0BB0FF40}" srcId="{8229C79B-3A1C-4F1C-9B3F-2E7A940BE463}" destId="{31F3AA93-0CD0-4680-8284-FFE08FC59BCD}" srcOrd="6" destOrd="0" parTransId="{EBEA2116-B196-490A-BA3C-6641882DDC27}" sibTransId="{BB30678A-3847-4BEA-9A52-550CEBE659EE}"/>
    <dgm:cxn modelId="{A6B32C74-5E24-4001-B429-360ACABD4E00}" srcId="{8229C79B-3A1C-4F1C-9B3F-2E7A940BE463}" destId="{4D8431F3-C41C-4B3D-B113-4AFB6FE347D3}" srcOrd="0" destOrd="0" parTransId="{CD746BAE-C579-40FA-A815-74910853E9B7}" sibTransId="{360C7058-260F-4E39-A93C-3ADEEBB8F16B}"/>
    <dgm:cxn modelId="{06F429F5-2251-42E4-A021-C8BF8186C7AF}" type="presOf" srcId="{7F332ADF-7317-4E9C-BC30-F44003214217}" destId="{01438793-A174-4C08-8B81-F5E6C3F97444}" srcOrd="0" destOrd="1" presId="urn:diagrams.loki3.com/BracketList"/>
    <dgm:cxn modelId="{EFC74BAC-57BA-494C-A8A4-C1CEDB39EDEB}" type="presOf" srcId="{747A00C2-1B3C-4290-9085-DBDA447174D4}" destId="{41B30F15-1EFB-4335-80A2-0AA6ABF48054}" srcOrd="0" destOrd="0" presId="urn:diagrams.loki3.com/BracketList"/>
    <dgm:cxn modelId="{D852AB49-98A2-4B0E-B0AC-75699C96C1C3}" type="presOf" srcId="{D7A453DE-2AF8-4EFE-B7E8-B1E49C3947A5}" destId="{37CA3CBB-D43E-4363-BCDF-8F6005F95D5C}" srcOrd="0" destOrd="0" presId="urn:diagrams.loki3.com/BracketList"/>
    <dgm:cxn modelId="{6E4F0793-64C3-452C-B34A-E8E248FF2697}" type="presOf" srcId="{8229C79B-3A1C-4F1C-9B3F-2E7A940BE463}" destId="{32322DC2-DAD6-494C-BD81-CC399BC657C4}" srcOrd="0" destOrd="0" presId="urn:diagrams.loki3.com/BracketList"/>
    <dgm:cxn modelId="{7B2096C9-4337-4C29-AB45-22F1FCBF3442}" type="presOf" srcId="{6AF7FF56-1648-4A86-A0F5-D72020BDA939}" destId="{C9580AB7-FF5B-4C0D-935B-EAA6FB9ADA77}" srcOrd="0" destOrd="2" presId="urn:diagrams.loki3.com/BracketList"/>
    <dgm:cxn modelId="{08CCE5BF-42F6-4DC2-9840-7C74D4FF015C}" type="presOf" srcId="{5928D78C-E8C3-4D03-8626-A0978A8D63A7}" destId="{F7263776-7EF9-4A27-A64E-4F4FD08AE408}" srcOrd="0" destOrd="2" presId="urn:diagrams.loki3.com/BracketList"/>
    <dgm:cxn modelId="{CD425273-9545-4911-95F3-F5DF8D54BFE1}" type="presOf" srcId="{767975A5-C042-43DD-A709-FF82298110A0}" destId="{C9580AB7-FF5B-4C0D-935B-EAA6FB9ADA77}" srcOrd="0" destOrd="4" presId="urn:diagrams.loki3.com/BracketList"/>
    <dgm:cxn modelId="{2D223C01-F369-4EF5-801E-066479918CE4}" srcId="{747A00C2-1B3C-4290-9085-DBDA447174D4}" destId="{5928D78C-E8C3-4D03-8626-A0978A8D63A7}" srcOrd="2" destOrd="0" parTransId="{158173BC-8A94-48B3-9B6C-CB8953FE621B}" sibTransId="{12243DC5-FA58-4A72-A6BE-D2B938C4A110}"/>
    <dgm:cxn modelId="{D8813AFB-4E7D-4AF4-BAAC-56169104AD16}" srcId="{D5DCA207-8E10-49C8-9E50-2695AA9805DC}" destId="{7D754BE7-9AEC-4475-B0D5-7ED64F303EB3}" srcOrd="2" destOrd="0" parTransId="{B457AFC6-7A3C-4C68-A558-4FB5F766FD5D}" sibTransId="{B2B56CFF-292E-4A6F-9EB9-E1663957B83B}"/>
    <dgm:cxn modelId="{19789849-DDF2-4575-9243-2358435C1A99}" srcId="{8229C79B-3A1C-4F1C-9B3F-2E7A940BE463}" destId="{6AF7FF56-1648-4A86-A0F5-D72020BDA939}" srcOrd="2" destOrd="0" parTransId="{45A787CA-5458-44CC-AD76-DE86AC5EA0D3}" sibTransId="{97532758-FEAA-499C-9982-6182891E0006}"/>
    <dgm:cxn modelId="{6EC49439-A79B-40B0-B353-456CB8032027}" srcId="{747A00C2-1B3C-4290-9085-DBDA447174D4}" destId="{BD3E42F2-AA31-4032-8D27-55F4C2B02A72}" srcOrd="1" destOrd="0" parTransId="{7379508A-00BB-41A4-84D8-A24FE8ED63D1}" sibTransId="{DEBA9F43-B5D7-4AFD-A361-251A765010B8}"/>
    <dgm:cxn modelId="{AB4B7615-BDC6-4635-8522-CDAF67406D2F}" srcId="{D7A453DE-2AF8-4EFE-B7E8-B1E49C3947A5}" destId="{7F332ADF-7317-4E9C-BC30-F44003214217}" srcOrd="1" destOrd="0" parTransId="{4C02DB2B-F2AF-4D75-9FD4-9C9D5151EDD6}" sibTransId="{08BDD492-D87A-445B-A46F-BFABD1E0597E}"/>
    <dgm:cxn modelId="{458477BA-CF4A-423F-9237-2D3121F86338}" srcId="{EA008AB5-F6E6-4EFA-93C3-7BB95D965938}" destId="{D7A453DE-2AF8-4EFE-B7E8-B1E49C3947A5}" srcOrd="0" destOrd="0" parTransId="{1FE24E08-5FEF-4EF6-B020-DE4BA63FCD0E}" sibTransId="{B62D12F4-17E9-4618-8FEC-F51D49AA0837}"/>
    <dgm:cxn modelId="{6908A721-8101-4627-84F6-890536EC684C}" type="presOf" srcId="{7D754BE7-9AEC-4475-B0D5-7ED64F303EB3}" destId="{020901DD-A25F-4947-AA9D-B55ADFF27BA7}" srcOrd="0" destOrd="2" presId="urn:diagrams.loki3.com/BracketList"/>
    <dgm:cxn modelId="{96595D4E-69FC-475E-AFCD-CBBC263CC5D5}" type="presOf" srcId="{5F83653F-1D74-43D2-A4A4-AE3EF489577D}" destId="{01438793-A174-4C08-8B81-F5E6C3F97444}" srcOrd="0" destOrd="0" presId="urn:diagrams.loki3.com/BracketList"/>
    <dgm:cxn modelId="{A090B3FC-5C87-457B-BCD2-CBA1422DE29A}" srcId="{8229C79B-3A1C-4F1C-9B3F-2E7A940BE463}" destId="{767975A5-C042-43DD-A709-FF82298110A0}" srcOrd="4" destOrd="0" parTransId="{909A6327-26F8-4212-98D1-FE8763EB91DA}" sibTransId="{A6C54583-3A2A-4D5B-9ECF-0F09657B9893}"/>
    <dgm:cxn modelId="{26B0E99C-7179-47EB-936A-9B46EFDC5257}" type="presOf" srcId="{D5DCA207-8E10-49C8-9E50-2695AA9805DC}" destId="{A233DA96-2D8A-4DE1-9C7B-D68F56523CE0}" srcOrd="0" destOrd="0" presId="urn:diagrams.loki3.com/BracketList"/>
    <dgm:cxn modelId="{D260FA37-2724-4F5C-AD9D-D29DDFB21E59}" srcId="{D5DCA207-8E10-49C8-9E50-2695AA9805DC}" destId="{6E4AD472-B509-474D-A3D3-EA15FC93EFC3}" srcOrd="0" destOrd="0" parTransId="{FA21199B-2788-44B5-B8F3-06154C5C479C}" sibTransId="{9CCA1FA0-5D32-4AC3-A5E3-B55CB90E49D4}"/>
    <dgm:cxn modelId="{1418D496-D476-4BF4-98BF-5863A1D4E4DD}" type="presOf" srcId="{31F3AA93-0CD0-4680-8284-FFE08FC59BCD}" destId="{C9580AB7-FF5B-4C0D-935B-EAA6FB9ADA77}" srcOrd="0" destOrd="6" presId="urn:diagrams.loki3.com/BracketList"/>
    <dgm:cxn modelId="{6F6D8007-994F-416F-A6D5-3AA79897F215}" srcId="{8229C79B-3A1C-4F1C-9B3F-2E7A940BE463}" destId="{FE0BC528-F2DF-433C-93AC-61EA175AE182}" srcOrd="5" destOrd="0" parTransId="{27E25CE3-27B3-40A9-99C9-1C05EC0110ED}" sibTransId="{93230466-3BFF-4DE1-A917-4C5F9FF1A72F}"/>
    <dgm:cxn modelId="{45FD1434-8D37-4FB1-B409-4C4707F5DE4D}" type="presOf" srcId="{D0C63EAD-069D-44FC-B318-5B696F1A00BB}" destId="{F7263776-7EF9-4A27-A64E-4F4FD08AE408}" srcOrd="0" destOrd="0" presId="urn:diagrams.loki3.com/BracketList"/>
    <dgm:cxn modelId="{2763867A-2E56-45E4-8E6A-BF3CFA4F7F68}" type="presOf" srcId="{28DA9657-129A-4AB6-AE40-72A130088124}" destId="{020901DD-A25F-4947-AA9D-B55ADFF27BA7}" srcOrd="0" destOrd="1" presId="urn:diagrams.loki3.com/BracketList"/>
    <dgm:cxn modelId="{0B88E6D2-4294-40AA-BA3A-3B94BC90E1E7}" srcId="{8229C79B-3A1C-4F1C-9B3F-2E7A940BE463}" destId="{7E9026AA-FC2C-4A12-8EBE-30598A25FC79}" srcOrd="3" destOrd="0" parTransId="{D171F7F5-5018-4A02-8AE2-01E00D7C905B}" sibTransId="{1D0AD35A-5883-4EFF-9A95-6444A1EFAC24}"/>
    <dgm:cxn modelId="{CFED2325-05D9-49C0-A323-DA13EABBAE68}" type="presParOf" srcId="{42CBE007-005E-4496-BAB0-87FEEED0E776}" destId="{7A501009-E615-4D8C-973A-2E776C2FB87B}" srcOrd="0" destOrd="0" presId="urn:diagrams.loki3.com/BracketList"/>
    <dgm:cxn modelId="{55255D28-F0B4-496D-A95E-005FDFED90B7}" type="presParOf" srcId="{7A501009-E615-4D8C-973A-2E776C2FB87B}" destId="{37CA3CBB-D43E-4363-BCDF-8F6005F95D5C}" srcOrd="0" destOrd="0" presId="urn:diagrams.loki3.com/BracketList"/>
    <dgm:cxn modelId="{3C910BB3-28CB-453A-9BC2-8ECC820E56CE}" type="presParOf" srcId="{7A501009-E615-4D8C-973A-2E776C2FB87B}" destId="{10BEB3C2-A5A1-4F84-AA95-ADE0E4AFEE4B}" srcOrd="1" destOrd="0" presId="urn:diagrams.loki3.com/BracketList"/>
    <dgm:cxn modelId="{61DF2F37-86B0-486E-81AB-3800671AA7D9}" type="presParOf" srcId="{7A501009-E615-4D8C-973A-2E776C2FB87B}" destId="{92BEE00C-A978-49E8-88CC-C42AC6BA7459}" srcOrd="2" destOrd="0" presId="urn:diagrams.loki3.com/BracketList"/>
    <dgm:cxn modelId="{0F883666-2127-4188-9AD3-A001B6B43219}" type="presParOf" srcId="{7A501009-E615-4D8C-973A-2E776C2FB87B}" destId="{01438793-A174-4C08-8B81-F5E6C3F97444}" srcOrd="3" destOrd="0" presId="urn:diagrams.loki3.com/BracketList"/>
    <dgm:cxn modelId="{D919C064-D36C-4934-9DBD-C3A20D07F8BE}" type="presParOf" srcId="{42CBE007-005E-4496-BAB0-87FEEED0E776}" destId="{04B8F529-3CD6-4A9A-AA6B-615CC1FB406A}" srcOrd="1" destOrd="0" presId="urn:diagrams.loki3.com/BracketList"/>
    <dgm:cxn modelId="{BFD1E0CF-1FD3-4041-AAD4-AF0A14B7FC75}" type="presParOf" srcId="{42CBE007-005E-4496-BAB0-87FEEED0E776}" destId="{8E8A7B8E-3737-41CF-ACDB-C34F06923894}" srcOrd="2" destOrd="0" presId="urn:diagrams.loki3.com/BracketList"/>
    <dgm:cxn modelId="{23176BB5-9FE7-4E99-BCCD-E10B465C47A0}" type="presParOf" srcId="{8E8A7B8E-3737-41CF-ACDB-C34F06923894}" destId="{32322DC2-DAD6-494C-BD81-CC399BC657C4}" srcOrd="0" destOrd="0" presId="urn:diagrams.loki3.com/BracketList"/>
    <dgm:cxn modelId="{15641C57-7210-49B3-9D7A-15F814DC9354}" type="presParOf" srcId="{8E8A7B8E-3737-41CF-ACDB-C34F06923894}" destId="{669D122D-E7FB-4355-9A18-3E3A68089DF8}" srcOrd="1" destOrd="0" presId="urn:diagrams.loki3.com/BracketList"/>
    <dgm:cxn modelId="{C6A2411D-BB81-4FBB-B91D-6891111CDB3B}" type="presParOf" srcId="{8E8A7B8E-3737-41CF-ACDB-C34F06923894}" destId="{A93B7339-B699-4F19-84D8-7CC5646B87CA}" srcOrd="2" destOrd="0" presId="urn:diagrams.loki3.com/BracketList"/>
    <dgm:cxn modelId="{BC2C3AA2-52D4-49AF-A842-3C4D7965BBC7}" type="presParOf" srcId="{8E8A7B8E-3737-41CF-ACDB-C34F06923894}" destId="{C9580AB7-FF5B-4C0D-935B-EAA6FB9ADA77}" srcOrd="3" destOrd="0" presId="urn:diagrams.loki3.com/BracketList"/>
    <dgm:cxn modelId="{7E16427B-F53A-4092-AA1F-F5C090D7ACEE}" type="presParOf" srcId="{42CBE007-005E-4496-BAB0-87FEEED0E776}" destId="{AB538E72-CD12-4503-8ECB-C44B3D3571FD}" srcOrd="3" destOrd="0" presId="urn:diagrams.loki3.com/BracketList"/>
    <dgm:cxn modelId="{DC047F77-D4B0-41EA-B171-09EFF88E13B0}" type="presParOf" srcId="{42CBE007-005E-4496-BAB0-87FEEED0E776}" destId="{382E401B-9F5F-4B22-9578-727A599F3EE7}" srcOrd="4" destOrd="0" presId="urn:diagrams.loki3.com/BracketList"/>
    <dgm:cxn modelId="{0D603E89-066A-4E86-9F9D-9FE1993368E4}" type="presParOf" srcId="{382E401B-9F5F-4B22-9578-727A599F3EE7}" destId="{41B30F15-1EFB-4335-80A2-0AA6ABF48054}" srcOrd="0" destOrd="0" presId="urn:diagrams.loki3.com/BracketList"/>
    <dgm:cxn modelId="{A8BB3D12-FDAC-4475-81B7-F832EE47B1C3}" type="presParOf" srcId="{382E401B-9F5F-4B22-9578-727A599F3EE7}" destId="{7AAEDEA6-EB67-4D01-81C0-1A71D29670CC}" srcOrd="1" destOrd="0" presId="urn:diagrams.loki3.com/BracketList"/>
    <dgm:cxn modelId="{1736AAC1-CF46-49D9-A138-82EDFB0F79D3}" type="presParOf" srcId="{382E401B-9F5F-4B22-9578-727A599F3EE7}" destId="{F2B20310-BA00-46C2-B035-2D95F7693DF2}" srcOrd="2" destOrd="0" presId="urn:diagrams.loki3.com/BracketList"/>
    <dgm:cxn modelId="{89D90D14-494C-4136-A948-28C23343D526}" type="presParOf" srcId="{382E401B-9F5F-4B22-9578-727A599F3EE7}" destId="{F7263776-7EF9-4A27-A64E-4F4FD08AE408}" srcOrd="3" destOrd="0" presId="urn:diagrams.loki3.com/BracketList"/>
    <dgm:cxn modelId="{32C249B3-99EB-4E71-BC16-6F3E597B7C79}" type="presParOf" srcId="{42CBE007-005E-4496-BAB0-87FEEED0E776}" destId="{64BCFB79-DD94-496D-8446-1F57619DD608}" srcOrd="5" destOrd="0" presId="urn:diagrams.loki3.com/BracketList"/>
    <dgm:cxn modelId="{AC0DD753-0377-425D-8780-C67F97D77FBF}" type="presParOf" srcId="{42CBE007-005E-4496-BAB0-87FEEED0E776}" destId="{6A94AE40-D023-4C12-B821-FE5024439E3C}" srcOrd="6" destOrd="0" presId="urn:diagrams.loki3.com/BracketList"/>
    <dgm:cxn modelId="{71B6D9DA-57FC-4D0F-9BB8-9F5A172B4B75}" type="presParOf" srcId="{6A94AE40-D023-4C12-B821-FE5024439E3C}" destId="{A233DA96-2D8A-4DE1-9C7B-D68F56523CE0}" srcOrd="0" destOrd="0" presId="urn:diagrams.loki3.com/BracketList"/>
    <dgm:cxn modelId="{961F4AF0-0B98-40CC-A7DD-DB4364C09C4E}" type="presParOf" srcId="{6A94AE40-D023-4C12-B821-FE5024439E3C}" destId="{29AA4DA8-6369-4012-AD36-64EB3D1FB1F2}" srcOrd="1" destOrd="0" presId="urn:diagrams.loki3.com/BracketList"/>
    <dgm:cxn modelId="{1C07D2E1-02F1-45EB-86A5-E3E024BEA035}" type="presParOf" srcId="{6A94AE40-D023-4C12-B821-FE5024439E3C}" destId="{E1D80B3F-7154-4C61-8D75-5C75F280BD5B}" srcOrd="2" destOrd="0" presId="urn:diagrams.loki3.com/BracketList"/>
    <dgm:cxn modelId="{AC73E0E7-77B2-4E3D-BB61-B45108456BEA}" type="presParOf" srcId="{6A94AE40-D023-4C12-B821-FE5024439E3C}" destId="{020901DD-A25F-4947-AA9D-B55ADFF27BA7}"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BF29C4-95AA-4A4D-8856-2A37C70F0CA4}" type="doc">
      <dgm:prSet loTypeId="urn:microsoft.com/office/officeart/2005/8/layout/chevronAccent+Icon" loCatId="process" qsTypeId="urn:microsoft.com/office/officeart/2005/8/quickstyle/simple1" qsCatId="simple" csTypeId="urn:microsoft.com/office/officeart/2005/8/colors/colorful4" csCatId="colorful" phldr="1"/>
      <dgm:spPr/>
    </dgm:pt>
    <dgm:pt modelId="{CC48903A-AE00-4CE5-80B7-A4AE2740124E}">
      <dgm:prSet phldrT="[Text]"/>
      <dgm:spPr/>
      <dgm:t>
        <a:bodyPr/>
        <a:lstStyle/>
        <a:p>
          <a:r>
            <a:rPr lang="en-US" dirty="0"/>
            <a:t>Development</a:t>
          </a:r>
        </a:p>
      </dgm:t>
    </dgm:pt>
    <dgm:pt modelId="{F9772FE3-4CA1-4399-A761-CDBB817DF6AA}" type="parTrans" cxnId="{91220052-8606-4A98-9922-6BB2445397AC}">
      <dgm:prSet/>
      <dgm:spPr/>
      <dgm:t>
        <a:bodyPr/>
        <a:lstStyle/>
        <a:p>
          <a:endParaRPr lang="en-US"/>
        </a:p>
      </dgm:t>
    </dgm:pt>
    <dgm:pt modelId="{8A76D23F-39C1-4C2A-BD0A-866EFF6205BA}" type="sibTrans" cxnId="{91220052-8606-4A98-9922-6BB2445397AC}">
      <dgm:prSet/>
      <dgm:spPr/>
      <dgm:t>
        <a:bodyPr/>
        <a:lstStyle/>
        <a:p>
          <a:endParaRPr lang="en-US"/>
        </a:p>
      </dgm:t>
    </dgm:pt>
    <dgm:pt modelId="{9944AB0A-09B6-49BA-A4EE-17CD4CE480DA}">
      <dgm:prSet phldrT="[Text]"/>
      <dgm:spPr/>
      <dgm:t>
        <a:bodyPr/>
        <a:lstStyle/>
        <a:p>
          <a:r>
            <a:rPr lang="en-US" dirty="0"/>
            <a:t>Test</a:t>
          </a:r>
        </a:p>
      </dgm:t>
    </dgm:pt>
    <dgm:pt modelId="{FA41E1F5-AC6D-4163-B633-69E4A096590C}" type="parTrans" cxnId="{25CC4D6F-C0E7-46B5-BDBF-0657947143D8}">
      <dgm:prSet/>
      <dgm:spPr/>
      <dgm:t>
        <a:bodyPr/>
        <a:lstStyle/>
        <a:p>
          <a:endParaRPr lang="en-US"/>
        </a:p>
      </dgm:t>
    </dgm:pt>
    <dgm:pt modelId="{1D08A53E-27C9-4283-B6E7-1A686AA851F3}" type="sibTrans" cxnId="{25CC4D6F-C0E7-46B5-BDBF-0657947143D8}">
      <dgm:prSet/>
      <dgm:spPr/>
      <dgm:t>
        <a:bodyPr/>
        <a:lstStyle/>
        <a:p>
          <a:endParaRPr lang="en-US"/>
        </a:p>
      </dgm:t>
    </dgm:pt>
    <dgm:pt modelId="{4576BFA4-25D4-42B9-9F7C-00E4F30C6E49}">
      <dgm:prSet phldrT="[Text]"/>
      <dgm:spPr/>
      <dgm:t>
        <a:bodyPr/>
        <a:lstStyle/>
        <a:p>
          <a:r>
            <a:rPr lang="en-US" dirty="0"/>
            <a:t>Production</a:t>
          </a:r>
        </a:p>
      </dgm:t>
    </dgm:pt>
    <dgm:pt modelId="{ED6D8437-D7BB-46E7-B407-A9ACCE7B9BD4}" type="parTrans" cxnId="{CEFA5507-630F-4A5D-B474-CF1D5CDB9704}">
      <dgm:prSet/>
      <dgm:spPr/>
      <dgm:t>
        <a:bodyPr/>
        <a:lstStyle/>
        <a:p>
          <a:endParaRPr lang="en-US"/>
        </a:p>
      </dgm:t>
    </dgm:pt>
    <dgm:pt modelId="{8445E488-AF0E-4E01-BE90-2C21692AE822}" type="sibTrans" cxnId="{CEFA5507-630F-4A5D-B474-CF1D5CDB9704}">
      <dgm:prSet/>
      <dgm:spPr/>
      <dgm:t>
        <a:bodyPr/>
        <a:lstStyle/>
        <a:p>
          <a:endParaRPr lang="en-US"/>
        </a:p>
      </dgm:t>
    </dgm:pt>
    <dgm:pt modelId="{AB767DC4-F9D4-47B2-AD8A-CC828AA5AAE1}" type="pres">
      <dgm:prSet presAssocID="{10BF29C4-95AA-4A4D-8856-2A37C70F0CA4}" presName="Name0" presStyleCnt="0">
        <dgm:presLayoutVars>
          <dgm:dir/>
          <dgm:resizeHandles val="exact"/>
        </dgm:presLayoutVars>
      </dgm:prSet>
      <dgm:spPr/>
    </dgm:pt>
    <dgm:pt modelId="{68EC4EA5-B168-45B9-B550-BC7D191D3D35}" type="pres">
      <dgm:prSet presAssocID="{CC48903A-AE00-4CE5-80B7-A4AE2740124E}" presName="composite" presStyleCnt="0"/>
      <dgm:spPr/>
    </dgm:pt>
    <dgm:pt modelId="{A38C3EE0-3EC6-48D4-A941-60766C45D580}" type="pres">
      <dgm:prSet presAssocID="{CC48903A-AE00-4CE5-80B7-A4AE2740124E}" presName="bgChev" presStyleLbl="node1" presStyleIdx="0" presStyleCnt="3"/>
      <dgm:spPr/>
    </dgm:pt>
    <dgm:pt modelId="{FC4A879D-5519-4F4A-BAC2-9A17B4C8EA5A}" type="pres">
      <dgm:prSet presAssocID="{CC48903A-AE00-4CE5-80B7-A4AE2740124E}" presName="txNode" presStyleLbl="fgAcc1" presStyleIdx="0" presStyleCnt="3">
        <dgm:presLayoutVars>
          <dgm:bulletEnabled val="1"/>
        </dgm:presLayoutVars>
      </dgm:prSet>
      <dgm:spPr/>
    </dgm:pt>
    <dgm:pt modelId="{71F7E887-7421-48D7-8AF3-CFAEBA4D9E7F}" type="pres">
      <dgm:prSet presAssocID="{8A76D23F-39C1-4C2A-BD0A-866EFF6205BA}" presName="compositeSpace" presStyleCnt="0"/>
      <dgm:spPr/>
    </dgm:pt>
    <dgm:pt modelId="{6A2B0D43-74FE-483E-A3C2-2D43D27E6AEC}" type="pres">
      <dgm:prSet presAssocID="{9944AB0A-09B6-49BA-A4EE-17CD4CE480DA}" presName="composite" presStyleCnt="0"/>
      <dgm:spPr/>
    </dgm:pt>
    <dgm:pt modelId="{BD4E6F89-50A0-4E83-8F1E-43010E05C4F9}" type="pres">
      <dgm:prSet presAssocID="{9944AB0A-09B6-49BA-A4EE-17CD4CE480DA}" presName="bgChev" presStyleLbl="node1" presStyleIdx="1" presStyleCnt="3"/>
      <dgm:spPr/>
    </dgm:pt>
    <dgm:pt modelId="{80D53992-1EBF-484D-AE53-33464BA92EE8}" type="pres">
      <dgm:prSet presAssocID="{9944AB0A-09B6-49BA-A4EE-17CD4CE480DA}" presName="txNode" presStyleLbl="fgAcc1" presStyleIdx="1" presStyleCnt="3">
        <dgm:presLayoutVars>
          <dgm:bulletEnabled val="1"/>
        </dgm:presLayoutVars>
      </dgm:prSet>
      <dgm:spPr/>
    </dgm:pt>
    <dgm:pt modelId="{53130AFA-5E29-4DB1-B9ED-FD8224E9C8F1}" type="pres">
      <dgm:prSet presAssocID="{1D08A53E-27C9-4283-B6E7-1A686AA851F3}" presName="compositeSpace" presStyleCnt="0"/>
      <dgm:spPr/>
    </dgm:pt>
    <dgm:pt modelId="{D7083B14-1879-4BDD-A011-A15869B37A50}" type="pres">
      <dgm:prSet presAssocID="{4576BFA4-25D4-42B9-9F7C-00E4F30C6E49}" presName="composite" presStyleCnt="0"/>
      <dgm:spPr/>
    </dgm:pt>
    <dgm:pt modelId="{0ED2BB06-1248-456E-AB61-670639A6C9C1}" type="pres">
      <dgm:prSet presAssocID="{4576BFA4-25D4-42B9-9F7C-00E4F30C6E49}" presName="bgChev" presStyleLbl="node1" presStyleIdx="2" presStyleCnt="3"/>
      <dgm:spPr/>
    </dgm:pt>
    <dgm:pt modelId="{E89C7F7F-7150-4FBD-9B03-65CD8A69F286}" type="pres">
      <dgm:prSet presAssocID="{4576BFA4-25D4-42B9-9F7C-00E4F30C6E49}" presName="txNode" presStyleLbl="fgAcc1" presStyleIdx="2" presStyleCnt="3">
        <dgm:presLayoutVars>
          <dgm:bulletEnabled val="1"/>
        </dgm:presLayoutVars>
      </dgm:prSet>
      <dgm:spPr/>
    </dgm:pt>
  </dgm:ptLst>
  <dgm:cxnLst>
    <dgm:cxn modelId="{91220052-8606-4A98-9922-6BB2445397AC}" srcId="{10BF29C4-95AA-4A4D-8856-2A37C70F0CA4}" destId="{CC48903A-AE00-4CE5-80B7-A4AE2740124E}" srcOrd="0" destOrd="0" parTransId="{F9772FE3-4CA1-4399-A761-CDBB817DF6AA}" sibTransId="{8A76D23F-39C1-4C2A-BD0A-866EFF6205BA}"/>
    <dgm:cxn modelId="{CEFA5507-630F-4A5D-B474-CF1D5CDB9704}" srcId="{10BF29C4-95AA-4A4D-8856-2A37C70F0CA4}" destId="{4576BFA4-25D4-42B9-9F7C-00E4F30C6E49}" srcOrd="2" destOrd="0" parTransId="{ED6D8437-D7BB-46E7-B407-A9ACCE7B9BD4}" sibTransId="{8445E488-AF0E-4E01-BE90-2C21692AE822}"/>
    <dgm:cxn modelId="{A3010364-17F3-4B5E-A781-BCCBC7484937}" type="presOf" srcId="{CC48903A-AE00-4CE5-80B7-A4AE2740124E}" destId="{FC4A879D-5519-4F4A-BAC2-9A17B4C8EA5A}" srcOrd="0" destOrd="0" presId="urn:microsoft.com/office/officeart/2005/8/layout/chevronAccent+Icon"/>
    <dgm:cxn modelId="{017C21D4-47BC-4782-9364-3721DF21F331}" type="presOf" srcId="{10BF29C4-95AA-4A4D-8856-2A37C70F0CA4}" destId="{AB767DC4-F9D4-47B2-AD8A-CC828AA5AAE1}" srcOrd="0" destOrd="0" presId="urn:microsoft.com/office/officeart/2005/8/layout/chevronAccent+Icon"/>
    <dgm:cxn modelId="{B91ADE67-BE94-4E92-BFFA-6A5C8491990A}" type="presOf" srcId="{9944AB0A-09B6-49BA-A4EE-17CD4CE480DA}" destId="{80D53992-1EBF-484D-AE53-33464BA92EE8}" srcOrd="0" destOrd="0" presId="urn:microsoft.com/office/officeart/2005/8/layout/chevronAccent+Icon"/>
    <dgm:cxn modelId="{5A8E34CB-9C09-4EE0-BED0-15C2C79EE946}" type="presOf" srcId="{4576BFA4-25D4-42B9-9F7C-00E4F30C6E49}" destId="{E89C7F7F-7150-4FBD-9B03-65CD8A69F286}" srcOrd="0" destOrd="0" presId="urn:microsoft.com/office/officeart/2005/8/layout/chevronAccent+Icon"/>
    <dgm:cxn modelId="{25CC4D6F-C0E7-46B5-BDBF-0657947143D8}" srcId="{10BF29C4-95AA-4A4D-8856-2A37C70F0CA4}" destId="{9944AB0A-09B6-49BA-A4EE-17CD4CE480DA}" srcOrd="1" destOrd="0" parTransId="{FA41E1F5-AC6D-4163-B633-69E4A096590C}" sibTransId="{1D08A53E-27C9-4283-B6E7-1A686AA851F3}"/>
    <dgm:cxn modelId="{D18E603F-99EC-4C16-BC4C-1D34DF272094}" type="presParOf" srcId="{AB767DC4-F9D4-47B2-AD8A-CC828AA5AAE1}" destId="{68EC4EA5-B168-45B9-B550-BC7D191D3D35}" srcOrd="0" destOrd="0" presId="urn:microsoft.com/office/officeart/2005/8/layout/chevronAccent+Icon"/>
    <dgm:cxn modelId="{51634078-6D18-4994-8F60-D7AADFE1F3AC}" type="presParOf" srcId="{68EC4EA5-B168-45B9-B550-BC7D191D3D35}" destId="{A38C3EE0-3EC6-48D4-A941-60766C45D580}" srcOrd="0" destOrd="0" presId="urn:microsoft.com/office/officeart/2005/8/layout/chevronAccent+Icon"/>
    <dgm:cxn modelId="{8E6849B3-54CF-489C-848D-3F44C51F9793}" type="presParOf" srcId="{68EC4EA5-B168-45B9-B550-BC7D191D3D35}" destId="{FC4A879D-5519-4F4A-BAC2-9A17B4C8EA5A}" srcOrd="1" destOrd="0" presId="urn:microsoft.com/office/officeart/2005/8/layout/chevronAccent+Icon"/>
    <dgm:cxn modelId="{266083E6-B606-49FF-ACF4-1067DD658172}" type="presParOf" srcId="{AB767DC4-F9D4-47B2-AD8A-CC828AA5AAE1}" destId="{71F7E887-7421-48D7-8AF3-CFAEBA4D9E7F}" srcOrd="1" destOrd="0" presId="urn:microsoft.com/office/officeart/2005/8/layout/chevronAccent+Icon"/>
    <dgm:cxn modelId="{5C1A2554-D9A9-4168-BD73-4507FEF507D2}" type="presParOf" srcId="{AB767DC4-F9D4-47B2-AD8A-CC828AA5AAE1}" destId="{6A2B0D43-74FE-483E-A3C2-2D43D27E6AEC}" srcOrd="2" destOrd="0" presId="urn:microsoft.com/office/officeart/2005/8/layout/chevronAccent+Icon"/>
    <dgm:cxn modelId="{EA8AF6DF-A436-47FF-A161-A976E9598037}" type="presParOf" srcId="{6A2B0D43-74FE-483E-A3C2-2D43D27E6AEC}" destId="{BD4E6F89-50A0-4E83-8F1E-43010E05C4F9}" srcOrd="0" destOrd="0" presId="urn:microsoft.com/office/officeart/2005/8/layout/chevronAccent+Icon"/>
    <dgm:cxn modelId="{5A229280-7AAD-44C9-8CFF-20A999C171E7}" type="presParOf" srcId="{6A2B0D43-74FE-483E-A3C2-2D43D27E6AEC}" destId="{80D53992-1EBF-484D-AE53-33464BA92EE8}" srcOrd="1" destOrd="0" presId="urn:microsoft.com/office/officeart/2005/8/layout/chevronAccent+Icon"/>
    <dgm:cxn modelId="{195D06B7-59A1-46A5-A632-454364A84E40}" type="presParOf" srcId="{AB767DC4-F9D4-47B2-AD8A-CC828AA5AAE1}" destId="{53130AFA-5E29-4DB1-B9ED-FD8224E9C8F1}" srcOrd="3" destOrd="0" presId="urn:microsoft.com/office/officeart/2005/8/layout/chevronAccent+Icon"/>
    <dgm:cxn modelId="{ADF20561-9CF1-4C35-BDE8-77809FBE4C98}" type="presParOf" srcId="{AB767DC4-F9D4-47B2-AD8A-CC828AA5AAE1}" destId="{D7083B14-1879-4BDD-A011-A15869B37A50}" srcOrd="4" destOrd="0" presId="urn:microsoft.com/office/officeart/2005/8/layout/chevronAccent+Icon"/>
    <dgm:cxn modelId="{2B391853-D422-4D1D-A5D7-7F3BF2A557F5}" type="presParOf" srcId="{D7083B14-1879-4BDD-A011-A15869B37A50}" destId="{0ED2BB06-1248-456E-AB61-670639A6C9C1}" srcOrd="0" destOrd="0" presId="urn:microsoft.com/office/officeart/2005/8/layout/chevronAccent+Icon"/>
    <dgm:cxn modelId="{0101BF28-35C6-46D0-BD07-254B0E9775AD}" type="presParOf" srcId="{D7083B14-1879-4BDD-A011-A15869B37A50}" destId="{E89C7F7F-7150-4FBD-9B03-65CD8A69F286}" srcOrd="1" destOrd="0" presId="urn:microsoft.com/office/officeart/2005/8/layout/chevronAccent+Icon"/>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A3CBB-D43E-4363-BCDF-8F6005F95D5C}">
      <dsp:nvSpPr>
        <dsp:cNvPr id="0" name=""/>
        <dsp:cNvSpPr/>
      </dsp:nvSpPr>
      <dsp:spPr>
        <a:xfrm>
          <a:off x="2629" y="506123"/>
          <a:ext cx="1344885" cy="23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r" defTabSz="533400">
            <a:lnSpc>
              <a:spcPct val="90000"/>
            </a:lnSpc>
            <a:spcBef>
              <a:spcPct val="0"/>
            </a:spcBef>
            <a:spcAft>
              <a:spcPct val="35000"/>
            </a:spcAft>
            <a:buNone/>
          </a:pPr>
          <a:r>
            <a:rPr lang="en-US" sz="1200" kern="1200" dirty="0"/>
            <a:t>PowerShell</a:t>
          </a:r>
        </a:p>
      </dsp:txBody>
      <dsp:txXfrm>
        <a:off x="2629" y="506123"/>
        <a:ext cx="1344885" cy="237600"/>
      </dsp:txXfrm>
    </dsp:sp>
    <dsp:sp modelId="{10BEB3C2-A5A1-4F84-AA95-ADE0E4AFEE4B}">
      <dsp:nvSpPr>
        <dsp:cNvPr id="0" name=""/>
        <dsp:cNvSpPr/>
      </dsp:nvSpPr>
      <dsp:spPr>
        <a:xfrm>
          <a:off x="1347514" y="134873"/>
          <a:ext cx="268977" cy="980100"/>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38793-A174-4C08-8B81-F5E6C3F97444}">
      <dsp:nvSpPr>
        <dsp:cNvPr id="0" name=""/>
        <dsp:cNvSpPr/>
      </dsp:nvSpPr>
      <dsp:spPr>
        <a:xfrm>
          <a:off x="1724082" y="134873"/>
          <a:ext cx="3658088" cy="980100"/>
        </a:xfrm>
        <a:prstGeom prst="rect">
          <a:avLst/>
        </a:prstGeom>
        <a:solidFill>
          <a:srgbClr val="0072C6"/>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Runbooks</a:t>
          </a:r>
          <a:r>
            <a:rPr lang="en-US" sz="1200" kern="1200" dirty="0"/>
            <a:t> - PowerShell scripts that automate complex, end-to-end processes </a:t>
          </a:r>
        </a:p>
        <a:p>
          <a:pPr marL="114300" lvl="1" indent="-114300" algn="l" defTabSz="533400">
            <a:lnSpc>
              <a:spcPct val="90000"/>
            </a:lnSpc>
            <a:spcBef>
              <a:spcPct val="0"/>
            </a:spcBef>
            <a:spcAft>
              <a:spcPct val="15000"/>
            </a:spcAft>
            <a:buChar char="•"/>
          </a:pPr>
          <a:r>
            <a:rPr lang="en-US" sz="1200" b="1" kern="1200" dirty="0"/>
            <a:t>Configurations</a:t>
          </a:r>
          <a:r>
            <a:rPr lang="en-US" sz="1200" kern="1200" dirty="0"/>
            <a:t> – PowerShell DSC Configurations to enforce how machines should be configured</a:t>
          </a:r>
        </a:p>
      </dsp:txBody>
      <dsp:txXfrm>
        <a:off x="1724082" y="134873"/>
        <a:ext cx="3658088" cy="980100"/>
      </dsp:txXfrm>
    </dsp:sp>
    <dsp:sp modelId="{32322DC2-DAD6-494C-BD81-CC399BC657C4}">
      <dsp:nvSpPr>
        <dsp:cNvPr id="0" name=""/>
        <dsp:cNvSpPr/>
      </dsp:nvSpPr>
      <dsp:spPr>
        <a:xfrm>
          <a:off x="2629" y="1684420"/>
          <a:ext cx="1344885" cy="400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r" defTabSz="533400">
            <a:lnSpc>
              <a:spcPct val="90000"/>
            </a:lnSpc>
            <a:spcBef>
              <a:spcPct val="0"/>
            </a:spcBef>
            <a:spcAft>
              <a:spcPct val="35000"/>
            </a:spcAft>
            <a:buNone/>
          </a:pPr>
          <a:r>
            <a:rPr lang="en-US" sz="1200" kern="1200" dirty="0"/>
            <a:t>Centralized, secure store </a:t>
          </a:r>
        </a:p>
      </dsp:txBody>
      <dsp:txXfrm>
        <a:off x="2629" y="1684420"/>
        <a:ext cx="1344885" cy="400950"/>
      </dsp:txXfrm>
    </dsp:sp>
    <dsp:sp modelId="{669D122D-E7FB-4355-9A18-3E3A68089DF8}">
      <dsp:nvSpPr>
        <dsp:cNvPr id="0" name=""/>
        <dsp:cNvSpPr/>
      </dsp:nvSpPr>
      <dsp:spPr>
        <a:xfrm>
          <a:off x="1347514" y="1158173"/>
          <a:ext cx="268977" cy="1453443"/>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580AB7-FF5B-4C0D-935B-EAA6FB9ADA77}">
      <dsp:nvSpPr>
        <dsp:cNvPr id="0" name=""/>
        <dsp:cNvSpPr/>
      </dsp:nvSpPr>
      <dsp:spPr>
        <a:xfrm>
          <a:off x="1724082" y="1158173"/>
          <a:ext cx="3658088" cy="1453443"/>
        </a:xfrm>
        <a:prstGeom prst="rect">
          <a:avLst/>
        </a:prstGeom>
        <a:solidFill>
          <a:srgbClr val="0072C6"/>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Credentials</a:t>
          </a:r>
        </a:p>
        <a:p>
          <a:pPr marL="114300" lvl="1" indent="-114300" algn="l" defTabSz="533400">
            <a:lnSpc>
              <a:spcPct val="90000"/>
            </a:lnSpc>
            <a:spcBef>
              <a:spcPct val="0"/>
            </a:spcBef>
            <a:spcAft>
              <a:spcPct val="15000"/>
            </a:spcAft>
            <a:buChar char="•"/>
          </a:pPr>
          <a:r>
            <a:rPr lang="en-US" sz="1200" kern="1200" dirty="0"/>
            <a:t>Certificates</a:t>
          </a:r>
        </a:p>
        <a:p>
          <a:pPr marL="114300" lvl="1" indent="-114300" algn="l" defTabSz="533400">
            <a:lnSpc>
              <a:spcPct val="90000"/>
            </a:lnSpc>
            <a:spcBef>
              <a:spcPct val="0"/>
            </a:spcBef>
            <a:spcAft>
              <a:spcPct val="15000"/>
            </a:spcAft>
            <a:buChar char="•"/>
          </a:pPr>
          <a:r>
            <a:rPr lang="en-US" sz="1200" kern="1200" dirty="0"/>
            <a:t>Variables </a:t>
          </a:r>
        </a:p>
        <a:p>
          <a:pPr marL="114300" lvl="1" indent="-114300" algn="l" defTabSz="533400">
            <a:lnSpc>
              <a:spcPct val="90000"/>
            </a:lnSpc>
            <a:spcBef>
              <a:spcPct val="0"/>
            </a:spcBef>
            <a:spcAft>
              <a:spcPct val="15000"/>
            </a:spcAft>
            <a:buChar char="•"/>
          </a:pPr>
          <a:r>
            <a:rPr lang="en-US" sz="1200" kern="1200" dirty="0"/>
            <a:t>Connections</a:t>
          </a:r>
        </a:p>
        <a:p>
          <a:pPr marL="114300" lvl="1" indent="-114300" algn="l" defTabSz="533400">
            <a:lnSpc>
              <a:spcPct val="90000"/>
            </a:lnSpc>
            <a:spcBef>
              <a:spcPct val="0"/>
            </a:spcBef>
            <a:spcAft>
              <a:spcPct val="15000"/>
            </a:spcAft>
            <a:buChar char="•"/>
          </a:pPr>
          <a:r>
            <a:rPr lang="en-US" sz="1200" kern="1200" dirty="0"/>
            <a:t>PS Modules / PS DSC resources</a:t>
          </a:r>
        </a:p>
        <a:p>
          <a:pPr marL="114300" lvl="1" indent="-114300" algn="l" defTabSz="533400">
            <a:lnSpc>
              <a:spcPct val="90000"/>
            </a:lnSpc>
            <a:spcBef>
              <a:spcPct val="0"/>
            </a:spcBef>
            <a:spcAft>
              <a:spcPct val="15000"/>
            </a:spcAft>
            <a:buChar char="•"/>
          </a:pPr>
          <a:r>
            <a:rPr lang="en-US" sz="1200" kern="1200" dirty="0"/>
            <a:t>Draft / published versions</a:t>
          </a:r>
        </a:p>
        <a:p>
          <a:pPr marL="114300" lvl="1" indent="-114300" algn="l" defTabSz="533400">
            <a:lnSpc>
              <a:spcPct val="90000"/>
            </a:lnSpc>
            <a:spcBef>
              <a:spcPct val="0"/>
            </a:spcBef>
            <a:spcAft>
              <a:spcPct val="15000"/>
            </a:spcAft>
            <a:buChar char="•"/>
          </a:pPr>
          <a:r>
            <a:rPr lang="en-US" sz="1200" kern="1200" dirty="0"/>
            <a:t>Schedules</a:t>
          </a:r>
        </a:p>
      </dsp:txBody>
      <dsp:txXfrm>
        <a:off x="1724082" y="1158173"/>
        <a:ext cx="3658088" cy="1453443"/>
      </dsp:txXfrm>
    </dsp:sp>
    <dsp:sp modelId="{41B30F15-1EFB-4335-80A2-0AA6ABF48054}">
      <dsp:nvSpPr>
        <dsp:cNvPr id="0" name=""/>
        <dsp:cNvSpPr/>
      </dsp:nvSpPr>
      <dsp:spPr>
        <a:xfrm>
          <a:off x="2629" y="2701223"/>
          <a:ext cx="1344885" cy="74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r" defTabSz="533400">
            <a:lnSpc>
              <a:spcPct val="90000"/>
            </a:lnSpc>
            <a:spcBef>
              <a:spcPct val="0"/>
            </a:spcBef>
            <a:spcAft>
              <a:spcPct val="35000"/>
            </a:spcAft>
            <a:buNone/>
          </a:pPr>
          <a:r>
            <a:rPr lang="en-US" sz="1200" kern="1200" dirty="0"/>
            <a:t>Highly Available, Scalable, Manageable</a:t>
          </a:r>
        </a:p>
      </dsp:txBody>
      <dsp:txXfrm>
        <a:off x="2629" y="2701223"/>
        <a:ext cx="1344885" cy="742500"/>
      </dsp:txXfrm>
    </dsp:sp>
    <dsp:sp modelId="{7AAEDEA6-EB67-4D01-81C0-1A71D29670CC}">
      <dsp:nvSpPr>
        <dsp:cNvPr id="0" name=""/>
        <dsp:cNvSpPr/>
      </dsp:nvSpPr>
      <dsp:spPr>
        <a:xfrm>
          <a:off x="1347514" y="2654817"/>
          <a:ext cx="268977" cy="835312"/>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263776-7EF9-4A27-A64E-4F4FD08AE408}">
      <dsp:nvSpPr>
        <dsp:cNvPr id="0" name=""/>
        <dsp:cNvSpPr/>
      </dsp:nvSpPr>
      <dsp:spPr>
        <a:xfrm>
          <a:off x="1724082" y="2654817"/>
          <a:ext cx="3658088" cy="835312"/>
        </a:xfrm>
        <a:prstGeom prst="rect">
          <a:avLst/>
        </a:prstGeom>
        <a:solidFill>
          <a:srgbClr val="0072C6"/>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Execution environment for PowerShell</a:t>
          </a:r>
        </a:p>
        <a:p>
          <a:pPr marL="114300" lvl="1" indent="-114300" algn="l" defTabSz="533400">
            <a:lnSpc>
              <a:spcPct val="90000"/>
            </a:lnSpc>
            <a:spcBef>
              <a:spcPct val="0"/>
            </a:spcBef>
            <a:spcAft>
              <a:spcPct val="15000"/>
            </a:spcAft>
            <a:buChar char="•"/>
          </a:pPr>
          <a:r>
            <a:rPr lang="en-US" sz="1200" kern="1200" dirty="0"/>
            <a:t>PS DSC Pull / Reporting server</a:t>
          </a:r>
        </a:p>
        <a:p>
          <a:pPr marL="114300" lvl="1" indent="-114300" algn="l" defTabSz="533400">
            <a:lnSpc>
              <a:spcPct val="90000"/>
            </a:lnSpc>
            <a:spcBef>
              <a:spcPct val="0"/>
            </a:spcBef>
            <a:spcAft>
              <a:spcPct val="15000"/>
            </a:spcAft>
            <a:buChar char="•"/>
          </a:pPr>
          <a:r>
            <a:rPr lang="en-US" sz="1200" kern="1200" dirty="0"/>
            <a:t>REST API, C# SDK, cmdlets, and portal for managing all aspects of the service</a:t>
          </a:r>
        </a:p>
      </dsp:txBody>
      <dsp:txXfrm>
        <a:off x="1724082" y="2654817"/>
        <a:ext cx="3658088" cy="835312"/>
      </dsp:txXfrm>
    </dsp:sp>
    <dsp:sp modelId="{A233DA96-2D8A-4DE1-9C7B-D68F56523CE0}">
      <dsp:nvSpPr>
        <dsp:cNvPr id="0" name=""/>
        <dsp:cNvSpPr/>
      </dsp:nvSpPr>
      <dsp:spPr>
        <a:xfrm>
          <a:off x="2629" y="3746334"/>
          <a:ext cx="1344885" cy="400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30480" rIns="85344" bIns="30480" numCol="1" spcCol="1270" anchor="ctr" anchorCtr="0">
          <a:noAutofit/>
        </a:bodyPr>
        <a:lstStyle/>
        <a:p>
          <a:pPr marL="0" lvl="0" indent="0" algn="r" defTabSz="533400">
            <a:lnSpc>
              <a:spcPct val="90000"/>
            </a:lnSpc>
            <a:spcBef>
              <a:spcPct val="0"/>
            </a:spcBef>
            <a:spcAft>
              <a:spcPct val="35000"/>
            </a:spcAft>
            <a:buNone/>
          </a:pPr>
          <a:r>
            <a:rPr lang="en-US" sz="1200" kern="1200" dirty="0"/>
            <a:t>Historical Analysis</a:t>
          </a:r>
        </a:p>
      </dsp:txBody>
      <dsp:txXfrm>
        <a:off x="2629" y="3746334"/>
        <a:ext cx="1344885" cy="400950"/>
      </dsp:txXfrm>
    </dsp:sp>
    <dsp:sp modelId="{29AA4DA8-6369-4012-AD36-64EB3D1FB1F2}">
      <dsp:nvSpPr>
        <dsp:cNvPr id="0" name=""/>
        <dsp:cNvSpPr/>
      </dsp:nvSpPr>
      <dsp:spPr>
        <a:xfrm>
          <a:off x="1347514" y="3533329"/>
          <a:ext cx="268977" cy="826959"/>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901DD-A25F-4947-AA9D-B55ADFF27BA7}">
      <dsp:nvSpPr>
        <dsp:cNvPr id="0" name=""/>
        <dsp:cNvSpPr/>
      </dsp:nvSpPr>
      <dsp:spPr>
        <a:xfrm>
          <a:off x="1724082" y="3533329"/>
          <a:ext cx="3658088" cy="826959"/>
        </a:xfrm>
        <a:prstGeom prst="rect">
          <a:avLst/>
        </a:prstGeom>
        <a:solidFill>
          <a:srgbClr val="0072C6"/>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Historical view of runbook job executions</a:t>
          </a:r>
        </a:p>
        <a:p>
          <a:pPr marL="114300" lvl="1" indent="-114300" algn="l" defTabSz="533400">
            <a:lnSpc>
              <a:spcPct val="90000"/>
            </a:lnSpc>
            <a:spcBef>
              <a:spcPct val="0"/>
            </a:spcBef>
            <a:spcAft>
              <a:spcPct val="15000"/>
            </a:spcAft>
            <a:buChar char="•"/>
          </a:pPr>
          <a:r>
            <a:rPr lang="en-US" sz="1200" kern="1200" dirty="0"/>
            <a:t>View runbook version used for each job</a:t>
          </a:r>
        </a:p>
        <a:p>
          <a:pPr marL="114300" lvl="1" indent="-114300" algn="l" defTabSz="533400">
            <a:lnSpc>
              <a:spcPct val="90000"/>
            </a:lnSpc>
            <a:spcBef>
              <a:spcPct val="0"/>
            </a:spcBef>
            <a:spcAft>
              <a:spcPct val="15000"/>
            </a:spcAft>
            <a:buChar char="•"/>
          </a:pPr>
          <a:r>
            <a:rPr lang="en-US" sz="1200" kern="1200" dirty="0"/>
            <a:t>High-level &amp; granular views of DSC node compliance, now and in the past</a:t>
          </a:r>
        </a:p>
      </dsp:txBody>
      <dsp:txXfrm>
        <a:off x="1724082" y="3533329"/>
        <a:ext cx="3658088" cy="8269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8C3EE0-3EC6-48D4-A941-60766C45D580}">
      <dsp:nvSpPr>
        <dsp:cNvPr id="0" name=""/>
        <dsp:cNvSpPr/>
      </dsp:nvSpPr>
      <dsp:spPr>
        <a:xfrm>
          <a:off x="1238" y="1489814"/>
          <a:ext cx="3112658" cy="1201485"/>
        </a:xfrm>
        <a:prstGeom prst="chevron">
          <a:avLst>
            <a:gd name="adj" fmla="val 4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4A879D-5519-4F4A-BAC2-9A17B4C8EA5A}">
      <dsp:nvSpPr>
        <dsp:cNvPr id="0" name=""/>
        <dsp:cNvSpPr/>
      </dsp:nvSpPr>
      <dsp:spPr>
        <a:xfrm>
          <a:off x="831281" y="1790186"/>
          <a:ext cx="2628466" cy="1201485"/>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Development</a:t>
          </a:r>
        </a:p>
      </dsp:txBody>
      <dsp:txXfrm>
        <a:off x="866471" y="1825376"/>
        <a:ext cx="2558086" cy="1131105"/>
      </dsp:txXfrm>
    </dsp:sp>
    <dsp:sp modelId="{BD4E6F89-50A0-4E83-8F1E-43010E05C4F9}">
      <dsp:nvSpPr>
        <dsp:cNvPr id="0" name=""/>
        <dsp:cNvSpPr/>
      </dsp:nvSpPr>
      <dsp:spPr>
        <a:xfrm>
          <a:off x="3556586" y="1489814"/>
          <a:ext cx="3112658" cy="1201485"/>
        </a:xfrm>
        <a:prstGeom prst="chevron">
          <a:avLst>
            <a:gd name="adj" fmla="val 40000"/>
          </a:avLst>
        </a:prstGeom>
        <a:solidFill>
          <a:schemeClr val="accent4">
            <a:hueOff val="1329380"/>
            <a:satOff val="481"/>
            <a:lumOff val="-392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D53992-1EBF-484D-AE53-33464BA92EE8}">
      <dsp:nvSpPr>
        <dsp:cNvPr id="0" name=""/>
        <dsp:cNvSpPr/>
      </dsp:nvSpPr>
      <dsp:spPr>
        <a:xfrm>
          <a:off x="4386628" y="1790186"/>
          <a:ext cx="2628466" cy="1201485"/>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1329380"/>
              <a:satOff val="481"/>
              <a:lumOff val="-392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Test</a:t>
          </a:r>
        </a:p>
      </dsp:txBody>
      <dsp:txXfrm>
        <a:off x="4421818" y="1825376"/>
        <a:ext cx="2558086" cy="1131105"/>
      </dsp:txXfrm>
    </dsp:sp>
    <dsp:sp modelId="{0ED2BB06-1248-456E-AB61-670639A6C9C1}">
      <dsp:nvSpPr>
        <dsp:cNvPr id="0" name=""/>
        <dsp:cNvSpPr/>
      </dsp:nvSpPr>
      <dsp:spPr>
        <a:xfrm>
          <a:off x="7111933" y="1489814"/>
          <a:ext cx="3112658" cy="1201485"/>
        </a:xfrm>
        <a:prstGeom prst="chevron">
          <a:avLst>
            <a:gd name="adj" fmla="val 40000"/>
          </a:avLst>
        </a:prstGeom>
        <a:solidFill>
          <a:schemeClr val="accent4">
            <a:hueOff val="2658761"/>
            <a:satOff val="962"/>
            <a:lumOff val="-78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9C7F7F-7150-4FBD-9B03-65CD8A69F286}">
      <dsp:nvSpPr>
        <dsp:cNvPr id="0" name=""/>
        <dsp:cNvSpPr/>
      </dsp:nvSpPr>
      <dsp:spPr>
        <a:xfrm>
          <a:off x="7941975" y="1790186"/>
          <a:ext cx="2628466" cy="1201485"/>
        </a:xfrm>
        <a:prstGeom prst="roundRect">
          <a:avLst>
            <a:gd name="adj" fmla="val 10000"/>
          </a:avLst>
        </a:prstGeom>
        <a:solidFill>
          <a:schemeClr val="lt1">
            <a:alpha val="90000"/>
            <a:hueOff val="0"/>
            <a:satOff val="0"/>
            <a:lumOff val="0"/>
            <a:alphaOff val="0"/>
          </a:schemeClr>
        </a:solidFill>
        <a:ln w="19050" cap="rnd" cmpd="sng" algn="ctr">
          <a:solidFill>
            <a:schemeClr val="accent4">
              <a:hueOff val="2658761"/>
              <a:satOff val="962"/>
              <a:lumOff val="-78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Production</a:t>
          </a:r>
        </a:p>
      </dsp:txBody>
      <dsp:txXfrm>
        <a:off x="7977165" y="1825376"/>
        <a:ext cx="2558086" cy="1131105"/>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D2897-C8A9-4ABC-83CD-08602C156C66}" type="datetimeFigureOut">
              <a:rPr lang="en-US" smtClean="0"/>
              <a:t>8/21/2016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21382-61ED-419B-AA03-FFDDF2250A6E}" type="slidenum">
              <a:rPr lang="en-US" smtClean="0"/>
              <a:t>‹#›</a:t>
            </a:fld>
            <a:endParaRPr lang="en-US"/>
          </a:p>
        </p:txBody>
      </p:sp>
    </p:spTree>
    <p:extLst>
      <p:ext uri="{BB962C8B-B14F-4D97-AF65-F5344CB8AC3E}">
        <p14:creationId xmlns:p14="http://schemas.microsoft.com/office/powerpoint/2010/main" val="159565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Slide Number Placeholder 3"/>
          <p:cNvSpPr>
            <a:spLocks noGrp="1"/>
          </p:cNvSpPr>
          <p:nvPr>
            <p:ph type="sldNum" sz="quarter" idx="10"/>
          </p:nvPr>
        </p:nvSpPr>
        <p:spPr/>
        <p:txBody>
          <a:bodyPr/>
          <a:lstStyle/>
          <a:p>
            <a:fld id="{23221382-61ED-419B-AA03-FFDDF2250A6E}" type="slidenum">
              <a:rPr lang="en-US" smtClean="0"/>
              <a:t>1</a:t>
            </a:fld>
            <a:endParaRPr lang="en-US"/>
          </a:p>
        </p:txBody>
      </p:sp>
    </p:spTree>
    <p:extLst>
      <p:ext uri="{BB962C8B-B14F-4D97-AF65-F5344CB8AC3E}">
        <p14:creationId xmlns:p14="http://schemas.microsoft.com/office/powerpoint/2010/main" val="2466671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Joe</a:t>
            </a:r>
          </a:p>
        </p:txBody>
      </p:sp>
      <p:sp>
        <p:nvSpPr>
          <p:cNvPr id="5" name="Date Placeholder 4"/>
          <p:cNvSpPr>
            <a:spLocks noGrp="1"/>
          </p:cNvSpPr>
          <p:nvPr>
            <p:ph type="dt" idx="10"/>
          </p:nvPr>
        </p:nvSpPr>
        <p:spPr/>
        <p:txBody>
          <a:bodyPr/>
          <a:lstStyle/>
          <a:p>
            <a:fld id="{F22B3E36-5CE0-4CB7-82DE-38A88C71BFA8}" type="datetime1">
              <a:rPr lang="en-US" smtClean="0"/>
              <a:pPr/>
              <a:t>8/21/2016</a:t>
            </a:fld>
            <a:endParaRPr lang="en-US" dirty="0"/>
          </a:p>
        </p:txBody>
      </p:sp>
      <p:sp>
        <p:nvSpPr>
          <p:cNvPr id="6" name="Footer Placeholder 5"/>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b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12"/>
          </p:nvPr>
        </p:nvSpPr>
        <p:spPr/>
        <p:txBody>
          <a:bodyPr/>
          <a:lstStyle/>
          <a:p>
            <a:fld id="{8B263312-38AA-4E1E-B2B5-0F8F122B24FE}" type="slidenum">
              <a:rPr lang="en-US" smtClean="0"/>
              <a:pPr/>
              <a:t>2</a:t>
            </a:fld>
            <a:endParaRPr lang="en-US" dirty="0"/>
          </a:p>
        </p:txBody>
      </p:sp>
      <p:sp>
        <p:nvSpPr>
          <p:cNvPr id="8" name="Header Placeholder 7"/>
          <p:cNvSpPr>
            <a:spLocks noGrp="1"/>
          </p:cNvSpPr>
          <p:nvPr>
            <p:ph type="hdr" sz="quarter" idx="13"/>
          </p:nvPr>
        </p:nvSpPr>
        <p:spPr/>
        <p:txBody>
          <a:bodyPr/>
          <a:lstStyle/>
          <a:p>
            <a:r>
              <a:rPr lang="en-US" dirty="0"/>
              <a:t>Tech Ready 15</a:t>
            </a:r>
          </a:p>
        </p:txBody>
      </p:sp>
    </p:spTree>
    <p:extLst>
      <p:ext uri="{BB962C8B-B14F-4D97-AF65-F5344CB8AC3E}">
        <p14:creationId xmlns:p14="http://schemas.microsoft.com/office/powerpoint/2010/main" val="957218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304394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0EC29EE-A8AD-4CE0-9C0B-116E0D4D7533}"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2119120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Slide Number Placeholder 3"/>
          <p:cNvSpPr>
            <a:spLocks noGrp="1"/>
          </p:cNvSpPr>
          <p:nvPr>
            <p:ph type="sldNum" sz="quarter" idx="10"/>
          </p:nvPr>
        </p:nvSpPr>
        <p:spPr/>
        <p:txBody>
          <a:bodyPr/>
          <a:lstStyle/>
          <a:p>
            <a:fld id="{23221382-61ED-419B-AA03-FFDDF2250A6E}" type="slidenum">
              <a:rPr lang="en-US" smtClean="0"/>
              <a:t>5</a:t>
            </a:fld>
            <a:endParaRPr lang="en-US"/>
          </a:p>
        </p:txBody>
      </p:sp>
    </p:spTree>
    <p:extLst>
      <p:ext uri="{BB962C8B-B14F-4D97-AF65-F5344CB8AC3E}">
        <p14:creationId xmlns:p14="http://schemas.microsoft.com/office/powerpoint/2010/main" val="1198889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6" name="Date Placeholder 5"/>
          <p:cNvSpPr>
            <a:spLocks noGrp="1"/>
          </p:cNvSpPr>
          <p:nvPr>
            <p:ph type="dt" idx="12"/>
          </p:nvPr>
        </p:nvSpPr>
        <p:spPr/>
        <p:txBody>
          <a:bodyPr/>
          <a:lstStyle/>
          <a:p>
            <a:fld id="{211D4B0C-B40C-4B38-86E4-2AFA7E194751}" type="datetime1">
              <a:rPr lang="en-US" smtClean="0"/>
              <a:t>8/21/2016</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
        <p:nvSpPr>
          <p:cNvPr id="10" name="Footer Placeholder 9"/>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084543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Joe</a:t>
            </a:r>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solidFill>
                  <a:prstClr val="black"/>
                </a:solidFill>
              </a:rPr>
              <a:pPr/>
              <a:t>8/21/2016</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2226916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Footer Placeholder 3"/>
          <p:cNvSpPr>
            <a:spLocks noGrp="1"/>
          </p:cNvSpPr>
          <p:nvPr>
            <p:ph type="ftr" sz="quarter" idx="10"/>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969870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551240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Slide Number Placeholder 3"/>
          <p:cNvSpPr>
            <a:spLocks noGrp="1"/>
          </p:cNvSpPr>
          <p:nvPr>
            <p:ph type="sldNum" sz="quarter" idx="10"/>
          </p:nvPr>
        </p:nvSpPr>
        <p:spPr/>
        <p:txBody>
          <a:bodyPr/>
          <a:lstStyle/>
          <a:p>
            <a:fld id="{23221382-61ED-419B-AA03-FFDDF2250A6E}" type="slidenum">
              <a:rPr lang="en-US" smtClean="0"/>
              <a:t>10</a:t>
            </a:fld>
            <a:endParaRPr lang="en-US"/>
          </a:p>
        </p:txBody>
      </p:sp>
    </p:spTree>
    <p:extLst>
      <p:ext uri="{BB962C8B-B14F-4D97-AF65-F5344CB8AC3E}">
        <p14:creationId xmlns:p14="http://schemas.microsoft.com/office/powerpoint/2010/main" val="4033305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Browse the Runbook Gallery</a:t>
            </a:r>
          </a:p>
        </p:txBody>
      </p:sp>
      <p:sp>
        <p:nvSpPr>
          <p:cNvPr id="4" name="Slide Number Placeholder 3"/>
          <p:cNvSpPr>
            <a:spLocks noGrp="1"/>
          </p:cNvSpPr>
          <p:nvPr>
            <p:ph type="sldNum" sz="quarter" idx="10"/>
          </p:nvPr>
        </p:nvSpPr>
        <p:spPr/>
        <p:txBody>
          <a:bodyPr/>
          <a:lstStyle/>
          <a:p>
            <a:fld id="{23221382-61ED-419B-AA03-FFDDF2250A6E}" type="slidenum">
              <a:rPr lang="en-US" smtClean="0"/>
              <a:t>11</a:t>
            </a:fld>
            <a:endParaRPr lang="en-US"/>
          </a:p>
        </p:txBody>
      </p:sp>
    </p:spTree>
    <p:extLst>
      <p:ext uri="{BB962C8B-B14F-4D97-AF65-F5344CB8AC3E}">
        <p14:creationId xmlns:p14="http://schemas.microsoft.com/office/powerpoint/2010/main" val="2639371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Import a module from the PowerShell Gallery</a:t>
            </a:r>
          </a:p>
        </p:txBody>
      </p:sp>
      <p:sp>
        <p:nvSpPr>
          <p:cNvPr id="4" name="Slide Number Placeholder 3"/>
          <p:cNvSpPr>
            <a:spLocks noGrp="1"/>
          </p:cNvSpPr>
          <p:nvPr>
            <p:ph type="sldNum" sz="quarter" idx="10"/>
          </p:nvPr>
        </p:nvSpPr>
        <p:spPr/>
        <p:txBody>
          <a:bodyPr/>
          <a:lstStyle/>
          <a:p>
            <a:fld id="{23221382-61ED-419B-AA03-FFDDF2250A6E}" type="slidenum">
              <a:rPr lang="en-US" smtClean="0"/>
              <a:t>12</a:t>
            </a:fld>
            <a:endParaRPr lang="en-US"/>
          </a:p>
        </p:txBody>
      </p:sp>
    </p:spTree>
    <p:extLst>
      <p:ext uri="{BB962C8B-B14F-4D97-AF65-F5344CB8AC3E}">
        <p14:creationId xmlns:p14="http://schemas.microsoft.com/office/powerpoint/2010/main" val="1493696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Demo the PowerShell Automation ISE Add-On</a:t>
            </a:r>
          </a:p>
        </p:txBody>
      </p:sp>
      <p:sp>
        <p:nvSpPr>
          <p:cNvPr id="4" name="Slide Number Placeholder 3"/>
          <p:cNvSpPr>
            <a:spLocks noGrp="1"/>
          </p:cNvSpPr>
          <p:nvPr>
            <p:ph type="sldNum" sz="quarter" idx="10"/>
          </p:nvPr>
        </p:nvSpPr>
        <p:spPr/>
        <p:txBody>
          <a:bodyPr/>
          <a:lstStyle/>
          <a:p>
            <a:fld id="{23221382-61ED-419B-AA03-FFDDF2250A6E}" type="slidenum">
              <a:rPr lang="en-US" smtClean="0"/>
              <a:t>13</a:t>
            </a:fld>
            <a:endParaRPr lang="en-US"/>
          </a:p>
        </p:txBody>
      </p:sp>
    </p:spTree>
    <p:extLst>
      <p:ext uri="{BB962C8B-B14F-4D97-AF65-F5344CB8AC3E}">
        <p14:creationId xmlns:p14="http://schemas.microsoft.com/office/powerpoint/2010/main" val="2990224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Three demo’s illustrating setting up and configuring Source Control</a:t>
            </a:r>
          </a:p>
        </p:txBody>
      </p:sp>
      <p:sp>
        <p:nvSpPr>
          <p:cNvPr id="4" name="Slide Number Placeholder 3"/>
          <p:cNvSpPr>
            <a:spLocks noGrp="1"/>
          </p:cNvSpPr>
          <p:nvPr>
            <p:ph type="sldNum" sz="quarter" idx="10"/>
          </p:nvPr>
        </p:nvSpPr>
        <p:spPr/>
        <p:txBody>
          <a:bodyPr/>
          <a:lstStyle/>
          <a:p>
            <a:fld id="{23221382-61ED-419B-AA03-FFDDF2250A6E}" type="slidenum">
              <a:rPr lang="en-US" smtClean="0"/>
              <a:t>14</a:t>
            </a:fld>
            <a:endParaRPr lang="en-US"/>
          </a:p>
        </p:txBody>
      </p:sp>
    </p:spTree>
    <p:extLst>
      <p:ext uri="{BB962C8B-B14F-4D97-AF65-F5344CB8AC3E}">
        <p14:creationId xmlns:p14="http://schemas.microsoft.com/office/powerpoint/2010/main" val="4364963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245608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Slide Number Placeholder 3"/>
          <p:cNvSpPr>
            <a:spLocks noGrp="1"/>
          </p:cNvSpPr>
          <p:nvPr>
            <p:ph type="sldNum" sz="quarter" idx="10"/>
          </p:nvPr>
        </p:nvSpPr>
        <p:spPr/>
        <p:txBody>
          <a:bodyPr/>
          <a:lstStyle/>
          <a:p>
            <a:fld id="{23221382-61ED-419B-AA03-FFDDF2250A6E}" type="slidenum">
              <a:rPr lang="en-US" smtClean="0"/>
              <a:t>16</a:t>
            </a:fld>
            <a:endParaRPr lang="en-US"/>
          </a:p>
        </p:txBody>
      </p:sp>
    </p:spTree>
    <p:extLst>
      <p:ext uri="{BB962C8B-B14F-4D97-AF65-F5344CB8AC3E}">
        <p14:creationId xmlns:p14="http://schemas.microsoft.com/office/powerpoint/2010/main" val="295821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Slide Number Placeholder 3"/>
          <p:cNvSpPr>
            <a:spLocks noGrp="1"/>
          </p:cNvSpPr>
          <p:nvPr>
            <p:ph type="sldNum" sz="quarter" idx="10"/>
          </p:nvPr>
        </p:nvSpPr>
        <p:spPr/>
        <p:txBody>
          <a:bodyPr/>
          <a:lstStyle/>
          <a:p>
            <a:fld id="{23221382-61ED-419B-AA03-FFDDF2250A6E}" type="slidenum">
              <a:rPr lang="en-US" smtClean="0"/>
              <a:t>17</a:t>
            </a:fld>
            <a:endParaRPr lang="en-US"/>
          </a:p>
        </p:txBody>
      </p:sp>
    </p:spTree>
    <p:extLst>
      <p:ext uri="{BB962C8B-B14F-4D97-AF65-F5344CB8AC3E}">
        <p14:creationId xmlns:p14="http://schemas.microsoft.com/office/powerpoint/2010/main" val="745386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36" dirty="0"/>
              <a:t>Ed</a:t>
            </a:r>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233696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endParaRPr lang="en-US" baseline="0"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19</a:t>
            </a:fld>
            <a:endParaRPr lang="en-US" dirty="0"/>
          </a:p>
        </p:txBody>
      </p:sp>
    </p:spTree>
    <p:extLst>
      <p:ext uri="{BB962C8B-B14F-4D97-AF65-F5344CB8AC3E}">
        <p14:creationId xmlns:p14="http://schemas.microsoft.com/office/powerpoint/2010/main" val="3342602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6871194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Slide Number Placeholder 3"/>
          <p:cNvSpPr>
            <a:spLocks noGrp="1"/>
          </p:cNvSpPr>
          <p:nvPr>
            <p:ph type="sldNum" sz="quarter" idx="10"/>
          </p:nvPr>
        </p:nvSpPr>
        <p:spPr/>
        <p:txBody>
          <a:bodyPr/>
          <a:lstStyle/>
          <a:p>
            <a:fld id="{23221382-61ED-419B-AA03-FFDDF2250A6E}" type="slidenum">
              <a:rPr lang="en-US" smtClean="0"/>
              <a:t>21</a:t>
            </a:fld>
            <a:endParaRPr lang="en-US"/>
          </a:p>
        </p:txBody>
      </p:sp>
    </p:spTree>
    <p:extLst>
      <p:ext uri="{BB962C8B-B14F-4D97-AF65-F5344CB8AC3E}">
        <p14:creationId xmlns:p14="http://schemas.microsoft.com/office/powerpoint/2010/main" val="42515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Slide Number Placeholder 3"/>
          <p:cNvSpPr>
            <a:spLocks noGrp="1"/>
          </p:cNvSpPr>
          <p:nvPr>
            <p:ph type="sldNum" sz="quarter" idx="10"/>
          </p:nvPr>
        </p:nvSpPr>
        <p:spPr/>
        <p:txBody>
          <a:bodyPr/>
          <a:lstStyle/>
          <a:p>
            <a:fld id="{23221382-61ED-419B-AA03-FFDDF2250A6E}" type="slidenum">
              <a:rPr lang="en-US" smtClean="0"/>
              <a:t>22</a:t>
            </a:fld>
            <a:endParaRPr lang="en-US"/>
          </a:p>
        </p:txBody>
      </p:sp>
    </p:spTree>
    <p:extLst>
      <p:ext uri="{BB962C8B-B14F-4D97-AF65-F5344CB8AC3E}">
        <p14:creationId xmlns:p14="http://schemas.microsoft.com/office/powerpoint/2010/main" val="700733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78849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0EC29EE-A8AD-4CE0-9C0B-116E0D4D7533}"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535290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0EC29EE-A8AD-4CE0-9C0B-116E0D4D7533}"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3588775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a:p>
            <a:endParaRPr lang="en-US" dirty="0"/>
          </a:p>
          <a:p>
            <a:r>
              <a:rPr lang="en-US" dirty="0"/>
              <a:t>Note that AA</a:t>
            </a:r>
            <a:r>
              <a:rPr lang="en-US" baseline="0" dirty="0"/>
              <a:t> handles to deploy to pull server process. No more dealing with </a:t>
            </a:r>
            <a:r>
              <a:rPr lang="en-US" baseline="0" dirty="0" err="1"/>
              <a:t>config</a:t>
            </a:r>
            <a:r>
              <a:rPr lang="en-US" baseline="0" dirty="0"/>
              <a:t> ids, checksum, </a:t>
            </a:r>
            <a:r>
              <a:rPr lang="en-US" baseline="0" dirty="0" err="1"/>
              <a:t>etc</a:t>
            </a:r>
            <a:endParaRPr lang="en-US" dirty="0"/>
          </a:p>
        </p:txBody>
      </p:sp>
      <p:sp>
        <p:nvSpPr>
          <p:cNvPr id="4" name="Slide Number Placeholder 3"/>
          <p:cNvSpPr>
            <a:spLocks noGrp="1"/>
          </p:cNvSpPr>
          <p:nvPr>
            <p:ph type="sldNum" sz="quarter" idx="10"/>
          </p:nvPr>
        </p:nvSpPr>
        <p:spPr/>
        <p:txBody>
          <a:bodyPr/>
          <a:lstStyle/>
          <a:p>
            <a:fld id="{FC7873A1-E67B-4CEC-9CDA-90CD025FD630}" type="slidenum">
              <a:rPr lang="en-US" smtClean="0"/>
              <a:t>26</a:t>
            </a:fld>
            <a:endParaRPr lang="en-US"/>
          </a:p>
        </p:txBody>
      </p:sp>
    </p:spTree>
    <p:extLst>
      <p:ext uri="{BB962C8B-B14F-4D97-AF65-F5344CB8AC3E}">
        <p14:creationId xmlns:p14="http://schemas.microsoft.com/office/powerpoint/2010/main" val="3417038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Slide Number Placeholder 3"/>
          <p:cNvSpPr>
            <a:spLocks noGrp="1"/>
          </p:cNvSpPr>
          <p:nvPr>
            <p:ph type="sldNum" sz="quarter" idx="10"/>
          </p:nvPr>
        </p:nvSpPr>
        <p:spPr/>
        <p:txBody>
          <a:bodyPr/>
          <a:lstStyle/>
          <a:p>
            <a:fld id="{23221382-61ED-419B-AA03-FFDDF2250A6E}" type="slidenum">
              <a:rPr lang="en-US" smtClean="0"/>
              <a:t>27</a:t>
            </a:fld>
            <a:endParaRPr lang="en-US"/>
          </a:p>
        </p:txBody>
      </p:sp>
    </p:spTree>
    <p:extLst>
      <p:ext uri="{BB962C8B-B14F-4D97-AF65-F5344CB8AC3E}">
        <p14:creationId xmlns:p14="http://schemas.microsoft.com/office/powerpoint/2010/main" val="38207098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Header Placeholder 3"/>
          <p:cNvSpPr>
            <a:spLocks noGrp="1"/>
          </p:cNvSpPr>
          <p:nvPr>
            <p:ph type="hdr" sz="quarter" idx="10"/>
          </p:nvPr>
        </p:nvSpPr>
        <p:spPr/>
        <p:txBody>
          <a:bodyPr/>
          <a:lstStyle/>
          <a:p>
            <a:r>
              <a:rPr lang="en-US"/>
              <a:t>Microsoft Ignite 2015</a:t>
            </a:r>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8/21/2016 5:20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2212343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Azure Automation DSC</a:t>
            </a:r>
          </a:p>
        </p:txBody>
      </p:sp>
      <p:sp>
        <p:nvSpPr>
          <p:cNvPr id="4" name="Slide Number Placeholder 3"/>
          <p:cNvSpPr>
            <a:spLocks noGrp="1"/>
          </p:cNvSpPr>
          <p:nvPr>
            <p:ph type="sldNum" sz="quarter" idx="10"/>
          </p:nvPr>
        </p:nvSpPr>
        <p:spPr/>
        <p:txBody>
          <a:bodyPr/>
          <a:lstStyle/>
          <a:p>
            <a:fld id="{23221382-61ED-419B-AA03-FFDDF2250A6E}" type="slidenum">
              <a:rPr lang="en-US" smtClean="0"/>
              <a:t>29</a:t>
            </a:fld>
            <a:endParaRPr lang="en-US"/>
          </a:p>
        </p:txBody>
      </p:sp>
    </p:spTree>
    <p:extLst>
      <p:ext uri="{BB962C8B-B14F-4D97-AF65-F5344CB8AC3E}">
        <p14:creationId xmlns:p14="http://schemas.microsoft.com/office/powerpoint/2010/main" val="6610646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14030891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256483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t>
            </a:r>
          </a:p>
        </p:txBody>
      </p:sp>
      <p:sp>
        <p:nvSpPr>
          <p:cNvPr id="4" name="Slide Number Placeholder 3"/>
          <p:cNvSpPr>
            <a:spLocks noGrp="1"/>
          </p:cNvSpPr>
          <p:nvPr>
            <p:ph type="sldNum" sz="quarter" idx="10"/>
          </p:nvPr>
        </p:nvSpPr>
        <p:spPr/>
        <p:txBody>
          <a:bodyPr/>
          <a:lstStyle/>
          <a:p>
            <a:fld id="{23221382-61ED-419B-AA03-FFDDF2250A6E}" type="slidenum">
              <a:rPr lang="en-US" smtClean="0"/>
              <a:t>33</a:t>
            </a:fld>
            <a:endParaRPr lang="en-US"/>
          </a:p>
        </p:txBody>
      </p:sp>
    </p:spTree>
    <p:extLst>
      <p:ext uri="{BB962C8B-B14F-4D97-AF65-F5344CB8AC3E}">
        <p14:creationId xmlns:p14="http://schemas.microsoft.com/office/powerpoint/2010/main" val="991247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a:t>
            </a:r>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8/21/2016</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1925541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a:t>Ed</a:t>
            </a:r>
          </a:p>
        </p:txBody>
      </p:sp>
      <p:sp>
        <p:nvSpPr>
          <p:cNvPr id="5" name="Date Placeholder 4"/>
          <p:cNvSpPr>
            <a:spLocks noGrp="1"/>
          </p:cNvSpPr>
          <p:nvPr>
            <p:ph type="dt" idx="10"/>
          </p:nvPr>
        </p:nvSpPr>
        <p:spPr/>
        <p:txBody>
          <a:bodyPr/>
          <a:lstStyle/>
          <a:p>
            <a:fld id="{F22B3E36-5CE0-4CB7-82DE-38A88C71BFA8}" type="datetime1">
              <a:rPr lang="en-US" smtClean="0"/>
              <a:pPr/>
              <a:t>8/21/2016</a:t>
            </a:fld>
            <a:endParaRPr lang="en-US" dirty="0"/>
          </a:p>
        </p:txBody>
      </p:sp>
      <p:sp>
        <p:nvSpPr>
          <p:cNvPr id="6" name="Footer Placeholder 5"/>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b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12"/>
          </p:nvPr>
        </p:nvSpPr>
        <p:spPr/>
        <p:txBody>
          <a:bodyPr/>
          <a:lstStyle/>
          <a:p>
            <a:fld id="{8B263312-38AA-4E1E-B2B5-0F8F122B24FE}" type="slidenum">
              <a:rPr lang="en-US" smtClean="0"/>
              <a:pPr/>
              <a:t>38</a:t>
            </a:fld>
            <a:endParaRPr lang="en-US" dirty="0"/>
          </a:p>
        </p:txBody>
      </p:sp>
      <p:sp>
        <p:nvSpPr>
          <p:cNvPr id="8" name="Header Placeholder 7"/>
          <p:cNvSpPr>
            <a:spLocks noGrp="1"/>
          </p:cNvSpPr>
          <p:nvPr>
            <p:ph type="hdr" sz="quarter" idx="13"/>
          </p:nvPr>
        </p:nvSpPr>
        <p:spPr/>
        <p:txBody>
          <a:bodyPr/>
          <a:lstStyle/>
          <a:p>
            <a:r>
              <a:rPr lang="en-US" dirty="0"/>
              <a:t>Tech Ready 15</a:t>
            </a:r>
          </a:p>
        </p:txBody>
      </p:sp>
    </p:spTree>
    <p:extLst>
      <p:ext uri="{BB962C8B-B14F-4D97-AF65-F5344CB8AC3E}">
        <p14:creationId xmlns:p14="http://schemas.microsoft.com/office/powerpoint/2010/main" val="42838178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Segoe UI Light"/>
              </a:rPr>
              <a:t>Eamon</a:t>
            </a:r>
            <a:endParaRPr lang="en-US" dirty="0"/>
          </a:p>
        </p:txBody>
      </p:sp>
      <p:sp>
        <p:nvSpPr>
          <p:cNvPr id="4" name="Slide Number Placeholder 3"/>
          <p:cNvSpPr>
            <a:spLocks noGrp="1"/>
          </p:cNvSpPr>
          <p:nvPr>
            <p:ph type="sldNum" sz="quarter" idx="10"/>
          </p:nvPr>
        </p:nvSpPr>
        <p:spPr/>
        <p:txBody>
          <a:bodyPr/>
          <a:lstStyle/>
          <a:p>
            <a:fld id="{23221382-61ED-419B-AA03-FFDDF2250A6E}" type="slidenum">
              <a:rPr lang="en-US" smtClean="0"/>
              <a:t>39</a:t>
            </a:fld>
            <a:endParaRPr lang="en-US"/>
          </a:p>
        </p:txBody>
      </p:sp>
    </p:spTree>
    <p:extLst>
      <p:ext uri="{BB962C8B-B14F-4D97-AF65-F5344CB8AC3E}">
        <p14:creationId xmlns:p14="http://schemas.microsoft.com/office/powerpoint/2010/main" val="2312736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Created</a:t>
            </a:r>
            <a:r>
              <a:rPr lang="en-US" baseline="0" dirty="0"/>
              <a:t> by Neema Saeedi (</a:t>
            </a:r>
            <a:r>
              <a:rPr lang="en-US" baseline="0" dirty="0" err="1"/>
              <a:t>neemas</a:t>
            </a:r>
            <a:r>
              <a:rPr lang="en-US" baseline="0" dirty="0"/>
              <a:t>) for presentation to Microsoft IT, Service Deployment and Operations Team</a:t>
            </a:r>
          </a:p>
          <a:p>
            <a:r>
              <a:rPr lang="en-US" baseline="0" dirty="0"/>
              <a:t>Notes attached to slides.</a:t>
            </a:r>
          </a:p>
          <a:p>
            <a:endParaRPr lang="en-US" baseline="0" dirty="0"/>
          </a:p>
          <a:p>
            <a:r>
              <a:rPr lang="en-US" baseline="0" dirty="0"/>
              <a:t>Additional Resources mentioned:</a:t>
            </a:r>
          </a:p>
          <a:p>
            <a:r>
              <a:rPr lang="en-US" baseline="0" dirty="0"/>
              <a:t>PowerShell Gallery - https://www.powershellgallery.com/</a:t>
            </a:r>
          </a:p>
          <a:p>
            <a:r>
              <a:rPr lang="en-US" baseline="0" dirty="0"/>
              <a:t>WMF 5.0 Preview April 2015 - http://www.microsoft.com/en-us/download/details.aspx?id=46889</a:t>
            </a: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8E8A223-B7AD-4344-86DA-9B4CA03A471C}"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42</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3669118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74353ED-ACB2-44BF-A903-985B0AF962B7}"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8/21/2016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43</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9751504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74353ED-ACB2-44BF-A903-985B0AF962B7}"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8/21/2016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B4008EB6-D09E-4580-8CD6-DDB14511944F}"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44</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9911992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A17D118-1690-458F-B4D2-F9DA5D6F5033}" type="datetime8">
              <a:rPr lang="en-US" smtClean="0">
                <a:solidFill>
                  <a:prstClr val="black"/>
                </a:solidFill>
              </a:rPr>
              <a:t>8/21/2016 5:30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46</a:t>
            </a:fld>
            <a:endParaRPr lang="en-US" dirty="0">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62580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3.pd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1263153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1075871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1411253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FD6C6F-4312-4C44-BF44-3AE6ED4B8B97}" type="datetimeFigureOut">
              <a:rPr lang="en-US" smtClean="0"/>
              <a:t>8/21/2016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19548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FD6C6F-4312-4C44-BF44-3AE6ED4B8B97}" type="datetimeFigureOut">
              <a:rPr lang="en-US" smtClean="0"/>
              <a:t>8/21/2016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880294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3019659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3373610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53219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CFD6C6F-4312-4C44-BF44-3AE6ED4B8B97}" type="datetimeFigureOut">
              <a:rPr lang="en-US" smtClean="0"/>
              <a:t>8/21/2016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2188452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CFD6C6F-4312-4C44-BF44-3AE6ED4B8B97}" type="datetimeFigureOut">
              <a:rPr lang="en-US" smtClean="0"/>
              <a:t>8/21/2016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34105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4043801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96244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838631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1702410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2420342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38700320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FD6C6F-4312-4C44-BF44-3AE6ED4B8B97}" type="datetimeFigureOut">
              <a:rPr lang="en-US" smtClean="0"/>
              <a:t>8/21/2016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EE328-2FCA-4446-B8D3-36953605443A}" type="slidenum">
              <a:rPr lang="en-US" smtClean="0"/>
              <a:t>‹#›</a:t>
            </a:fld>
            <a:endParaRPr lang="en-US"/>
          </a:p>
        </p:txBody>
      </p:sp>
    </p:spTree>
    <p:extLst>
      <p:ext uri="{BB962C8B-B14F-4D97-AF65-F5344CB8AC3E}">
        <p14:creationId xmlns:p14="http://schemas.microsoft.com/office/powerpoint/2010/main" val="23200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20354">
                      <a:schemeClr val="tx2"/>
                    </a:gs>
                    <a:gs pos="40000">
                      <a:schemeClr val="tx2"/>
                    </a:gs>
                  </a:gsLst>
                  <a:lin ang="5400000" scaled="0"/>
                </a:gradFill>
              </a:defRPr>
            </a:lvl1pPr>
            <a:lvl2pPr marL="0" indent="0">
              <a:buFontTx/>
              <a:buNone/>
              <a:defRPr sz="1961"/>
            </a:lvl2pPr>
            <a:lvl3pPr marL="224079" indent="0">
              <a:buNone/>
              <a:defRPr/>
            </a:lvl3pPr>
            <a:lvl4pPr marL="448157" indent="0">
              <a:buNone/>
              <a:defRPr/>
            </a:lvl4pPr>
            <a:lvl5pPr marL="672236"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145304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nterior3">
    <p:spTree>
      <p:nvGrpSpPr>
        <p:cNvPr id="1" name=""/>
        <p:cNvGrpSpPr/>
        <p:nvPr/>
      </p:nvGrpSpPr>
      <p:grpSpPr>
        <a:xfrm>
          <a:off x="0" y="0"/>
          <a:ext cx="0" cy="0"/>
          <a:chOff x="0" y="0"/>
          <a:chExt cx="0" cy="0"/>
        </a:xfrm>
      </p:grpSpPr>
      <p:sp>
        <p:nvSpPr>
          <p:cNvPr id="12" name="Content Placeholder 2"/>
          <p:cNvSpPr>
            <a:spLocks noGrp="1"/>
          </p:cNvSpPr>
          <p:nvPr>
            <p:ph idx="1" hasCustomPrompt="1"/>
          </p:nvPr>
        </p:nvSpPr>
        <p:spPr>
          <a:xfrm>
            <a:off x="0" y="1212359"/>
            <a:ext cx="6096000" cy="2359080"/>
          </a:xfrm>
          <a:prstGeom prst="rect">
            <a:avLst/>
          </a:prstGeom>
        </p:spPr>
        <p:txBody>
          <a:bodyPr lIns="182880" tIns="182880" rIns="182880" bIns="182880"/>
          <a:lstStyle>
            <a:lvl1pPr marL="0" indent="0">
              <a:spcBef>
                <a:spcPts val="1333"/>
              </a:spcBef>
              <a:buFont typeface="Arial"/>
              <a:buNone/>
              <a:defRPr sz="2400" baseline="0">
                <a:solidFill>
                  <a:srgbClr val="FFFFFF"/>
                </a:solidFill>
                <a:latin typeface="Segoe UI Light"/>
                <a:cs typeface="Segoe UI Light"/>
              </a:defRPr>
            </a:lvl1pPr>
            <a:lvl2pPr marL="731398" indent="-304749">
              <a:spcBef>
                <a:spcPts val="1333"/>
              </a:spcBef>
              <a:buFont typeface="Arial"/>
              <a:buChar char="•"/>
              <a:defRPr sz="2133">
                <a:solidFill>
                  <a:srgbClr val="FFFFFF"/>
                </a:solidFill>
                <a:latin typeface="Segoe UI Light"/>
                <a:cs typeface="Segoe UI Light"/>
              </a:defRPr>
            </a:lvl2pPr>
            <a:lvl3pPr marL="1218996">
              <a:spcBef>
                <a:spcPts val="1333"/>
              </a:spcBef>
              <a:buFont typeface="Arial"/>
              <a:buChar char="•"/>
              <a:defRPr sz="1866">
                <a:solidFill>
                  <a:srgbClr val="FFFFFF"/>
                </a:solidFill>
                <a:latin typeface="Segoe UI Light"/>
                <a:cs typeface="Segoe UI Light"/>
              </a:defRPr>
            </a:lvl3pPr>
            <a:lvl4pPr marL="1706594">
              <a:spcBef>
                <a:spcPts val="1333"/>
              </a:spcBef>
              <a:buFont typeface="Arial"/>
              <a:buChar char="•"/>
              <a:defRPr sz="1600" baseline="0">
                <a:solidFill>
                  <a:srgbClr val="FFFFFF"/>
                </a:solidFill>
                <a:latin typeface="Segoe UI Light"/>
                <a:cs typeface="Segoe UI Light"/>
              </a:defRPr>
            </a:lvl4pPr>
            <a:lvl5pPr marL="1950393" indent="-121899">
              <a:spcBef>
                <a:spcPts val="1333"/>
              </a:spcBef>
              <a:buFont typeface="Arial"/>
              <a:buChar char="•"/>
              <a:tabLst>
                <a:tab pos="2135360" algn="l"/>
              </a:tabLst>
              <a:defRPr sz="1333" baseline="0">
                <a:solidFill>
                  <a:srgbClr val="FFFFFF"/>
                </a:solidFill>
                <a:latin typeface="Segoe UI Light"/>
                <a:cs typeface="Segoe UI Light"/>
              </a:defRPr>
            </a:lvl5pPr>
          </a:lstStyle>
          <a:p>
            <a:pPr lvl="0"/>
            <a:r>
              <a:rPr lang="en-US" dirty="0"/>
              <a:t>Click to edit Master Text styles</a:t>
            </a:r>
          </a:p>
          <a:p>
            <a:pPr lvl="1"/>
            <a:r>
              <a:rPr lang="en-US" dirty="0"/>
              <a:t>Bullet first level</a:t>
            </a:r>
          </a:p>
          <a:p>
            <a:pPr lvl="2"/>
            <a:r>
              <a:rPr lang="en-US" dirty="0"/>
              <a:t>Bullet second level</a:t>
            </a:r>
          </a:p>
          <a:p>
            <a:pPr lvl="3"/>
            <a:r>
              <a:rPr lang="en-US" dirty="0"/>
              <a:t>Bullet third level</a:t>
            </a:r>
          </a:p>
          <a:p>
            <a:pPr lvl="4"/>
            <a:r>
              <a:rPr lang="en-US" dirty="0"/>
              <a:t>Bullet fourth level</a:t>
            </a:r>
          </a:p>
        </p:txBody>
      </p:sp>
      <p:sp>
        <p:nvSpPr>
          <p:cNvPr id="15" name="Content Placeholder 2"/>
          <p:cNvSpPr>
            <a:spLocks noGrp="1"/>
          </p:cNvSpPr>
          <p:nvPr>
            <p:ph idx="10" hasCustomPrompt="1"/>
          </p:nvPr>
        </p:nvSpPr>
        <p:spPr>
          <a:xfrm>
            <a:off x="6096000" y="1212359"/>
            <a:ext cx="6096000" cy="2359080"/>
          </a:xfrm>
          <a:prstGeom prst="rect">
            <a:avLst/>
          </a:prstGeom>
        </p:spPr>
        <p:txBody>
          <a:bodyPr lIns="182880" tIns="182880" rIns="182880" bIns="182880"/>
          <a:lstStyle>
            <a:lvl1pPr marL="0" indent="0">
              <a:spcBef>
                <a:spcPts val="1333"/>
              </a:spcBef>
              <a:buFont typeface="Arial"/>
              <a:buNone/>
              <a:defRPr sz="2400" baseline="0">
                <a:solidFill>
                  <a:srgbClr val="FFFFFF"/>
                </a:solidFill>
                <a:latin typeface="Segoe UI Light"/>
                <a:cs typeface="Segoe UI Light"/>
              </a:defRPr>
            </a:lvl1pPr>
            <a:lvl2pPr marL="731398" indent="-304749">
              <a:spcBef>
                <a:spcPts val="1333"/>
              </a:spcBef>
              <a:buFont typeface="Arial"/>
              <a:buChar char="•"/>
              <a:defRPr sz="2133">
                <a:solidFill>
                  <a:srgbClr val="FFFFFF"/>
                </a:solidFill>
                <a:latin typeface="Segoe UI Light"/>
                <a:cs typeface="Segoe UI Light"/>
              </a:defRPr>
            </a:lvl2pPr>
            <a:lvl3pPr marL="1218996">
              <a:spcBef>
                <a:spcPts val="1333"/>
              </a:spcBef>
              <a:buFont typeface="Arial"/>
              <a:buChar char="•"/>
              <a:defRPr sz="1866">
                <a:solidFill>
                  <a:srgbClr val="FFFFFF"/>
                </a:solidFill>
                <a:latin typeface="Segoe UI Light"/>
                <a:cs typeface="Segoe UI Light"/>
              </a:defRPr>
            </a:lvl3pPr>
            <a:lvl4pPr marL="1706594">
              <a:spcBef>
                <a:spcPts val="1333"/>
              </a:spcBef>
              <a:buFont typeface="Arial"/>
              <a:buChar char="•"/>
              <a:defRPr sz="1600" baseline="0">
                <a:solidFill>
                  <a:srgbClr val="FFFFFF"/>
                </a:solidFill>
                <a:latin typeface="Segoe UI Light"/>
                <a:cs typeface="Segoe UI Light"/>
              </a:defRPr>
            </a:lvl4pPr>
            <a:lvl5pPr marL="1950393" indent="-121899">
              <a:spcBef>
                <a:spcPts val="1333"/>
              </a:spcBef>
              <a:buFont typeface="Arial"/>
              <a:buChar char="•"/>
              <a:tabLst>
                <a:tab pos="2135360" algn="l"/>
              </a:tabLst>
              <a:defRPr sz="1333" baseline="0">
                <a:solidFill>
                  <a:srgbClr val="FFFFFF"/>
                </a:solidFill>
                <a:latin typeface="Segoe UI Light"/>
                <a:cs typeface="Segoe UI Light"/>
              </a:defRPr>
            </a:lvl5pPr>
          </a:lstStyle>
          <a:p>
            <a:pPr lvl="0"/>
            <a:r>
              <a:rPr lang="en-US" dirty="0"/>
              <a:t>Click to edit Master Text styles</a:t>
            </a:r>
          </a:p>
          <a:p>
            <a:pPr lvl="1"/>
            <a:r>
              <a:rPr lang="en-US" dirty="0"/>
              <a:t>Bullet first level</a:t>
            </a:r>
          </a:p>
          <a:p>
            <a:pPr lvl="2"/>
            <a:r>
              <a:rPr lang="en-US" dirty="0"/>
              <a:t>Bullet second level</a:t>
            </a:r>
          </a:p>
          <a:p>
            <a:pPr lvl="3"/>
            <a:r>
              <a:rPr lang="en-US" dirty="0"/>
              <a:t>Bullet third level</a:t>
            </a:r>
          </a:p>
          <a:p>
            <a:pPr lvl="4"/>
            <a:r>
              <a:rPr lang="en-US" dirty="0"/>
              <a:t>Bullet fourth level</a:t>
            </a:r>
          </a:p>
        </p:txBody>
      </p:sp>
      <p:sp>
        <p:nvSpPr>
          <p:cNvPr id="18" name="Rectangle 17"/>
          <p:cNvSpPr>
            <a:spLocks/>
          </p:cNvSpPr>
          <p:nvPr userDrawn="1"/>
        </p:nvSpPr>
        <p:spPr>
          <a:xfrm>
            <a:off x="-6096" y="-12682"/>
            <a:ext cx="12204192" cy="1219200"/>
          </a:xfrm>
          <a:prstGeom prst="rect">
            <a:avLst/>
          </a:prstGeom>
          <a:solidFill>
            <a:srgbClr val="0072C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dirty="0"/>
          </a:p>
        </p:txBody>
      </p:sp>
      <p:sp>
        <p:nvSpPr>
          <p:cNvPr id="25" name="Title 1"/>
          <p:cNvSpPr>
            <a:spLocks noGrp="1" noChangeAspect="1"/>
          </p:cNvSpPr>
          <p:nvPr>
            <p:ph type="title"/>
          </p:nvPr>
        </p:nvSpPr>
        <p:spPr>
          <a:xfrm>
            <a:off x="846634" y="-12682"/>
            <a:ext cx="11345584" cy="1212644"/>
          </a:xfrm>
          <a:prstGeom prst="rect">
            <a:avLst/>
          </a:prstGeom>
        </p:spPr>
        <p:txBody>
          <a:bodyPr lIns="91440" tIns="91440" bIns="91440" anchor="ctr"/>
          <a:lstStyle>
            <a:lvl1pPr algn="l">
              <a:defRPr sz="3333">
                <a:solidFill>
                  <a:srgbClr val="FFFFFF"/>
                </a:solidFill>
                <a:latin typeface="Segoe UI Light"/>
                <a:cs typeface="Segoe UI Light"/>
              </a:defRPr>
            </a:lvl1pPr>
          </a:lstStyle>
          <a:p>
            <a:r>
              <a:rPr lang="en-US" dirty="0"/>
              <a:t>Click to edit Master title style</a:t>
            </a:r>
          </a:p>
        </p:txBody>
      </p:sp>
      <p:grpSp>
        <p:nvGrpSpPr>
          <p:cNvPr id="26" name="Group 25"/>
          <p:cNvGrpSpPr/>
          <p:nvPr userDrawn="1"/>
        </p:nvGrpSpPr>
        <p:grpSpPr>
          <a:xfrm>
            <a:off x="-6096" y="6126480"/>
            <a:ext cx="12204192" cy="731520"/>
            <a:chOff x="-4572" y="4594860"/>
            <a:chExt cx="9153144" cy="548640"/>
          </a:xfrm>
        </p:grpSpPr>
        <p:sp>
          <p:nvSpPr>
            <p:cNvPr id="28" name="Rectangle 27"/>
            <p:cNvSpPr>
              <a:spLocks/>
            </p:cNvSpPr>
            <p:nvPr userDrawn="1"/>
          </p:nvSpPr>
          <p:spPr>
            <a:xfrm>
              <a:off x="-4572" y="4594860"/>
              <a:ext cx="9153144" cy="548640"/>
            </a:xfrm>
            <a:prstGeom prst="rect">
              <a:avLst/>
            </a:prstGeom>
            <a:solidFill>
              <a:srgbClr val="0072C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dirty="0"/>
            </a:p>
          </p:txBody>
        </p:sp>
        <p:sp>
          <p:nvSpPr>
            <p:cNvPr id="29" name="TextBox 28"/>
            <p:cNvSpPr txBox="1"/>
            <p:nvPr userDrawn="1"/>
          </p:nvSpPr>
          <p:spPr>
            <a:xfrm>
              <a:off x="198582" y="4799917"/>
              <a:ext cx="1263650" cy="123113"/>
            </a:xfrm>
            <a:prstGeom prst="rect">
              <a:avLst/>
            </a:prstGeom>
            <a:noFill/>
          </p:spPr>
          <p:txBody>
            <a:bodyPr wrap="square" lIns="0" tIns="0" rIns="0" bIns="0" rtlCol="0" anchor="t">
              <a:spAutoFit/>
            </a:bodyPr>
            <a:lstStyle/>
            <a:p>
              <a:pPr algn="l"/>
              <a:r>
                <a:rPr lang="en-US" sz="1067" dirty="0">
                  <a:solidFill>
                    <a:schemeClr val="bg1"/>
                  </a:solidFill>
                  <a:latin typeface="Segoe UI"/>
                  <a:cs typeface="Segoe UI"/>
                </a:rPr>
                <a:t>Microsoft Confidential</a:t>
              </a:r>
            </a:p>
          </p:txBody>
        </p:sp>
        <p:pic>
          <p:nvPicPr>
            <p:cNvPr id="30" name="Picture 29" descr="MSFT_logo_rgb_C-Wht.png"/>
            <p:cNvPicPr>
              <a:picLocks noChangeAspect="1"/>
            </p:cNvPicPr>
            <p:nvPr userDrawn="1"/>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8002443" y="4673806"/>
              <a:ext cx="1022096" cy="375920"/>
            </a:xfrm>
            <a:prstGeom prst="rect">
              <a:avLst/>
            </a:prstGeom>
          </p:spPr>
        </p:pic>
      </p:grpSp>
    </p:spTree>
    <p:extLst>
      <p:ext uri="{BB962C8B-B14F-4D97-AF65-F5344CB8AC3E}">
        <p14:creationId xmlns:p14="http://schemas.microsoft.com/office/powerpoint/2010/main" val="37994341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9" y="228600"/>
            <a:ext cx="11151917" cy="609398"/>
          </a:xfrm>
        </p:spPr>
        <p:txBody>
          <a:bodyPr/>
          <a:lstStyle>
            <a:lvl1pPr>
              <a:defRPr/>
            </a:lvl1pPr>
          </a:lstStyle>
          <a:p>
            <a:r>
              <a:rPr lang="en-US"/>
              <a:t>Click to edit Master title style</a:t>
            </a:r>
            <a:endParaRPr lang="en-US" dirty="0"/>
          </a:p>
        </p:txBody>
      </p:sp>
      <p:sp>
        <p:nvSpPr>
          <p:cNvPr id="5" name="Text Placeholder 4"/>
          <p:cNvSpPr>
            <a:spLocks noGrp="1"/>
          </p:cNvSpPr>
          <p:nvPr>
            <p:ph type="body" sz="quarter" idx="10"/>
          </p:nvPr>
        </p:nvSpPr>
        <p:spPr>
          <a:xfrm>
            <a:off x="519249" y="1447800"/>
            <a:ext cx="11151917" cy="21848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442866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69239" y="6171616"/>
            <a:ext cx="11653522" cy="395317"/>
          </a:xfrm>
          <a:prstGeom prst="rect">
            <a:avLst/>
          </a:prstGeom>
          <a:noFill/>
          <a:ln w="12700">
            <a:noFill/>
            <a:miter lim="800000"/>
            <a:headEnd type="none" w="sm" len="sm"/>
            <a:tailEnd type="none" w="sm" len="sm"/>
          </a:ln>
          <a:effectLst/>
        </p:spPr>
        <p:txBody>
          <a:bodyPr vert="horz" wrap="square" lIns="179285" tIns="143428" rIns="179285" bIns="143428" numCol="1" anchor="t" anchorCtr="0" compatLnSpc="1">
            <a:prstTxWarp prst="textNoShape">
              <a:avLst/>
            </a:prstTxWarp>
            <a:spAutoFit/>
          </a:bodyPr>
          <a:lstStyle/>
          <a:p>
            <a:pPr defTabSz="913924" eaLnBrk="0" hangingPunct="0"/>
            <a:r>
              <a:rPr lang="en-US" sz="686" dirty="0">
                <a:gradFill>
                  <a:gsLst>
                    <a:gs pos="0">
                      <a:schemeClr val="tx1"/>
                    </a:gs>
                    <a:gs pos="100000">
                      <a:schemeClr val="tx1"/>
                    </a:gs>
                  </a:gsLst>
                  <a:lin ang="5400000" scaled="0"/>
                </a:gradFill>
                <a:cs typeface="Segoe UI" pitchFamily="34" charset="0"/>
              </a:rPr>
              <a:t>© 2014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0202" y="3083653"/>
            <a:ext cx="3223861" cy="690695"/>
          </a:xfrm>
          <a:prstGeom prst="rect">
            <a:avLst/>
          </a:prstGeom>
        </p:spPr>
      </p:pic>
    </p:spTree>
    <p:extLst>
      <p:ext uri="{BB962C8B-B14F-4D97-AF65-F5344CB8AC3E}">
        <p14:creationId xmlns:p14="http://schemas.microsoft.com/office/powerpoint/2010/main" val="140296280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CFD6C6F-4312-4C44-BF44-3AE6ED4B8B97}" type="datetimeFigureOut">
              <a:rPr lang="en-US" smtClean="0"/>
              <a:t>8/21/2016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A8EE328-2FCA-4446-B8D3-36953605443A}" type="slidenum">
              <a:rPr lang="en-US" smtClean="0"/>
              <a:t>‹#›</a:t>
            </a:fld>
            <a:endParaRPr lang="en-US"/>
          </a:p>
        </p:txBody>
      </p:sp>
    </p:spTree>
    <p:extLst>
      <p:ext uri="{BB962C8B-B14F-4D97-AF65-F5344CB8AC3E}">
        <p14:creationId xmlns:p14="http://schemas.microsoft.com/office/powerpoint/2010/main" val="3674989134"/>
      </p:ext>
    </p:extLst>
  </p:cSld>
  <p:clrMap bg1="dk1" tx1="lt1" bg2="dk2" tx2="lt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 id="2147483831" r:id="rId17"/>
    <p:sldLayoutId id="2147483832" r:id="rId18"/>
    <p:sldLayoutId id="2147483660" r:id="rId19"/>
    <p:sldLayoutId id="2147483833" r:id="rId20"/>
    <p:sldLayoutId id="2147483834" r:id="rId21"/>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witter.com/scriptingguy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OMSVid/BrowseGallery/BrowseGallery.mp4"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hyperlink" Target="../../OMSVid/ImportModuleIntoAzure/ImportModuleIntoAzure.mp4"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hyperlink" Target="../../OMSVid/IseLogOn/IseLogOn.mp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hyperlink" Target="../../OMSVid/SignUpForGitHub/SignUpForGitHub.mp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OMSVid/ConfigureSourceControl/ConfigureSourceControl.mp4" TargetMode="External"/><Relationship Id="rId4" Type="http://schemas.openxmlformats.org/officeDocument/2006/relationships/hyperlink" Target="../../OMSVid/CreateGitHubProject/CreateGitHubProject.mp4"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8.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image" Target="../media/image18.emf"/></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OMSVid/configureDSC/configureDSC.mp4"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OMSVid/FindNEWDSCResourceKit/FindNEWDSCResourceKit.mp4"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Microsoft/PowerShell-DSC-for-Linux/releases/download/v1.1.1-70/dsc-1.1.1.packages.tar.gz"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Microsoft/PowerShell-DSC-for-Linux/releases/download/v1.1.1-70/dsc-1.1.1.packages.tar.gz"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PowerShell/PowerShell"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203703" y="616527"/>
            <a:ext cx="9784594" cy="3329581"/>
          </a:xfrm>
        </p:spPr>
        <p:txBody>
          <a:bodyPr>
            <a:normAutofit fontScale="90000"/>
          </a:bodyPr>
          <a:lstStyle/>
          <a:p>
            <a:r>
              <a:rPr lang="en-US" dirty="0"/>
              <a:t>Configuration Management with Azure Automation DSC</a:t>
            </a:r>
          </a:p>
        </p:txBody>
      </p:sp>
      <p:sp>
        <p:nvSpPr>
          <p:cNvPr id="5" name="Subtitle 4"/>
          <p:cNvSpPr>
            <a:spLocks noGrp="1"/>
          </p:cNvSpPr>
          <p:nvPr>
            <p:ph type="subTitle" idx="1"/>
          </p:nvPr>
        </p:nvSpPr>
        <p:spPr>
          <a:xfrm>
            <a:off x="342900" y="5296620"/>
            <a:ext cx="11506200" cy="918768"/>
          </a:xfrm>
        </p:spPr>
        <p:txBody>
          <a:bodyPr>
            <a:normAutofit fontScale="77500" lnSpcReduction="20000"/>
          </a:bodyPr>
          <a:lstStyle/>
          <a:p>
            <a:pPr algn="l"/>
            <a:endParaRPr lang="en-US" sz="1800" b="1" dirty="0"/>
          </a:p>
          <a:p>
            <a:pPr algn="l"/>
            <a:r>
              <a:rPr lang="en-US" dirty="0"/>
              <a:t>Ed Wilson </a:t>
            </a:r>
            <a:r>
              <a:rPr lang="en-US" b="1" dirty="0">
                <a:hlinkClick r:id="rId3"/>
              </a:rPr>
              <a:t>@</a:t>
            </a:r>
            <a:r>
              <a:rPr lang="en-US" b="1" dirty="0" err="1">
                <a:hlinkClick r:id="rId3"/>
              </a:rPr>
              <a:t>Scriptingguys</a:t>
            </a:r>
            <a:endParaRPr lang="en-US" b="1" dirty="0"/>
          </a:p>
          <a:p>
            <a:pPr algn="l"/>
            <a:r>
              <a:rPr lang="en-US" b="1" dirty="0"/>
              <a:t>OMS Team</a:t>
            </a:r>
          </a:p>
        </p:txBody>
      </p:sp>
      <p:sp>
        <p:nvSpPr>
          <p:cNvPr id="2" name="TextBox 1"/>
          <p:cNvSpPr txBox="1"/>
          <p:nvPr/>
        </p:nvSpPr>
        <p:spPr>
          <a:xfrm>
            <a:off x="1203703" y="3946108"/>
            <a:ext cx="5955476" cy="461665"/>
          </a:xfrm>
          <a:prstGeom prst="rect">
            <a:avLst/>
          </a:prstGeom>
          <a:noFill/>
        </p:spPr>
        <p:txBody>
          <a:bodyPr wrap="none" rtlCol="0">
            <a:spAutoFit/>
          </a:bodyPr>
          <a:lstStyle/>
          <a:p>
            <a:r>
              <a:rPr lang="en-US" sz="2400" dirty="0"/>
              <a:t>Cloud &amp; On-Premises, Windows &amp; Linux</a:t>
            </a:r>
          </a:p>
        </p:txBody>
      </p:sp>
    </p:spTree>
    <p:extLst>
      <p:ext uri="{BB962C8B-B14F-4D97-AF65-F5344CB8AC3E}">
        <p14:creationId xmlns:p14="http://schemas.microsoft.com/office/powerpoint/2010/main" val="364731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Session Objectives And Takeaways</a:t>
            </a:r>
          </a:p>
        </p:txBody>
      </p:sp>
      <p:sp>
        <p:nvSpPr>
          <p:cNvPr id="5" name="Text Placeholder 4"/>
          <p:cNvSpPr>
            <a:spLocks noGrp="1"/>
          </p:cNvSpPr>
          <p:nvPr>
            <p:ph idx="1"/>
          </p:nvPr>
        </p:nvSpPr>
        <p:spPr>
          <a:xfrm>
            <a:off x="1103312" y="1639020"/>
            <a:ext cx="8946541" cy="4848044"/>
          </a:xfrm>
        </p:spPr>
        <p:txBody>
          <a:bodyPr>
            <a:normAutofit fontScale="92500" lnSpcReduction="10000"/>
          </a:bodyPr>
          <a:lstStyle/>
          <a:p>
            <a:pPr marL="0" indent="0">
              <a:buNone/>
            </a:pP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Session Objective(s): </a:t>
            </a:r>
          </a:p>
          <a:p>
            <a:r>
              <a:rPr lang="en-US" sz="2000" dirty="0"/>
              <a:t>Provide an overview of Azure Automation</a:t>
            </a:r>
          </a:p>
          <a:p>
            <a:r>
              <a:rPr lang="en-US" sz="2000" dirty="0"/>
              <a:t>Demonstrate heterogeneous IT management using PowerShell and PowerShell DSC in Azure Automation</a:t>
            </a:r>
          </a:p>
          <a:p>
            <a:pPr marL="0" indent="0">
              <a:buNone/>
            </a:pPr>
            <a:endParaRPr lang="en-US" sz="2000" dirty="0"/>
          </a:p>
          <a:p>
            <a:pPr marL="0" indent="0">
              <a:buNone/>
            </a:pP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Key Takeaways</a:t>
            </a:r>
          </a:p>
          <a:p>
            <a:r>
              <a:rPr lang="en-US" u="sng" dirty="0"/>
              <a:t>Azure Automation provides PowerShell as a Service</a:t>
            </a:r>
            <a:r>
              <a:rPr lang="en-US" dirty="0"/>
              <a:t> -- a central, secure location for all your PowerShell assets, executions, and reports, that is scalable, reliable and highly-available</a:t>
            </a:r>
          </a:p>
          <a:p>
            <a:pPr marL="342900" lvl="1" indent="-342900"/>
            <a:r>
              <a:rPr lang="en-US" sz="2200" dirty="0"/>
              <a:t>Azure Automation DSC provides a reliable, highly-available, scalable DSC pull and reporting service that can be used to deliver, monitor, and update infrastructure aligned with IT rules</a:t>
            </a:r>
            <a:endParaRPr lang="en-US" dirty="0"/>
          </a:p>
          <a:p>
            <a:pPr marL="182880" lvl="1">
              <a:spcBef>
                <a:spcPts val="1200"/>
              </a:spcBef>
              <a:spcAft>
                <a:spcPts val="200"/>
              </a:spcAft>
            </a:pPr>
            <a:r>
              <a:rPr lang="en-US" sz="2200" dirty="0"/>
              <a:t>Azure Automation simplifies automation and configuration across clouds, platforms, and datacenters</a:t>
            </a:r>
            <a:endParaRPr lang="en-US" sz="2000" dirty="0"/>
          </a:p>
          <a:p>
            <a:pPr lvl="1"/>
            <a:endParaRPr lang="en-US" dirty="0"/>
          </a:p>
        </p:txBody>
      </p:sp>
    </p:spTree>
    <p:extLst>
      <p:ext uri="{BB962C8B-B14F-4D97-AF65-F5344CB8AC3E}">
        <p14:creationId xmlns:p14="http://schemas.microsoft.com/office/powerpoint/2010/main" val="2044305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Problem</a:t>
            </a:r>
            <a:r>
              <a:rPr lang="en-US" sz="4313" dirty="0"/>
              <a:t>*</a:t>
            </a:r>
            <a:endParaRPr lang="en-US" dirty="0"/>
          </a:p>
        </p:txBody>
      </p:sp>
      <p:sp>
        <p:nvSpPr>
          <p:cNvPr id="3" name="Text Placeholder 2"/>
          <p:cNvSpPr>
            <a:spLocks noGrp="1"/>
          </p:cNvSpPr>
          <p:nvPr>
            <p:ph type="body" sz="quarter" idx="10"/>
          </p:nvPr>
        </p:nvSpPr>
        <p:spPr>
          <a:xfrm>
            <a:off x="294802" y="2263661"/>
            <a:ext cx="10289809" cy="1810358"/>
          </a:xfrm>
        </p:spPr>
        <p:txBody>
          <a:bodyPr>
            <a:normAutofit/>
          </a:bodyPr>
          <a:lstStyle/>
          <a:p>
            <a:r>
              <a:rPr lang="en-US" sz="3200" dirty="0">
                <a:solidFill>
                  <a:schemeClr val="tx1"/>
                </a:solidFill>
              </a:rPr>
              <a:t>“Keeping the 1000s of servers running my services configured correctly is incredibly complicated and error-prone.”</a:t>
            </a:r>
          </a:p>
        </p:txBody>
      </p:sp>
      <p:sp>
        <p:nvSpPr>
          <p:cNvPr id="4" name="TextBox 3"/>
          <p:cNvSpPr txBox="1"/>
          <p:nvPr/>
        </p:nvSpPr>
        <p:spPr>
          <a:xfrm>
            <a:off x="264686" y="5437424"/>
            <a:ext cx="10406189" cy="941374"/>
          </a:xfrm>
          <a:prstGeom prst="rect">
            <a:avLst/>
          </a:prstGeom>
          <a:noFill/>
        </p:spPr>
        <p:txBody>
          <a:bodyPr wrap="square" lIns="179285" tIns="143428" rIns="179285" bIns="143428" rtlCol="0">
            <a:spAutoFit/>
          </a:bodyPr>
          <a:lstStyle/>
          <a:p>
            <a:pPr>
              <a:lnSpc>
                <a:spcPct val="90000"/>
              </a:lnSpc>
              <a:spcAft>
                <a:spcPts val="588"/>
              </a:spcAft>
            </a:pPr>
            <a:r>
              <a:rPr lang="en-US" sz="2353" dirty="0">
                <a:gradFill>
                  <a:gsLst>
                    <a:gs pos="2917">
                      <a:schemeClr val="tx1"/>
                    </a:gs>
                    <a:gs pos="30000">
                      <a:schemeClr val="tx1"/>
                    </a:gs>
                  </a:gsLst>
                  <a:lin ang="5400000" scaled="0"/>
                </a:gradFill>
              </a:rPr>
              <a:t>*This is just one of many IT management problems Azure Automation can solve</a:t>
            </a:r>
          </a:p>
        </p:txBody>
      </p:sp>
    </p:spTree>
    <p:extLst>
      <p:ext uri="{BB962C8B-B14F-4D97-AF65-F5344CB8AC3E}">
        <p14:creationId xmlns:p14="http://schemas.microsoft.com/office/powerpoint/2010/main" val="326494912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The Problem – In Detail</a:t>
            </a:r>
          </a:p>
        </p:txBody>
      </p:sp>
      <p:sp>
        <p:nvSpPr>
          <p:cNvPr id="6" name="Text Placeholder 5"/>
          <p:cNvSpPr>
            <a:spLocks noGrp="1"/>
          </p:cNvSpPr>
          <p:nvPr>
            <p:ph type="body" sz="quarter" idx="10"/>
          </p:nvPr>
        </p:nvSpPr>
        <p:spPr>
          <a:xfrm>
            <a:off x="269240" y="1482469"/>
            <a:ext cx="10807078" cy="4875197"/>
          </a:xfrm>
        </p:spPr>
        <p:txBody>
          <a:bodyPr/>
          <a:lstStyle/>
          <a:p>
            <a:pPr marL="342900" lvl="1" indent="-342900">
              <a:buFont typeface="Arial" panose="020B0604020202020204" pitchFamily="34" charset="0"/>
              <a:buChar char="•"/>
            </a:pPr>
            <a:r>
              <a:rPr lang="en-US" dirty="0"/>
              <a:t>Many servers to configure, in various “roles”</a:t>
            </a:r>
          </a:p>
          <a:p>
            <a:pPr marL="342900" lvl="1" indent="-342900">
              <a:buFont typeface="Arial" panose="020B0604020202020204" pitchFamily="34" charset="0"/>
              <a:buChar char="•"/>
            </a:pPr>
            <a:r>
              <a:rPr lang="en-US" dirty="0"/>
              <a:t>More servers to configure as infrastructure scales to meet applications’ capacity demands</a:t>
            </a:r>
          </a:p>
          <a:p>
            <a:pPr marL="342900" lvl="1" indent="-342900">
              <a:buFont typeface="Arial" panose="020B0604020202020204" pitchFamily="34" charset="0"/>
              <a:buChar char="•"/>
            </a:pPr>
            <a:r>
              <a:rPr lang="en-US" dirty="0"/>
              <a:t>Servers within a role need to be configured exactly the same</a:t>
            </a:r>
          </a:p>
          <a:p>
            <a:pPr marL="342900" lvl="1" indent="-342900">
              <a:buFont typeface="Arial" panose="020B0604020202020204" pitchFamily="34" charset="0"/>
              <a:buChar char="•"/>
            </a:pPr>
            <a:r>
              <a:rPr lang="en-US" dirty="0"/>
              <a:t>Servers in different roles configured differently</a:t>
            </a:r>
          </a:p>
          <a:p>
            <a:pPr marL="342900" lvl="1" indent="-342900">
              <a:buFont typeface="Arial" panose="020B0604020202020204" pitchFamily="34" charset="0"/>
              <a:buChar char="•"/>
            </a:pPr>
            <a:r>
              <a:rPr lang="en-US" dirty="0"/>
              <a:t>Other employees, and internal software, have access to these VMs and may change things</a:t>
            </a:r>
          </a:p>
          <a:p>
            <a:pPr marL="342900" lvl="1" indent="-342900">
              <a:buFont typeface="Arial" panose="020B0604020202020204" pitchFamily="34" charset="0"/>
              <a:buChar char="•"/>
            </a:pPr>
            <a:r>
              <a:rPr lang="en-US" dirty="0"/>
              <a:t>As applications’ demands change, configurations must be updated to support these changes</a:t>
            </a:r>
          </a:p>
          <a:p>
            <a:pPr marL="342900" lvl="1" indent="-342900">
              <a:buFont typeface="Arial" panose="020B0604020202020204" pitchFamily="34" charset="0"/>
              <a:buChar char="•"/>
            </a:pPr>
            <a:r>
              <a:rPr lang="en-US" dirty="0"/>
              <a:t>Different teams responsible for different “pieces” of the configurations</a:t>
            </a:r>
          </a:p>
          <a:p>
            <a:pPr lvl="1"/>
            <a:endParaRPr lang="en-US" dirty="0"/>
          </a:p>
        </p:txBody>
      </p:sp>
    </p:spTree>
    <p:extLst>
      <p:ext uri="{BB962C8B-B14F-4D97-AF65-F5344CB8AC3E}">
        <p14:creationId xmlns:p14="http://schemas.microsoft.com/office/powerpoint/2010/main" val="60138773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Azure Automation Overview</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11949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5"/>
          <p:cNvSpPr txBox="1">
            <a:spLocks/>
          </p:cNvSpPr>
          <p:nvPr/>
        </p:nvSpPr>
        <p:spPr>
          <a:xfrm>
            <a:off x="8099486" y="1994737"/>
            <a:ext cx="4092513" cy="4851737"/>
          </a:xfrm>
          <a:prstGeom prst="rect">
            <a:avLst/>
          </a:prstGeom>
        </p:spPr>
        <p:txBody>
          <a:bodyPr vert="horz" wrap="square" lIns="143428" tIns="89642" rIns="143428" bIns="89642" rtlCol="0">
            <a:spAutoFit/>
          </a:bodyPr>
          <a:lstStyle>
            <a:lvl1pPr marL="0" marR="0" indent="0" algn="l" defTabSz="932742" rtl="0" eaLnBrk="1" fontAlgn="auto" latinLnBrk="0" hangingPunct="1">
              <a:lnSpc>
                <a:spcPct val="90000"/>
              </a:lnSpc>
              <a:spcBef>
                <a:spcPct val="20000"/>
              </a:spcBef>
              <a:spcAft>
                <a:spcPts val="0"/>
              </a:spcAft>
              <a:buClr>
                <a:schemeClr val="tx1"/>
              </a:buClr>
              <a:buSzPct val="100000"/>
              <a:buFontTx/>
              <a:buNone/>
              <a:tabLst/>
              <a:defRPr sz="4000" kern="1200" spc="0" baseline="0">
                <a:gradFill>
                  <a:gsLst>
                    <a:gs pos="2920">
                      <a:schemeClr val="tx2"/>
                    </a:gs>
                    <a:gs pos="39000">
                      <a:schemeClr val="tx2"/>
                    </a:gs>
                  </a:gsLst>
                  <a:lin ang="5400000" scaled="0"/>
                </a:gradFill>
                <a:latin typeface="+mj-lt"/>
                <a:ea typeface="+mn-ea"/>
                <a:cs typeface="+mn-cs"/>
              </a:defRPr>
            </a:lvl1pPr>
            <a:lvl2pPr marL="28575" marR="0" indent="0" algn="l" defTabSz="932742" rtl="0" eaLnBrk="1" fontAlgn="auto" latinLnBrk="0" hangingPunct="1">
              <a:lnSpc>
                <a:spcPct val="90000"/>
              </a:lnSpc>
              <a:spcBef>
                <a:spcPct val="20000"/>
              </a:spcBef>
              <a:spcAft>
                <a:spcPts val="0"/>
              </a:spcAft>
              <a:buClr>
                <a:schemeClr val="tx1"/>
              </a:buClr>
              <a:buSzPct val="100000"/>
              <a:buFontTx/>
              <a:buNone/>
              <a:tabLst/>
              <a:defRPr sz="2000" kern="1200" spc="0" baseline="0">
                <a:gradFill>
                  <a:gsLst>
                    <a:gs pos="1250">
                      <a:schemeClr val="tx1"/>
                    </a:gs>
                    <a:gs pos="100000">
                      <a:schemeClr val="tx1"/>
                    </a:gs>
                  </a:gsLst>
                  <a:lin ang="5400000" scaled="0"/>
                </a:gradFill>
                <a:latin typeface="+mn-lt"/>
                <a:ea typeface="+mn-ea"/>
                <a:cs typeface="+mn-cs"/>
              </a:defRPr>
            </a:lvl2pPr>
            <a:lvl3pPr marL="223838" marR="0" indent="0" algn="l" defTabSz="932742" rtl="0" eaLnBrk="1" fontAlgn="auto" latinLnBrk="0" hangingPunct="1">
              <a:lnSpc>
                <a:spcPct val="90000"/>
              </a:lnSpc>
              <a:spcBef>
                <a:spcPct val="20000"/>
              </a:spcBef>
              <a:spcAft>
                <a:spcPts val="0"/>
              </a:spcAft>
              <a:buClr>
                <a:schemeClr val="tx1"/>
              </a:buClr>
              <a:buSzPct val="100000"/>
              <a:buFontTx/>
              <a:buNone/>
              <a:tabLst/>
              <a:defRPr sz="2000" kern="1200" spc="0" baseline="0">
                <a:gradFill>
                  <a:gsLst>
                    <a:gs pos="1250">
                      <a:schemeClr val="tx1"/>
                    </a:gs>
                    <a:gs pos="100000">
                      <a:schemeClr val="tx1"/>
                    </a:gs>
                  </a:gsLst>
                  <a:lin ang="5400000" scaled="0"/>
                </a:gradFill>
                <a:latin typeface="+mn-lt"/>
                <a:ea typeface="+mn-ea"/>
                <a:cs typeface="+mn-cs"/>
              </a:defRPr>
            </a:lvl3pPr>
            <a:lvl4pPr marL="476250" marR="0" indent="0" algn="l" defTabSz="932742" rtl="0" eaLnBrk="1" fontAlgn="auto" latinLnBrk="0" hangingPunct="1">
              <a:lnSpc>
                <a:spcPct val="90000"/>
              </a:lnSpc>
              <a:spcBef>
                <a:spcPct val="20000"/>
              </a:spcBef>
              <a:spcAft>
                <a:spcPts val="0"/>
              </a:spcAft>
              <a:buClr>
                <a:schemeClr val="tx1"/>
              </a:buClr>
              <a:buSzPct val="100000"/>
              <a:buFontTx/>
              <a:buNone/>
              <a:tabLst/>
              <a:defRPr sz="1800" kern="1200" spc="0" baseline="0">
                <a:gradFill>
                  <a:gsLst>
                    <a:gs pos="1250">
                      <a:schemeClr val="tx1"/>
                    </a:gs>
                    <a:gs pos="100000">
                      <a:schemeClr val="tx1"/>
                    </a:gs>
                  </a:gsLst>
                  <a:lin ang="5400000" scaled="0"/>
                </a:gradFill>
                <a:latin typeface="+mn-lt"/>
                <a:ea typeface="+mn-ea"/>
                <a:cs typeface="+mn-cs"/>
              </a:defRPr>
            </a:lvl4pPr>
            <a:lvl5pPr marL="739775" marR="0" indent="0" algn="l" defTabSz="932742" rtl="0" eaLnBrk="1" fontAlgn="auto" latinLnBrk="0" hangingPunct="1">
              <a:lnSpc>
                <a:spcPct val="90000"/>
              </a:lnSpc>
              <a:spcBef>
                <a:spcPct val="20000"/>
              </a:spcBef>
              <a:spcAft>
                <a:spcPts val="0"/>
              </a:spcAft>
              <a:buClr>
                <a:schemeClr val="tx1"/>
              </a:buClr>
              <a:buSzPct val="100000"/>
              <a:buFontTx/>
              <a:buNone/>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745" dirty="0">
                <a:solidFill>
                  <a:srgbClr val="FFFFFF"/>
                </a:solidFill>
                <a:latin typeface="+mn-lt"/>
              </a:rPr>
              <a:t>Lower costs and improve predictability</a:t>
            </a:r>
          </a:p>
          <a:p>
            <a:endParaRPr lang="en-US" sz="2745" dirty="0">
              <a:solidFill>
                <a:srgbClr val="FFFFFF"/>
              </a:solidFill>
              <a:latin typeface="+mn-lt"/>
            </a:endParaRPr>
          </a:p>
          <a:p>
            <a:endParaRPr lang="en-US" sz="2745" dirty="0">
              <a:solidFill>
                <a:srgbClr val="FFFFFF"/>
              </a:solidFill>
              <a:latin typeface="+mn-lt"/>
            </a:endParaRPr>
          </a:p>
          <a:p>
            <a:endParaRPr lang="en-US" sz="2745" dirty="0">
              <a:solidFill>
                <a:srgbClr val="FFFFFF"/>
              </a:solidFill>
              <a:latin typeface="+mn-lt"/>
            </a:endParaRPr>
          </a:p>
          <a:p>
            <a:pPr lvl="1"/>
            <a:r>
              <a:rPr lang="en-US" sz="1961" b="1" dirty="0">
                <a:solidFill>
                  <a:srgbClr val="FFFFFF"/>
                </a:solidFill>
              </a:rPr>
              <a:t>Automation</a:t>
            </a:r>
          </a:p>
          <a:p>
            <a:pPr>
              <a:spcAft>
                <a:spcPts val="412"/>
              </a:spcAft>
            </a:pPr>
            <a:r>
              <a:rPr lang="en-US" sz="1961" dirty="0">
                <a:solidFill>
                  <a:srgbClr val="FFFFFF"/>
                </a:solidFill>
                <a:latin typeface="+mn-lt"/>
              </a:rPr>
              <a:t>Enable service owners to focus on work that adds business value</a:t>
            </a:r>
          </a:p>
          <a:p>
            <a:pPr>
              <a:spcAft>
                <a:spcPts val="412"/>
              </a:spcAft>
            </a:pPr>
            <a:r>
              <a:rPr lang="en-US" sz="1961" dirty="0">
                <a:solidFill>
                  <a:srgbClr val="FFFFFF"/>
                </a:solidFill>
                <a:latin typeface="+mn-lt"/>
              </a:rPr>
              <a:t>Reduce error-prone manual activities while lowering costs</a:t>
            </a:r>
          </a:p>
          <a:p>
            <a:pPr>
              <a:spcAft>
                <a:spcPts val="412"/>
              </a:spcAft>
            </a:pPr>
            <a:r>
              <a:rPr lang="en-US" sz="1961" dirty="0">
                <a:solidFill>
                  <a:srgbClr val="FFFFFF"/>
                </a:solidFill>
                <a:latin typeface="+mn-lt"/>
              </a:rPr>
              <a:t>Ensure new and existing systems stay in the correct state</a:t>
            </a:r>
          </a:p>
        </p:txBody>
      </p:sp>
      <p:sp>
        <p:nvSpPr>
          <p:cNvPr id="17" name="Title 16"/>
          <p:cNvSpPr>
            <a:spLocks noGrp="1"/>
          </p:cNvSpPr>
          <p:nvPr>
            <p:ph type="title"/>
          </p:nvPr>
        </p:nvSpPr>
        <p:spPr>
          <a:xfrm>
            <a:off x="646140" y="346703"/>
            <a:ext cx="10925176" cy="1508760"/>
          </a:xfrm>
        </p:spPr>
        <p:txBody>
          <a:bodyPr>
            <a:normAutofit/>
          </a:bodyPr>
          <a:lstStyle/>
          <a:p>
            <a:r>
              <a:rPr lang="en-US" sz="3600" dirty="0"/>
              <a:t>Process &amp; desired state automation that simplifies cloud &amp; on-premises management</a:t>
            </a:r>
          </a:p>
        </p:txBody>
      </p:sp>
      <p:sp>
        <p:nvSpPr>
          <p:cNvPr id="6" name="Text Placeholder 5"/>
          <p:cNvSpPr>
            <a:spLocks noGrp="1"/>
          </p:cNvSpPr>
          <p:nvPr>
            <p:ph type="body" sz="quarter" idx="10"/>
          </p:nvPr>
        </p:nvSpPr>
        <p:spPr>
          <a:xfrm>
            <a:off x="274702" y="1994737"/>
            <a:ext cx="3886647" cy="4755207"/>
          </a:xfrm>
          <a:prstGeom prst="rect">
            <a:avLst/>
          </a:prstGeom>
        </p:spPr>
        <p:txBody>
          <a:bodyPr>
            <a:normAutofit fontScale="92500" lnSpcReduction="10000"/>
          </a:bodyPr>
          <a:lstStyle/>
          <a:p>
            <a:pPr marL="0" indent="0">
              <a:buNone/>
            </a:pPr>
            <a:r>
              <a:rPr lang="en-US" sz="2745" dirty="0">
                <a:solidFill>
                  <a:srgbClr val="FFFFFF"/>
                </a:solidFill>
              </a:rPr>
              <a:t>Optimize and extend existing investments</a:t>
            </a:r>
          </a:p>
          <a:p>
            <a:pPr lvl="1"/>
            <a:endParaRPr lang="en-US" sz="2745" dirty="0">
              <a:solidFill>
                <a:srgbClr val="FFFFFF"/>
              </a:solidFill>
            </a:endParaRPr>
          </a:p>
          <a:p>
            <a:pPr lvl="1"/>
            <a:endParaRPr lang="en-US" sz="2745" dirty="0">
              <a:solidFill>
                <a:srgbClr val="FFFFFF"/>
              </a:solidFill>
            </a:endParaRPr>
          </a:p>
          <a:p>
            <a:pPr lvl="1"/>
            <a:endParaRPr lang="en-US" sz="2745" dirty="0">
              <a:solidFill>
                <a:srgbClr val="FFFFFF"/>
              </a:solidFill>
            </a:endParaRPr>
          </a:p>
          <a:p>
            <a:pPr marL="228600" lvl="1" indent="0">
              <a:buNone/>
            </a:pPr>
            <a:r>
              <a:rPr lang="en-US" b="1" dirty="0">
                <a:solidFill>
                  <a:srgbClr val="FFFFFF"/>
                </a:solidFill>
              </a:rPr>
              <a:t>Integration</a:t>
            </a:r>
          </a:p>
          <a:p>
            <a:pPr marL="228600" lvl="1" indent="0">
              <a:buNone/>
            </a:pPr>
            <a:r>
              <a:rPr lang="en-US" sz="1961" dirty="0">
                <a:solidFill>
                  <a:srgbClr val="FFFFFF"/>
                </a:solidFill>
              </a:rPr>
              <a:t>Integrate into existing systems &amp; components with PowerShell modules and DSC resources</a:t>
            </a:r>
          </a:p>
          <a:p>
            <a:pPr lvl="1"/>
            <a:endParaRPr lang="en-US" sz="1961" dirty="0">
              <a:solidFill>
                <a:srgbClr val="FFFFFF"/>
              </a:solidFill>
            </a:endParaRPr>
          </a:p>
          <a:p>
            <a:pPr marL="228600" lvl="1" indent="0">
              <a:buNone/>
            </a:pPr>
            <a:r>
              <a:rPr lang="en-US" sz="1961" dirty="0">
                <a:solidFill>
                  <a:srgbClr val="FFFFFF"/>
                </a:solidFill>
              </a:rPr>
              <a:t>Build additional PS modules to enable integrating into other systems / components</a:t>
            </a:r>
          </a:p>
        </p:txBody>
      </p:sp>
      <p:sp>
        <p:nvSpPr>
          <p:cNvPr id="7" name="Text Placeholder 5"/>
          <p:cNvSpPr txBox="1">
            <a:spLocks/>
          </p:cNvSpPr>
          <p:nvPr/>
        </p:nvSpPr>
        <p:spPr>
          <a:xfrm>
            <a:off x="4303170" y="1994736"/>
            <a:ext cx="3654495" cy="4960357"/>
          </a:xfrm>
          <a:prstGeom prst="rect">
            <a:avLst/>
          </a:prstGeom>
        </p:spPr>
        <p:txBody>
          <a:bodyPr vert="horz" wrap="square" lIns="143428" tIns="89642" rIns="143428" bIns="89642" rtlCol="0">
            <a:spAutoFit/>
          </a:bodyPr>
          <a:lstStyle>
            <a:lvl1pPr marL="0" marR="0" indent="0" algn="l" defTabSz="932742" rtl="0" eaLnBrk="1" fontAlgn="auto" latinLnBrk="0" hangingPunct="1">
              <a:lnSpc>
                <a:spcPct val="90000"/>
              </a:lnSpc>
              <a:spcBef>
                <a:spcPct val="20000"/>
              </a:spcBef>
              <a:spcAft>
                <a:spcPts val="0"/>
              </a:spcAft>
              <a:buClr>
                <a:schemeClr val="tx1"/>
              </a:buClr>
              <a:buSzPct val="100000"/>
              <a:buFontTx/>
              <a:buNone/>
              <a:tabLst/>
              <a:defRPr sz="4000" kern="1200" spc="0" baseline="0">
                <a:gradFill>
                  <a:gsLst>
                    <a:gs pos="2920">
                      <a:schemeClr val="tx2"/>
                    </a:gs>
                    <a:gs pos="39000">
                      <a:schemeClr val="tx2"/>
                    </a:gs>
                  </a:gsLst>
                  <a:lin ang="5400000" scaled="0"/>
                </a:gradFill>
                <a:latin typeface="+mj-lt"/>
                <a:ea typeface="+mn-ea"/>
                <a:cs typeface="+mn-cs"/>
              </a:defRPr>
            </a:lvl1pPr>
            <a:lvl2pPr marL="28575" marR="0" indent="0" algn="l" defTabSz="932742" rtl="0" eaLnBrk="1" fontAlgn="auto" latinLnBrk="0" hangingPunct="1">
              <a:lnSpc>
                <a:spcPct val="90000"/>
              </a:lnSpc>
              <a:spcBef>
                <a:spcPct val="20000"/>
              </a:spcBef>
              <a:spcAft>
                <a:spcPts val="0"/>
              </a:spcAft>
              <a:buClr>
                <a:schemeClr val="tx1"/>
              </a:buClr>
              <a:buSzPct val="100000"/>
              <a:buFontTx/>
              <a:buNone/>
              <a:tabLst/>
              <a:defRPr sz="2000" kern="1200" spc="0" baseline="0">
                <a:gradFill>
                  <a:gsLst>
                    <a:gs pos="1250">
                      <a:schemeClr val="tx1"/>
                    </a:gs>
                    <a:gs pos="100000">
                      <a:schemeClr val="tx1"/>
                    </a:gs>
                  </a:gsLst>
                  <a:lin ang="5400000" scaled="0"/>
                </a:gradFill>
                <a:latin typeface="+mn-lt"/>
                <a:ea typeface="+mn-ea"/>
                <a:cs typeface="+mn-cs"/>
              </a:defRPr>
            </a:lvl2pPr>
            <a:lvl3pPr marL="223838" marR="0" indent="0" algn="l" defTabSz="932742" rtl="0" eaLnBrk="1" fontAlgn="auto" latinLnBrk="0" hangingPunct="1">
              <a:lnSpc>
                <a:spcPct val="90000"/>
              </a:lnSpc>
              <a:spcBef>
                <a:spcPct val="20000"/>
              </a:spcBef>
              <a:spcAft>
                <a:spcPts val="0"/>
              </a:spcAft>
              <a:buClr>
                <a:schemeClr val="tx1"/>
              </a:buClr>
              <a:buSzPct val="100000"/>
              <a:buFontTx/>
              <a:buNone/>
              <a:tabLst/>
              <a:defRPr sz="2000" kern="1200" spc="0" baseline="0">
                <a:gradFill>
                  <a:gsLst>
                    <a:gs pos="1250">
                      <a:schemeClr val="tx1"/>
                    </a:gs>
                    <a:gs pos="100000">
                      <a:schemeClr val="tx1"/>
                    </a:gs>
                  </a:gsLst>
                  <a:lin ang="5400000" scaled="0"/>
                </a:gradFill>
                <a:latin typeface="+mn-lt"/>
                <a:ea typeface="+mn-ea"/>
                <a:cs typeface="+mn-cs"/>
              </a:defRPr>
            </a:lvl3pPr>
            <a:lvl4pPr marL="476250" marR="0" indent="0" algn="l" defTabSz="932742" rtl="0" eaLnBrk="1" fontAlgn="auto" latinLnBrk="0" hangingPunct="1">
              <a:lnSpc>
                <a:spcPct val="90000"/>
              </a:lnSpc>
              <a:spcBef>
                <a:spcPct val="20000"/>
              </a:spcBef>
              <a:spcAft>
                <a:spcPts val="0"/>
              </a:spcAft>
              <a:buClr>
                <a:schemeClr val="tx1"/>
              </a:buClr>
              <a:buSzPct val="100000"/>
              <a:buFontTx/>
              <a:buNone/>
              <a:tabLst/>
              <a:defRPr sz="1800" kern="1200" spc="0" baseline="0">
                <a:gradFill>
                  <a:gsLst>
                    <a:gs pos="1250">
                      <a:schemeClr val="tx1"/>
                    </a:gs>
                    <a:gs pos="100000">
                      <a:schemeClr val="tx1"/>
                    </a:gs>
                  </a:gsLst>
                  <a:lin ang="5400000" scaled="0"/>
                </a:gradFill>
                <a:latin typeface="+mn-lt"/>
                <a:ea typeface="+mn-ea"/>
                <a:cs typeface="+mn-cs"/>
              </a:defRPr>
            </a:lvl4pPr>
            <a:lvl5pPr marL="739775" marR="0" indent="0" algn="l" defTabSz="932742" rtl="0" eaLnBrk="1" fontAlgn="auto" latinLnBrk="0" hangingPunct="1">
              <a:lnSpc>
                <a:spcPct val="90000"/>
              </a:lnSpc>
              <a:spcBef>
                <a:spcPct val="20000"/>
              </a:spcBef>
              <a:spcAft>
                <a:spcPts val="0"/>
              </a:spcAft>
              <a:buClr>
                <a:schemeClr val="tx1"/>
              </a:buClr>
              <a:buSzPct val="100000"/>
              <a:buFontTx/>
              <a:buNone/>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745" dirty="0">
                <a:solidFill>
                  <a:schemeClr val="tx1"/>
                </a:solidFill>
                <a:latin typeface="+mn-lt"/>
              </a:rPr>
              <a:t>Deliver flexible and reliable services</a:t>
            </a:r>
          </a:p>
          <a:p>
            <a:endParaRPr lang="en-US" sz="2745" dirty="0">
              <a:solidFill>
                <a:schemeClr val="tx1"/>
              </a:solidFill>
              <a:latin typeface="+mn-lt"/>
            </a:endParaRPr>
          </a:p>
          <a:p>
            <a:endParaRPr lang="en-US" sz="2745" dirty="0">
              <a:solidFill>
                <a:schemeClr val="tx1"/>
              </a:solidFill>
              <a:latin typeface="+mn-lt"/>
            </a:endParaRPr>
          </a:p>
          <a:p>
            <a:endParaRPr lang="en-US" sz="2745" dirty="0">
              <a:solidFill>
                <a:schemeClr val="tx1"/>
              </a:solidFill>
              <a:latin typeface="+mn-lt"/>
            </a:endParaRPr>
          </a:p>
          <a:p>
            <a:pPr lvl="1"/>
            <a:r>
              <a:rPr lang="en-US" sz="1961" b="1" dirty="0">
                <a:solidFill>
                  <a:schemeClr val="tx1"/>
                </a:solidFill>
              </a:rPr>
              <a:t>Orchestration</a:t>
            </a:r>
          </a:p>
          <a:p>
            <a:pPr lvl="1"/>
            <a:r>
              <a:rPr lang="en-US" sz="1961" dirty="0">
                <a:solidFill>
                  <a:schemeClr val="tx1"/>
                </a:solidFill>
              </a:rPr>
              <a:t>Accelerate time to value with flexible workflows &amp; declarative configurations</a:t>
            </a:r>
            <a:br>
              <a:rPr lang="en-US" sz="1961" dirty="0">
                <a:solidFill>
                  <a:schemeClr val="tx1"/>
                </a:solidFill>
              </a:rPr>
            </a:br>
            <a:endParaRPr lang="en-US" sz="1961" dirty="0">
              <a:solidFill>
                <a:schemeClr val="tx1"/>
              </a:solidFill>
            </a:endParaRPr>
          </a:p>
          <a:p>
            <a:pPr>
              <a:spcAft>
                <a:spcPts val="412"/>
              </a:spcAft>
            </a:pPr>
            <a:r>
              <a:rPr lang="en-US" sz="1961" dirty="0">
                <a:solidFill>
                  <a:schemeClr val="tx1"/>
                </a:solidFill>
                <a:latin typeface="+mn-lt"/>
              </a:rPr>
              <a:t>Improve service reliability across multiple tools, systems, and department silos</a:t>
            </a:r>
          </a:p>
        </p:txBody>
      </p:sp>
      <p:sp>
        <p:nvSpPr>
          <p:cNvPr id="9" name="Freeform 78"/>
          <p:cNvSpPr>
            <a:spLocks noChangeAspect="1" noEditPoints="1"/>
          </p:cNvSpPr>
          <p:nvPr/>
        </p:nvSpPr>
        <p:spPr bwMode="black">
          <a:xfrm>
            <a:off x="1345001" y="2958942"/>
            <a:ext cx="1075709" cy="1029468"/>
          </a:xfrm>
          <a:custGeom>
            <a:avLst/>
            <a:gdLst>
              <a:gd name="T0" fmla="*/ 1448 w 2291"/>
              <a:gd name="T1" fmla="*/ 923 h 2197"/>
              <a:gd name="T2" fmla="*/ 1464 w 2291"/>
              <a:gd name="T3" fmla="*/ 1048 h 2197"/>
              <a:gd name="T4" fmla="*/ 1622 w 2291"/>
              <a:gd name="T5" fmla="*/ 1225 h 2197"/>
              <a:gd name="T6" fmla="*/ 1522 w 2291"/>
              <a:gd name="T7" fmla="*/ 1149 h 2197"/>
              <a:gd name="T8" fmla="*/ 1622 w 2291"/>
              <a:gd name="T9" fmla="*/ 1225 h 2197"/>
              <a:gd name="T10" fmla="*/ 769 w 2291"/>
              <a:gd name="T11" fmla="*/ 1149 h 2197"/>
              <a:gd name="T12" fmla="*/ 669 w 2291"/>
              <a:gd name="T13" fmla="*/ 1225 h 2197"/>
              <a:gd name="T14" fmla="*/ 828 w 2291"/>
              <a:gd name="T15" fmla="*/ 1048 h 2197"/>
              <a:gd name="T16" fmla="*/ 844 w 2291"/>
              <a:gd name="T17" fmla="*/ 923 h 2197"/>
              <a:gd name="T18" fmla="*/ 828 w 2291"/>
              <a:gd name="T19" fmla="*/ 1048 h 2197"/>
              <a:gd name="T20" fmla="*/ 1390 w 2291"/>
              <a:gd name="T21" fmla="*/ 540 h 2197"/>
              <a:gd name="T22" fmla="*/ 1493 w 2291"/>
              <a:gd name="T23" fmla="*/ 103 h 2197"/>
              <a:gd name="T24" fmla="*/ 902 w 2291"/>
              <a:gd name="T25" fmla="*/ 0 h 2197"/>
              <a:gd name="T26" fmla="*/ 799 w 2291"/>
              <a:gd name="T27" fmla="*/ 437 h 2197"/>
              <a:gd name="T28" fmla="*/ 859 w 2291"/>
              <a:gd name="T29" fmla="*/ 103 h 2197"/>
              <a:gd name="T30" fmla="*/ 1390 w 2291"/>
              <a:gd name="T31" fmla="*/ 60 h 2197"/>
              <a:gd name="T32" fmla="*/ 1433 w 2291"/>
              <a:gd name="T33" fmla="*/ 437 h 2197"/>
              <a:gd name="T34" fmla="*/ 902 w 2291"/>
              <a:gd name="T35" fmla="*/ 480 h 2197"/>
              <a:gd name="T36" fmla="*/ 859 w 2291"/>
              <a:gd name="T37" fmla="*/ 103 h 2197"/>
              <a:gd name="T38" fmla="*/ 1614 w 2291"/>
              <a:gd name="T39" fmla="*/ 824 h 2197"/>
              <a:gd name="T40" fmla="*/ 1640 w 2291"/>
              <a:gd name="T41" fmla="*/ 786 h 2197"/>
              <a:gd name="T42" fmla="*/ 1499 w 2291"/>
              <a:gd name="T43" fmla="*/ 596 h 2197"/>
              <a:gd name="T44" fmla="*/ 835 w 2291"/>
              <a:gd name="T45" fmla="*/ 576 h 2197"/>
              <a:gd name="T46" fmla="*/ 669 w 2291"/>
              <a:gd name="T47" fmla="*/ 741 h 2197"/>
              <a:gd name="T48" fmla="*/ 652 w 2291"/>
              <a:gd name="T49" fmla="*/ 798 h 2197"/>
              <a:gd name="T50" fmla="*/ 1450 w 2291"/>
              <a:gd name="T51" fmla="*/ 1476 h 2197"/>
              <a:gd name="T52" fmla="*/ 1554 w 2291"/>
              <a:gd name="T53" fmla="*/ 1913 h 2197"/>
              <a:gd name="T54" fmla="*/ 2144 w 2291"/>
              <a:gd name="T55" fmla="*/ 1810 h 2197"/>
              <a:gd name="T56" fmla="*/ 2041 w 2291"/>
              <a:gd name="T57" fmla="*/ 1373 h 2197"/>
              <a:gd name="T58" fmla="*/ 1450 w 2291"/>
              <a:gd name="T59" fmla="*/ 1476 h 2197"/>
              <a:gd name="T60" fmla="*/ 2084 w 2291"/>
              <a:gd name="T61" fmla="*/ 1810 h 2197"/>
              <a:gd name="T62" fmla="*/ 1554 w 2291"/>
              <a:gd name="T63" fmla="*/ 1853 h 2197"/>
              <a:gd name="T64" fmla="*/ 1511 w 2291"/>
              <a:gd name="T65" fmla="*/ 1476 h 2197"/>
              <a:gd name="T66" fmla="*/ 2041 w 2291"/>
              <a:gd name="T67" fmla="*/ 1433 h 2197"/>
              <a:gd name="T68" fmla="*/ 2275 w 2291"/>
              <a:gd name="T69" fmla="*/ 2114 h 2197"/>
              <a:gd name="T70" fmla="*/ 2108 w 2291"/>
              <a:gd name="T71" fmla="*/ 1949 h 2197"/>
              <a:gd name="T72" fmla="*/ 1444 w 2291"/>
              <a:gd name="T73" fmla="*/ 1969 h 2197"/>
              <a:gd name="T74" fmla="*/ 1304 w 2291"/>
              <a:gd name="T75" fmla="*/ 2159 h 2197"/>
              <a:gd name="T76" fmla="*/ 1329 w 2291"/>
              <a:gd name="T77" fmla="*/ 2197 h 2197"/>
              <a:gd name="T78" fmla="*/ 2291 w 2291"/>
              <a:gd name="T79" fmla="*/ 2171 h 2197"/>
              <a:gd name="T80" fmla="*/ 2275 w 2291"/>
              <a:gd name="T81" fmla="*/ 2114 h 2197"/>
              <a:gd name="T82" fmla="*/ 738 w 2291"/>
              <a:gd name="T83" fmla="*/ 1913 h 2197"/>
              <a:gd name="T84" fmla="*/ 841 w 2291"/>
              <a:gd name="T85" fmla="*/ 1476 h 2197"/>
              <a:gd name="T86" fmla="*/ 250 w 2291"/>
              <a:gd name="T87" fmla="*/ 1373 h 2197"/>
              <a:gd name="T88" fmla="*/ 147 w 2291"/>
              <a:gd name="T89" fmla="*/ 1810 h 2197"/>
              <a:gd name="T90" fmla="*/ 207 w 2291"/>
              <a:gd name="T91" fmla="*/ 1476 h 2197"/>
              <a:gd name="T92" fmla="*/ 738 w 2291"/>
              <a:gd name="T93" fmla="*/ 1433 h 2197"/>
              <a:gd name="T94" fmla="*/ 781 w 2291"/>
              <a:gd name="T95" fmla="*/ 1810 h 2197"/>
              <a:gd name="T96" fmla="*/ 250 w 2291"/>
              <a:gd name="T97" fmla="*/ 1853 h 2197"/>
              <a:gd name="T98" fmla="*/ 207 w 2291"/>
              <a:gd name="T99" fmla="*/ 1476 h 2197"/>
              <a:gd name="T100" fmla="*/ 805 w 2291"/>
              <a:gd name="T101" fmla="*/ 1949 h 2197"/>
              <a:gd name="T102" fmla="*/ 141 w 2291"/>
              <a:gd name="T103" fmla="*/ 1969 h 2197"/>
              <a:gd name="T104" fmla="*/ 0 w 2291"/>
              <a:gd name="T105" fmla="*/ 2159 h 2197"/>
              <a:gd name="T106" fmla="*/ 26 w 2291"/>
              <a:gd name="T107" fmla="*/ 2197 h 2197"/>
              <a:gd name="T108" fmla="*/ 988 w 2291"/>
              <a:gd name="T109" fmla="*/ 2171 h 2197"/>
              <a:gd name="T110" fmla="*/ 971 w 2291"/>
              <a:gd name="T111" fmla="*/ 2114 h 2197"/>
              <a:gd name="T112" fmla="*/ 971 w 2291"/>
              <a:gd name="T113" fmla="*/ 1659 h 2197"/>
              <a:gd name="T114" fmla="*/ 1088 w 2291"/>
              <a:gd name="T115" fmla="*/ 1610 h 2197"/>
              <a:gd name="T116" fmla="*/ 971 w 2291"/>
              <a:gd name="T117" fmla="*/ 1659 h 2197"/>
              <a:gd name="T118" fmla="*/ 1204 w 2291"/>
              <a:gd name="T119" fmla="*/ 1610 h 2197"/>
              <a:gd name="T120" fmla="*/ 1320 w 2291"/>
              <a:gd name="T121" fmla="*/ 1659 h 2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91" h="2197">
                <a:moveTo>
                  <a:pt x="1506" y="1023"/>
                </a:moveTo>
                <a:cubicBezTo>
                  <a:pt x="1448" y="923"/>
                  <a:pt x="1448" y="923"/>
                  <a:pt x="1448" y="923"/>
                </a:cubicBezTo>
                <a:cubicBezTo>
                  <a:pt x="1406" y="947"/>
                  <a:pt x="1406" y="947"/>
                  <a:pt x="1406" y="947"/>
                </a:cubicBezTo>
                <a:cubicBezTo>
                  <a:pt x="1464" y="1048"/>
                  <a:pt x="1464" y="1048"/>
                  <a:pt x="1464" y="1048"/>
                </a:cubicBezTo>
                <a:lnTo>
                  <a:pt x="1506" y="1023"/>
                </a:lnTo>
                <a:close/>
                <a:moveTo>
                  <a:pt x="1622" y="1225"/>
                </a:moveTo>
                <a:cubicBezTo>
                  <a:pt x="1564" y="1124"/>
                  <a:pt x="1564" y="1124"/>
                  <a:pt x="1564" y="1124"/>
                </a:cubicBezTo>
                <a:cubicBezTo>
                  <a:pt x="1522" y="1149"/>
                  <a:pt x="1522" y="1149"/>
                  <a:pt x="1522" y="1149"/>
                </a:cubicBezTo>
                <a:cubicBezTo>
                  <a:pt x="1580" y="1249"/>
                  <a:pt x="1580" y="1249"/>
                  <a:pt x="1580" y="1249"/>
                </a:cubicBezTo>
                <a:lnTo>
                  <a:pt x="1622" y="1225"/>
                </a:lnTo>
                <a:close/>
                <a:moveTo>
                  <a:pt x="711" y="1249"/>
                </a:moveTo>
                <a:cubicBezTo>
                  <a:pt x="769" y="1149"/>
                  <a:pt x="769" y="1149"/>
                  <a:pt x="769" y="1149"/>
                </a:cubicBezTo>
                <a:cubicBezTo>
                  <a:pt x="727" y="1124"/>
                  <a:pt x="727" y="1124"/>
                  <a:pt x="727" y="1124"/>
                </a:cubicBezTo>
                <a:cubicBezTo>
                  <a:pt x="669" y="1225"/>
                  <a:pt x="669" y="1225"/>
                  <a:pt x="669" y="1225"/>
                </a:cubicBezTo>
                <a:lnTo>
                  <a:pt x="711" y="1249"/>
                </a:lnTo>
                <a:close/>
                <a:moveTo>
                  <a:pt x="828" y="1048"/>
                </a:moveTo>
                <a:cubicBezTo>
                  <a:pt x="886" y="947"/>
                  <a:pt x="886" y="947"/>
                  <a:pt x="886" y="947"/>
                </a:cubicBezTo>
                <a:cubicBezTo>
                  <a:pt x="844" y="923"/>
                  <a:pt x="844" y="923"/>
                  <a:pt x="844" y="923"/>
                </a:cubicBezTo>
                <a:cubicBezTo>
                  <a:pt x="786" y="1023"/>
                  <a:pt x="786" y="1023"/>
                  <a:pt x="786" y="1023"/>
                </a:cubicBezTo>
                <a:lnTo>
                  <a:pt x="828" y="1048"/>
                </a:lnTo>
                <a:close/>
                <a:moveTo>
                  <a:pt x="902" y="540"/>
                </a:moveTo>
                <a:cubicBezTo>
                  <a:pt x="1390" y="540"/>
                  <a:pt x="1390" y="540"/>
                  <a:pt x="1390" y="540"/>
                </a:cubicBezTo>
                <a:cubicBezTo>
                  <a:pt x="1447" y="540"/>
                  <a:pt x="1493" y="494"/>
                  <a:pt x="1493" y="437"/>
                </a:cubicBezTo>
                <a:cubicBezTo>
                  <a:pt x="1493" y="103"/>
                  <a:pt x="1493" y="103"/>
                  <a:pt x="1493" y="103"/>
                </a:cubicBezTo>
                <a:cubicBezTo>
                  <a:pt x="1493" y="46"/>
                  <a:pt x="1447" y="0"/>
                  <a:pt x="1390" y="0"/>
                </a:cubicBezTo>
                <a:cubicBezTo>
                  <a:pt x="902" y="0"/>
                  <a:pt x="902" y="0"/>
                  <a:pt x="902" y="0"/>
                </a:cubicBezTo>
                <a:cubicBezTo>
                  <a:pt x="845" y="0"/>
                  <a:pt x="799" y="46"/>
                  <a:pt x="799" y="103"/>
                </a:cubicBezTo>
                <a:cubicBezTo>
                  <a:pt x="799" y="437"/>
                  <a:pt x="799" y="437"/>
                  <a:pt x="799" y="437"/>
                </a:cubicBezTo>
                <a:cubicBezTo>
                  <a:pt x="799" y="494"/>
                  <a:pt x="845" y="540"/>
                  <a:pt x="902" y="540"/>
                </a:cubicBezTo>
                <a:close/>
                <a:moveTo>
                  <a:pt x="859" y="103"/>
                </a:moveTo>
                <a:cubicBezTo>
                  <a:pt x="859" y="79"/>
                  <a:pt x="878" y="60"/>
                  <a:pt x="902" y="60"/>
                </a:cubicBezTo>
                <a:cubicBezTo>
                  <a:pt x="1390" y="60"/>
                  <a:pt x="1390" y="60"/>
                  <a:pt x="1390" y="60"/>
                </a:cubicBezTo>
                <a:cubicBezTo>
                  <a:pt x="1413" y="60"/>
                  <a:pt x="1433" y="79"/>
                  <a:pt x="1433" y="103"/>
                </a:cubicBezTo>
                <a:cubicBezTo>
                  <a:pt x="1433" y="437"/>
                  <a:pt x="1433" y="437"/>
                  <a:pt x="1433" y="437"/>
                </a:cubicBezTo>
                <a:cubicBezTo>
                  <a:pt x="1433" y="461"/>
                  <a:pt x="1413" y="480"/>
                  <a:pt x="1390" y="480"/>
                </a:cubicBezTo>
                <a:cubicBezTo>
                  <a:pt x="902" y="480"/>
                  <a:pt x="902" y="480"/>
                  <a:pt x="902" y="480"/>
                </a:cubicBezTo>
                <a:cubicBezTo>
                  <a:pt x="878" y="480"/>
                  <a:pt x="859" y="461"/>
                  <a:pt x="859" y="437"/>
                </a:cubicBezTo>
                <a:lnTo>
                  <a:pt x="859" y="103"/>
                </a:lnTo>
                <a:close/>
                <a:moveTo>
                  <a:pt x="678" y="824"/>
                </a:moveTo>
                <a:cubicBezTo>
                  <a:pt x="1614" y="824"/>
                  <a:pt x="1614" y="824"/>
                  <a:pt x="1614" y="824"/>
                </a:cubicBezTo>
                <a:cubicBezTo>
                  <a:pt x="1628" y="824"/>
                  <a:pt x="1640" y="812"/>
                  <a:pt x="1640" y="798"/>
                </a:cubicBezTo>
                <a:cubicBezTo>
                  <a:pt x="1640" y="786"/>
                  <a:pt x="1640" y="786"/>
                  <a:pt x="1640" y="786"/>
                </a:cubicBezTo>
                <a:cubicBezTo>
                  <a:pt x="1640" y="772"/>
                  <a:pt x="1632" y="752"/>
                  <a:pt x="1623" y="741"/>
                </a:cubicBezTo>
                <a:cubicBezTo>
                  <a:pt x="1499" y="596"/>
                  <a:pt x="1499" y="596"/>
                  <a:pt x="1499" y="596"/>
                </a:cubicBezTo>
                <a:cubicBezTo>
                  <a:pt x="1490" y="585"/>
                  <a:pt x="1471" y="576"/>
                  <a:pt x="1457" y="576"/>
                </a:cubicBezTo>
                <a:cubicBezTo>
                  <a:pt x="835" y="576"/>
                  <a:pt x="835" y="576"/>
                  <a:pt x="835" y="576"/>
                </a:cubicBezTo>
                <a:cubicBezTo>
                  <a:pt x="821" y="576"/>
                  <a:pt x="802" y="585"/>
                  <a:pt x="792" y="596"/>
                </a:cubicBezTo>
                <a:cubicBezTo>
                  <a:pt x="669" y="741"/>
                  <a:pt x="669" y="741"/>
                  <a:pt x="669" y="741"/>
                </a:cubicBezTo>
                <a:cubicBezTo>
                  <a:pt x="659" y="752"/>
                  <a:pt x="652" y="772"/>
                  <a:pt x="652" y="786"/>
                </a:cubicBezTo>
                <a:cubicBezTo>
                  <a:pt x="652" y="798"/>
                  <a:pt x="652" y="798"/>
                  <a:pt x="652" y="798"/>
                </a:cubicBezTo>
                <a:cubicBezTo>
                  <a:pt x="652" y="812"/>
                  <a:pt x="664" y="824"/>
                  <a:pt x="678" y="824"/>
                </a:cubicBezTo>
                <a:close/>
                <a:moveTo>
                  <a:pt x="1450" y="1476"/>
                </a:moveTo>
                <a:cubicBezTo>
                  <a:pt x="1450" y="1810"/>
                  <a:pt x="1450" y="1810"/>
                  <a:pt x="1450" y="1810"/>
                </a:cubicBezTo>
                <a:cubicBezTo>
                  <a:pt x="1450" y="1867"/>
                  <a:pt x="1497" y="1913"/>
                  <a:pt x="1554" y="1913"/>
                </a:cubicBezTo>
                <a:cubicBezTo>
                  <a:pt x="2041" y="1913"/>
                  <a:pt x="2041" y="1913"/>
                  <a:pt x="2041" y="1913"/>
                </a:cubicBezTo>
                <a:cubicBezTo>
                  <a:pt x="2098" y="1913"/>
                  <a:pt x="2144" y="1867"/>
                  <a:pt x="2144" y="1810"/>
                </a:cubicBezTo>
                <a:cubicBezTo>
                  <a:pt x="2144" y="1476"/>
                  <a:pt x="2144" y="1476"/>
                  <a:pt x="2144" y="1476"/>
                </a:cubicBezTo>
                <a:cubicBezTo>
                  <a:pt x="2144" y="1419"/>
                  <a:pt x="2098" y="1373"/>
                  <a:pt x="2041" y="1373"/>
                </a:cubicBezTo>
                <a:cubicBezTo>
                  <a:pt x="1554" y="1373"/>
                  <a:pt x="1554" y="1373"/>
                  <a:pt x="1554" y="1373"/>
                </a:cubicBezTo>
                <a:cubicBezTo>
                  <a:pt x="1497" y="1373"/>
                  <a:pt x="1450" y="1419"/>
                  <a:pt x="1450" y="1476"/>
                </a:cubicBezTo>
                <a:close/>
                <a:moveTo>
                  <a:pt x="2084" y="1476"/>
                </a:moveTo>
                <a:cubicBezTo>
                  <a:pt x="2084" y="1810"/>
                  <a:pt x="2084" y="1810"/>
                  <a:pt x="2084" y="1810"/>
                </a:cubicBezTo>
                <a:cubicBezTo>
                  <a:pt x="2084" y="1834"/>
                  <a:pt x="2065" y="1853"/>
                  <a:pt x="2041" y="1853"/>
                </a:cubicBezTo>
                <a:cubicBezTo>
                  <a:pt x="1554" y="1853"/>
                  <a:pt x="1554" y="1853"/>
                  <a:pt x="1554" y="1853"/>
                </a:cubicBezTo>
                <a:cubicBezTo>
                  <a:pt x="1530" y="1853"/>
                  <a:pt x="1511" y="1834"/>
                  <a:pt x="1511" y="1810"/>
                </a:cubicBezTo>
                <a:cubicBezTo>
                  <a:pt x="1511" y="1476"/>
                  <a:pt x="1511" y="1476"/>
                  <a:pt x="1511" y="1476"/>
                </a:cubicBezTo>
                <a:cubicBezTo>
                  <a:pt x="1511" y="1452"/>
                  <a:pt x="1530" y="1433"/>
                  <a:pt x="1554" y="1433"/>
                </a:cubicBezTo>
                <a:cubicBezTo>
                  <a:pt x="2041" y="1433"/>
                  <a:pt x="2041" y="1433"/>
                  <a:pt x="2041" y="1433"/>
                </a:cubicBezTo>
                <a:cubicBezTo>
                  <a:pt x="2065" y="1433"/>
                  <a:pt x="2084" y="1452"/>
                  <a:pt x="2084" y="1476"/>
                </a:cubicBezTo>
                <a:close/>
                <a:moveTo>
                  <a:pt x="2275" y="2114"/>
                </a:moveTo>
                <a:cubicBezTo>
                  <a:pt x="2151" y="1969"/>
                  <a:pt x="2151" y="1969"/>
                  <a:pt x="2151" y="1969"/>
                </a:cubicBezTo>
                <a:cubicBezTo>
                  <a:pt x="2142" y="1958"/>
                  <a:pt x="2123" y="1949"/>
                  <a:pt x="2108" y="1949"/>
                </a:cubicBezTo>
                <a:cubicBezTo>
                  <a:pt x="1486" y="1949"/>
                  <a:pt x="1486" y="1949"/>
                  <a:pt x="1486" y="1949"/>
                </a:cubicBezTo>
                <a:cubicBezTo>
                  <a:pt x="1472" y="1949"/>
                  <a:pt x="1453" y="1958"/>
                  <a:pt x="1444" y="1969"/>
                </a:cubicBezTo>
                <a:cubicBezTo>
                  <a:pt x="1320" y="2114"/>
                  <a:pt x="1320" y="2114"/>
                  <a:pt x="1320" y="2114"/>
                </a:cubicBezTo>
                <a:cubicBezTo>
                  <a:pt x="1311" y="2125"/>
                  <a:pt x="1304" y="2145"/>
                  <a:pt x="1304" y="2159"/>
                </a:cubicBezTo>
                <a:cubicBezTo>
                  <a:pt x="1304" y="2171"/>
                  <a:pt x="1304" y="2171"/>
                  <a:pt x="1304" y="2171"/>
                </a:cubicBezTo>
                <a:cubicBezTo>
                  <a:pt x="1304" y="2185"/>
                  <a:pt x="1315" y="2197"/>
                  <a:pt x="1329" y="2197"/>
                </a:cubicBezTo>
                <a:cubicBezTo>
                  <a:pt x="2265" y="2197"/>
                  <a:pt x="2265" y="2197"/>
                  <a:pt x="2265" y="2197"/>
                </a:cubicBezTo>
                <a:cubicBezTo>
                  <a:pt x="2280" y="2197"/>
                  <a:pt x="2291" y="2185"/>
                  <a:pt x="2291" y="2171"/>
                </a:cubicBezTo>
                <a:cubicBezTo>
                  <a:pt x="2291" y="2159"/>
                  <a:pt x="2291" y="2159"/>
                  <a:pt x="2291" y="2159"/>
                </a:cubicBezTo>
                <a:cubicBezTo>
                  <a:pt x="2291" y="2145"/>
                  <a:pt x="2284" y="2125"/>
                  <a:pt x="2275" y="2114"/>
                </a:cubicBezTo>
                <a:close/>
                <a:moveTo>
                  <a:pt x="250" y="1913"/>
                </a:moveTo>
                <a:cubicBezTo>
                  <a:pt x="738" y="1913"/>
                  <a:pt x="738" y="1913"/>
                  <a:pt x="738" y="1913"/>
                </a:cubicBezTo>
                <a:cubicBezTo>
                  <a:pt x="795" y="1913"/>
                  <a:pt x="841" y="1867"/>
                  <a:pt x="841" y="1810"/>
                </a:cubicBezTo>
                <a:cubicBezTo>
                  <a:pt x="841" y="1476"/>
                  <a:pt x="841" y="1476"/>
                  <a:pt x="841" y="1476"/>
                </a:cubicBezTo>
                <a:cubicBezTo>
                  <a:pt x="841" y="1419"/>
                  <a:pt x="795" y="1373"/>
                  <a:pt x="738" y="1373"/>
                </a:cubicBezTo>
                <a:cubicBezTo>
                  <a:pt x="250" y="1373"/>
                  <a:pt x="250" y="1373"/>
                  <a:pt x="250" y="1373"/>
                </a:cubicBezTo>
                <a:cubicBezTo>
                  <a:pt x="193" y="1373"/>
                  <a:pt x="147" y="1419"/>
                  <a:pt x="147" y="1476"/>
                </a:cubicBezTo>
                <a:cubicBezTo>
                  <a:pt x="147" y="1810"/>
                  <a:pt x="147" y="1810"/>
                  <a:pt x="147" y="1810"/>
                </a:cubicBezTo>
                <a:cubicBezTo>
                  <a:pt x="147" y="1867"/>
                  <a:pt x="193" y="1913"/>
                  <a:pt x="250" y="1913"/>
                </a:cubicBezTo>
                <a:close/>
                <a:moveTo>
                  <a:pt x="207" y="1476"/>
                </a:moveTo>
                <a:cubicBezTo>
                  <a:pt x="207" y="1452"/>
                  <a:pt x="227" y="1433"/>
                  <a:pt x="250" y="1433"/>
                </a:cubicBezTo>
                <a:cubicBezTo>
                  <a:pt x="738" y="1433"/>
                  <a:pt x="738" y="1433"/>
                  <a:pt x="738" y="1433"/>
                </a:cubicBezTo>
                <a:cubicBezTo>
                  <a:pt x="762" y="1433"/>
                  <a:pt x="781" y="1452"/>
                  <a:pt x="781" y="1476"/>
                </a:cubicBezTo>
                <a:cubicBezTo>
                  <a:pt x="781" y="1810"/>
                  <a:pt x="781" y="1810"/>
                  <a:pt x="781" y="1810"/>
                </a:cubicBezTo>
                <a:cubicBezTo>
                  <a:pt x="781" y="1834"/>
                  <a:pt x="762" y="1853"/>
                  <a:pt x="738" y="1853"/>
                </a:cubicBezTo>
                <a:cubicBezTo>
                  <a:pt x="250" y="1853"/>
                  <a:pt x="250" y="1853"/>
                  <a:pt x="250" y="1853"/>
                </a:cubicBezTo>
                <a:cubicBezTo>
                  <a:pt x="227" y="1853"/>
                  <a:pt x="207" y="1834"/>
                  <a:pt x="207" y="1810"/>
                </a:cubicBezTo>
                <a:lnTo>
                  <a:pt x="207" y="1476"/>
                </a:lnTo>
                <a:close/>
                <a:moveTo>
                  <a:pt x="848" y="1969"/>
                </a:moveTo>
                <a:cubicBezTo>
                  <a:pt x="838" y="1958"/>
                  <a:pt x="819" y="1949"/>
                  <a:pt x="805" y="1949"/>
                </a:cubicBezTo>
                <a:cubicBezTo>
                  <a:pt x="183" y="1949"/>
                  <a:pt x="183" y="1949"/>
                  <a:pt x="183" y="1949"/>
                </a:cubicBezTo>
                <a:cubicBezTo>
                  <a:pt x="169" y="1949"/>
                  <a:pt x="150" y="1958"/>
                  <a:pt x="141" y="1969"/>
                </a:cubicBezTo>
                <a:cubicBezTo>
                  <a:pt x="17" y="2114"/>
                  <a:pt x="17" y="2114"/>
                  <a:pt x="17" y="2114"/>
                </a:cubicBezTo>
                <a:cubicBezTo>
                  <a:pt x="8" y="2125"/>
                  <a:pt x="0" y="2145"/>
                  <a:pt x="0" y="2159"/>
                </a:cubicBezTo>
                <a:cubicBezTo>
                  <a:pt x="0" y="2171"/>
                  <a:pt x="0" y="2171"/>
                  <a:pt x="0" y="2171"/>
                </a:cubicBezTo>
                <a:cubicBezTo>
                  <a:pt x="0" y="2185"/>
                  <a:pt x="12" y="2197"/>
                  <a:pt x="26" y="2197"/>
                </a:cubicBezTo>
                <a:cubicBezTo>
                  <a:pt x="962" y="2197"/>
                  <a:pt x="962" y="2197"/>
                  <a:pt x="962" y="2197"/>
                </a:cubicBezTo>
                <a:cubicBezTo>
                  <a:pt x="977" y="2197"/>
                  <a:pt x="988" y="2185"/>
                  <a:pt x="988" y="2171"/>
                </a:cubicBezTo>
                <a:cubicBezTo>
                  <a:pt x="988" y="2159"/>
                  <a:pt x="988" y="2159"/>
                  <a:pt x="988" y="2159"/>
                </a:cubicBezTo>
                <a:cubicBezTo>
                  <a:pt x="988" y="2145"/>
                  <a:pt x="981" y="2125"/>
                  <a:pt x="971" y="2114"/>
                </a:cubicBezTo>
                <a:lnTo>
                  <a:pt x="848" y="1969"/>
                </a:lnTo>
                <a:close/>
                <a:moveTo>
                  <a:pt x="971" y="1659"/>
                </a:moveTo>
                <a:cubicBezTo>
                  <a:pt x="1088" y="1659"/>
                  <a:pt x="1088" y="1659"/>
                  <a:pt x="1088" y="1659"/>
                </a:cubicBezTo>
                <a:cubicBezTo>
                  <a:pt x="1088" y="1610"/>
                  <a:pt x="1088" y="1610"/>
                  <a:pt x="1088" y="1610"/>
                </a:cubicBezTo>
                <a:cubicBezTo>
                  <a:pt x="971" y="1610"/>
                  <a:pt x="971" y="1610"/>
                  <a:pt x="971" y="1610"/>
                </a:cubicBezTo>
                <a:lnTo>
                  <a:pt x="971" y="1659"/>
                </a:lnTo>
                <a:close/>
                <a:moveTo>
                  <a:pt x="1320" y="1610"/>
                </a:moveTo>
                <a:cubicBezTo>
                  <a:pt x="1204" y="1610"/>
                  <a:pt x="1204" y="1610"/>
                  <a:pt x="1204" y="1610"/>
                </a:cubicBezTo>
                <a:cubicBezTo>
                  <a:pt x="1204" y="1659"/>
                  <a:pt x="1204" y="1659"/>
                  <a:pt x="1204" y="1659"/>
                </a:cubicBezTo>
                <a:cubicBezTo>
                  <a:pt x="1320" y="1659"/>
                  <a:pt x="1320" y="1659"/>
                  <a:pt x="1320" y="1659"/>
                </a:cubicBezTo>
                <a:lnTo>
                  <a:pt x="1320" y="1610"/>
                </a:lnTo>
                <a:close/>
              </a:path>
            </a:pathLst>
          </a:custGeom>
          <a:solidFill>
            <a:schemeClr val="tx1"/>
          </a:solidFill>
          <a:ln>
            <a:noFill/>
          </a:ln>
        </p:spPr>
        <p:txBody>
          <a:bodyPr vert="horz" wrap="square" lIns="67781" tIns="33890" rIns="67781" bIns="33890" numCol="1" anchor="t" anchorCtr="0" compatLnSpc="1">
            <a:prstTxWarp prst="textNoShape">
              <a:avLst/>
            </a:prstTxWarp>
          </a:bodyPr>
          <a:lstStyle/>
          <a:p>
            <a:endParaRPr lang="en-US" sz="1274" dirty="0"/>
          </a:p>
        </p:txBody>
      </p:sp>
      <p:sp>
        <p:nvSpPr>
          <p:cNvPr id="10" name="Freeform 14"/>
          <p:cNvSpPr>
            <a:spLocks noChangeAspect="1" noEditPoints="1"/>
          </p:cNvSpPr>
          <p:nvPr/>
        </p:nvSpPr>
        <p:spPr bwMode="black">
          <a:xfrm>
            <a:off x="5289227" y="2891152"/>
            <a:ext cx="1165352" cy="1165047"/>
          </a:xfrm>
          <a:custGeom>
            <a:avLst/>
            <a:gdLst>
              <a:gd name="T0" fmla="*/ 518 w 709"/>
              <a:gd name="T1" fmla="*/ 343 h 709"/>
              <a:gd name="T2" fmla="*/ 449 w 709"/>
              <a:gd name="T3" fmla="*/ 258 h 709"/>
              <a:gd name="T4" fmla="*/ 362 w 709"/>
              <a:gd name="T5" fmla="*/ 189 h 709"/>
              <a:gd name="T6" fmla="*/ 449 w 709"/>
              <a:gd name="T7" fmla="*/ 0 h 709"/>
              <a:gd name="T8" fmla="*/ 260 w 709"/>
              <a:gd name="T9" fmla="*/ 189 h 709"/>
              <a:gd name="T10" fmla="*/ 345 w 709"/>
              <a:gd name="T11" fmla="*/ 258 h 709"/>
              <a:gd name="T12" fmla="*/ 260 w 709"/>
              <a:gd name="T13" fmla="*/ 343 h 709"/>
              <a:gd name="T14" fmla="*/ 189 w 709"/>
              <a:gd name="T15" fmla="*/ 258 h 709"/>
              <a:gd name="T16" fmla="*/ 0 w 709"/>
              <a:gd name="T17" fmla="*/ 447 h 709"/>
              <a:gd name="T18" fmla="*/ 85 w 709"/>
              <a:gd name="T19" fmla="*/ 520 h 709"/>
              <a:gd name="T20" fmla="*/ 0 w 709"/>
              <a:gd name="T21" fmla="*/ 709 h 709"/>
              <a:gd name="T22" fmla="*/ 189 w 709"/>
              <a:gd name="T23" fmla="*/ 520 h 709"/>
              <a:gd name="T24" fmla="*/ 104 w 709"/>
              <a:gd name="T25" fmla="*/ 447 h 709"/>
              <a:gd name="T26" fmla="*/ 189 w 709"/>
              <a:gd name="T27" fmla="*/ 362 h 709"/>
              <a:gd name="T28" fmla="*/ 260 w 709"/>
              <a:gd name="T29" fmla="*/ 447 h 709"/>
              <a:gd name="T30" fmla="*/ 345 w 709"/>
              <a:gd name="T31" fmla="*/ 520 h 709"/>
              <a:gd name="T32" fmla="*/ 260 w 709"/>
              <a:gd name="T33" fmla="*/ 709 h 709"/>
              <a:gd name="T34" fmla="*/ 449 w 709"/>
              <a:gd name="T35" fmla="*/ 520 h 709"/>
              <a:gd name="T36" fmla="*/ 362 w 709"/>
              <a:gd name="T37" fmla="*/ 447 h 709"/>
              <a:gd name="T38" fmla="*/ 449 w 709"/>
              <a:gd name="T39" fmla="*/ 362 h 709"/>
              <a:gd name="T40" fmla="*/ 518 w 709"/>
              <a:gd name="T41" fmla="*/ 447 h 709"/>
              <a:gd name="T42" fmla="*/ 709 w 709"/>
              <a:gd name="T43" fmla="*/ 258 h 709"/>
              <a:gd name="T44" fmla="*/ 277 w 709"/>
              <a:gd name="T45" fmla="*/ 17 h 709"/>
              <a:gd name="T46" fmla="*/ 433 w 709"/>
              <a:gd name="T47" fmla="*/ 170 h 709"/>
              <a:gd name="T48" fmla="*/ 277 w 709"/>
              <a:gd name="T49" fmla="*/ 17 h 709"/>
              <a:gd name="T50" fmla="*/ 17 w 709"/>
              <a:gd name="T51" fmla="*/ 690 h 709"/>
              <a:gd name="T52" fmla="*/ 173 w 709"/>
              <a:gd name="T53" fmla="*/ 536 h 709"/>
              <a:gd name="T54" fmla="*/ 173 w 709"/>
              <a:gd name="T55" fmla="*/ 430 h 709"/>
              <a:gd name="T56" fmla="*/ 17 w 709"/>
              <a:gd name="T57" fmla="*/ 274 h 709"/>
              <a:gd name="T58" fmla="*/ 173 w 709"/>
              <a:gd name="T59" fmla="*/ 430 h 709"/>
              <a:gd name="T60" fmla="*/ 277 w 709"/>
              <a:gd name="T61" fmla="*/ 690 h 709"/>
              <a:gd name="T62" fmla="*/ 433 w 709"/>
              <a:gd name="T63" fmla="*/ 536 h 709"/>
              <a:gd name="T64" fmla="*/ 433 w 709"/>
              <a:gd name="T65" fmla="*/ 430 h 709"/>
              <a:gd name="T66" fmla="*/ 277 w 709"/>
              <a:gd name="T67" fmla="*/ 274 h 709"/>
              <a:gd name="T68" fmla="*/ 433 w 709"/>
              <a:gd name="T69" fmla="*/ 430 h 709"/>
              <a:gd name="T70" fmla="*/ 536 w 709"/>
              <a:gd name="T71" fmla="*/ 430 h 709"/>
              <a:gd name="T72" fmla="*/ 690 w 709"/>
              <a:gd name="T73" fmla="*/ 274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9" h="709">
                <a:moveTo>
                  <a:pt x="518" y="258"/>
                </a:moveTo>
                <a:lnTo>
                  <a:pt x="518" y="343"/>
                </a:lnTo>
                <a:lnTo>
                  <a:pt x="449" y="343"/>
                </a:lnTo>
                <a:lnTo>
                  <a:pt x="449" y="258"/>
                </a:lnTo>
                <a:lnTo>
                  <a:pt x="362" y="258"/>
                </a:lnTo>
                <a:lnTo>
                  <a:pt x="362" y="189"/>
                </a:lnTo>
                <a:lnTo>
                  <a:pt x="449" y="189"/>
                </a:lnTo>
                <a:lnTo>
                  <a:pt x="449" y="0"/>
                </a:lnTo>
                <a:lnTo>
                  <a:pt x="260" y="0"/>
                </a:lnTo>
                <a:lnTo>
                  <a:pt x="260" y="189"/>
                </a:lnTo>
                <a:lnTo>
                  <a:pt x="345" y="189"/>
                </a:lnTo>
                <a:lnTo>
                  <a:pt x="345" y="258"/>
                </a:lnTo>
                <a:lnTo>
                  <a:pt x="260" y="258"/>
                </a:lnTo>
                <a:lnTo>
                  <a:pt x="260" y="343"/>
                </a:lnTo>
                <a:lnTo>
                  <a:pt x="189" y="343"/>
                </a:lnTo>
                <a:lnTo>
                  <a:pt x="189" y="258"/>
                </a:lnTo>
                <a:lnTo>
                  <a:pt x="0" y="258"/>
                </a:lnTo>
                <a:lnTo>
                  <a:pt x="0" y="447"/>
                </a:lnTo>
                <a:lnTo>
                  <a:pt x="85" y="447"/>
                </a:lnTo>
                <a:lnTo>
                  <a:pt x="85" y="520"/>
                </a:lnTo>
                <a:lnTo>
                  <a:pt x="0" y="520"/>
                </a:lnTo>
                <a:lnTo>
                  <a:pt x="0" y="709"/>
                </a:lnTo>
                <a:lnTo>
                  <a:pt x="189" y="709"/>
                </a:lnTo>
                <a:lnTo>
                  <a:pt x="189" y="520"/>
                </a:lnTo>
                <a:lnTo>
                  <a:pt x="104" y="520"/>
                </a:lnTo>
                <a:lnTo>
                  <a:pt x="104" y="447"/>
                </a:lnTo>
                <a:lnTo>
                  <a:pt x="189" y="447"/>
                </a:lnTo>
                <a:lnTo>
                  <a:pt x="189" y="362"/>
                </a:lnTo>
                <a:lnTo>
                  <a:pt x="260" y="362"/>
                </a:lnTo>
                <a:lnTo>
                  <a:pt x="260" y="447"/>
                </a:lnTo>
                <a:lnTo>
                  <a:pt x="345" y="447"/>
                </a:lnTo>
                <a:lnTo>
                  <a:pt x="345" y="520"/>
                </a:lnTo>
                <a:lnTo>
                  <a:pt x="260" y="520"/>
                </a:lnTo>
                <a:lnTo>
                  <a:pt x="260" y="709"/>
                </a:lnTo>
                <a:lnTo>
                  <a:pt x="449" y="709"/>
                </a:lnTo>
                <a:lnTo>
                  <a:pt x="449" y="520"/>
                </a:lnTo>
                <a:lnTo>
                  <a:pt x="362" y="520"/>
                </a:lnTo>
                <a:lnTo>
                  <a:pt x="362" y="447"/>
                </a:lnTo>
                <a:lnTo>
                  <a:pt x="449" y="447"/>
                </a:lnTo>
                <a:lnTo>
                  <a:pt x="449" y="362"/>
                </a:lnTo>
                <a:lnTo>
                  <a:pt x="518" y="362"/>
                </a:lnTo>
                <a:lnTo>
                  <a:pt x="518" y="447"/>
                </a:lnTo>
                <a:lnTo>
                  <a:pt x="709" y="447"/>
                </a:lnTo>
                <a:lnTo>
                  <a:pt x="709" y="258"/>
                </a:lnTo>
                <a:lnTo>
                  <a:pt x="518" y="258"/>
                </a:lnTo>
                <a:close/>
                <a:moveTo>
                  <a:pt x="277" y="17"/>
                </a:moveTo>
                <a:lnTo>
                  <a:pt x="433" y="17"/>
                </a:lnTo>
                <a:lnTo>
                  <a:pt x="433" y="170"/>
                </a:lnTo>
                <a:lnTo>
                  <a:pt x="277" y="170"/>
                </a:lnTo>
                <a:lnTo>
                  <a:pt x="277" y="17"/>
                </a:lnTo>
                <a:close/>
                <a:moveTo>
                  <a:pt x="173" y="690"/>
                </a:moveTo>
                <a:lnTo>
                  <a:pt x="17" y="690"/>
                </a:lnTo>
                <a:lnTo>
                  <a:pt x="17" y="536"/>
                </a:lnTo>
                <a:lnTo>
                  <a:pt x="173" y="536"/>
                </a:lnTo>
                <a:lnTo>
                  <a:pt x="173" y="690"/>
                </a:lnTo>
                <a:close/>
                <a:moveTo>
                  <a:pt x="173" y="430"/>
                </a:moveTo>
                <a:lnTo>
                  <a:pt x="17" y="430"/>
                </a:lnTo>
                <a:lnTo>
                  <a:pt x="17" y="274"/>
                </a:lnTo>
                <a:lnTo>
                  <a:pt x="173" y="274"/>
                </a:lnTo>
                <a:lnTo>
                  <a:pt x="173" y="430"/>
                </a:lnTo>
                <a:close/>
                <a:moveTo>
                  <a:pt x="433" y="690"/>
                </a:moveTo>
                <a:lnTo>
                  <a:pt x="277" y="690"/>
                </a:lnTo>
                <a:lnTo>
                  <a:pt x="277" y="536"/>
                </a:lnTo>
                <a:lnTo>
                  <a:pt x="433" y="536"/>
                </a:lnTo>
                <a:lnTo>
                  <a:pt x="433" y="690"/>
                </a:lnTo>
                <a:close/>
                <a:moveTo>
                  <a:pt x="433" y="430"/>
                </a:moveTo>
                <a:lnTo>
                  <a:pt x="277" y="430"/>
                </a:lnTo>
                <a:lnTo>
                  <a:pt x="277" y="274"/>
                </a:lnTo>
                <a:lnTo>
                  <a:pt x="433" y="274"/>
                </a:lnTo>
                <a:lnTo>
                  <a:pt x="433" y="430"/>
                </a:lnTo>
                <a:close/>
                <a:moveTo>
                  <a:pt x="690" y="430"/>
                </a:moveTo>
                <a:lnTo>
                  <a:pt x="536" y="430"/>
                </a:lnTo>
                <a:lnTo>
                  <a:pt x="536" y="274"/>
                </a:lnTo>
                <a:lnTo>
                  <a:pt x="690" y="274"/>
                </a:lnTo>
                <a:lnTo>
                  <a:pt x="690" y="430"/>
                </a:lnTo>
                <a:close/>
              </a:path>
            </a:pathLst>
          </a:custGeom>
          <a:solidFill>
            <a:schemeClr val="tx1"/>
          </a:solidFill>
          <a:ln>
            <a:noFill/>
          </a:ln>
        </p:spPr>
        <p:txBody>
          <a:bodyPr vert="horz" wrap="square" lIns="67781" tIns="33890" rIns="67781" bIns="33890" numCol="1" anchor="t" anchorCtr="0" compatLnSpc="1">
            <a:prstTxWarp prst="textNoShape">
              <a:avLst/>
            </a:prstTxWarp>
          </a:bodyPr>
          <a:lstStyle/>
          <a:p>
            <a:endParaRPr lang="en-US" sz="1274" dirty="0"/>
          </a:p>
        </p:txBody>
      </p:sp>
      <p:grpSp>
        <p:nvGrpSpPr>
          <p:cNvPr id="11" name="Group 278"/>
          <p:cNvGrpSpPr>
            <a:grpSpLocks noChangeAspect="1"/>
          </p:cNvGrpSpPr>
          <p:nvPr/>
        </p:nvGrpSpPr>
        <p:grpSpPr bwMode="auto">
          <a:xfrm>
            <a:off x="9598986" y="3086770"/>
            <a:ext cx="806783" cy="897888"/>
            <a:chOff x="-130" y="-1898"/>
            <a:chExt cx="859" cy="956"/>
          </a:xfrm>
          <a:solidFill>
            <a:schemeClr val="tx1"/>
          </a:solidFill>
        </p:grpSpPr>
        <p:sp>
          <p:nvSpPr>
            <p:cNvPr id="12" name="Freeform 279"/>
            <p:cNvSpPr>
              <a:spLocks noEditPoints="1"/>
            </p:cNvSpPr>
            <p:nvPr/>
          </p:nvSpPr>
          <p:spPr bwMode="auto">
            <a:xfrm>
              <a:off x="-130" y="-1804"/>
              <a:ext cx="859" cy="862"/>
            </a:xfrm>
            <a:custGeom>
              <a:avLst/>
              <a:gdLst>
                <a:gd name="T0" fmla="*/ 182 w 364"/>
                <a:gd name="T1" fmla="*/ 365 h 365"/>
                <a:gd name="T2" fmla="*/ 0 w 364"/>
                <a:gd name="T3" fmla="*/ 183 h 365"/>
                <a:gd name="T4" fmla="*/ 182 w 364"/>
                <a:gd name="T5" fmla="*/ 0 h 365"/>
                <a:gd name="T6" fmla="*/ 364 w 364"/>
                <a:gd name="T7" fmla="*/ 183 h 365"/>
                <a:gd name="T8" fmla="*/ 182 w 364"/>
                <a:gd name="T9" fmla="*/ 365 h 365"/>
                <a:gd name="T10" fmla="*/ 182 w 364"/>
                <a:gd name="T11" fmla="*/ 23 h 365"/>
                <a:gd name="T12" fmla="*/ 22 w 364"/>
                <a:gd name="T13" fmla="*/ 182 h 365"/>
                <a:gd name="T14" fmla="*/ 182 w 364"/>
                <a:gd name="T15" fmla="*/ 342 h 365"/>
                <a:gd name="T16" fmla="*/ 342 w 364"/>
                <a:gd name="T17" fmla="*/ 182 h 365"/>
                <a:gd name="T18" fmla="*/ 182 w 364"/>
                <a:gd name="T19" fmla="*/ 23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4" h="365">
                  <a:moveTo>
                    <a:pt x="182" y="365"/>
                  </a:moveTo>
                  <a:cubicBezTo>
                    <a:pt x="81" y="365"/>
                    <a:pt x="0" y="283"/>
                    <a:pt x="0" y="183"/>
                  </a:cubicBezTo>
                  <a:cubicBezTo>
                    <a:pt x="0" y="82"/>
                    <a:pt x="81" y="0"/>
                    <a:pt x="182" y="0"/>
                  </a:cubicBezTo>
                  <a:cubicBezTo>
                    <a:pt x="283" y="0"/>
                    <a:pt x="364" y="82"/>
                    <a:pt x="364" y="183"/>
                  </a:cubicBezTo>
                  <a:cubicBezTo>
                    <a:pt x="364" y="283"/>
                    <a:pt x="283" y="365"/>
                    <a:pt x="182" y="365"/>
                  </a:cubicBezTo>
                  <a:close/>
                  <a:moveTo>
                    <a:pt x="182" y="23"/>
                  </a:moveTo>
                  <a:cubicBezTo>
                    <a:pt x="94" y="23"/>
                    <a:pt x="22" y="94"/>
                    <a:pt x="22" y="182"/>
                  </a:cubicBezTo>
                  <a:cubicBezTo>
                    <a:pt x="22" y="271"/>
                    <a:pt x="94" y="342"/>
                    <a:pt x="182" y="342"/>
                  </a:cubicBezTo>
                  <a:cubicBezTo>
                    <a:pt x="270" y="342"/>
                    <a:pt x="342" y="271"/>
                    <a:pt x="342" y="182"/>
                  </a:cubicBezTo>
                  <a:cubicBezTo>
                    <a:pt x="342" y="94"/>
                    <a:pt x="270" y="23"/>
                    <a:pt x="182"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752981"/>
              <a:endParaRPr lang="en-US" sz="1765" dirty="0">
                <a:solidFill>
                  <a:srgbClr val="FFFFFF"/>
                </a:solidFill>
              </a:endParaRPr>
            </a:p>
          </p:txBody>
        </p:sp>
        <p:sp>
          <p:nvSpPr>
            <p:cNvPr id="13" name="Freeform 280"/>
            <p:cNvSpPr>
              <a:spLocks/>
            </p:cNvSpPr>
            <p:nvPr/>
          </p:nvSpPr>
          <p:spPr bwMode="auto">
            <a:xfrm>
              <a:off x="274" y="-1723"/>
              <a:ext cx="52" cy="385"/>
            </a:xfrm>
            <a:custGeom>
              <a:avLst/>
              <a:gdLst>
                <a:gd name="T0" fmla="*/ 22 w 22"/>
                <a:gd name="T1" fmla="*/ 149 h 163"/>
                <a:gd name="T2" fmla="*/ 22 w 22"/>
                <a:gd name="T3" fmla="*/ 15 h 163"/>
                <a:gd name="T4" fmla="*/ 0 w 22"/>
                <a:gd name="T5" fmla="*/ 15 h 163"/>
                <a:gd name="T6" fmla="*/ 0 w 22"/>
                <a:gd name="T7" fmla="*/ 149 h 163"/>
                <a:gd name="T8" fmla="*/ 22 w 22"/>
                <a:gd name="T9" fmla="*/ 149 h 163"/>
              </a:gdLst>
              <a:ahLst/>
              <a:cxnLst>
                <a:cxn ang="0">
                  <a:pos x="T0" y="T1"/>
                </a:cxn>
                <a:cxn ang="0">
                  <a:pos x="T2" y="T3"/>
                </a:cxn>
                <a:cxn ang="0">
                  <a:pos x="T4" y="T5"/>
                </a:cxn>
                <a:cxn ang="0">
                  <a:pos x="T6" y="T7"/>
                </a:cxn>
                <a:cxn ang="0">
                  <a:pos x="T8" y="T9"/>
                </a:cxn>
              </a:cxnLst>
              <a:rect l="0" t="0" r="r" b="b"/>
              <a:pathLst>
                <a:path w="22" h="163">
                  <a:moveTo>
                    <a:pt x="22" y="149"/>
                  </a:moveTo>
                  <a:cubicBezTo>
                    <a:pt x="22" y="104"/>
                    <a:pt x="22" y="59"/>
                    <a:pt x="22" y="15"/>
                  </a:cubicBezTo>
                  <a:cubicBezTo>
                    <a:pt x="22" y="0"/>
                    <a:pt x="0" y="0"/>
                    <a:pt x="0" y="15"/>
                  </a:cubicBezTo>
                  <a:cubicBezTo>
                    <a:pt x="0" y="59"/>
                    <a:pt x="0" y="104"/>
                    <a:pt x="0" y="149"/>
                  </a:cubicBezTo>
                  <a:cubicBezTo>
                    <a:pt x="0" y="163"/>
                    <a:pt x="22" y="163"/>
                    <a:pt x="22"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752981"/>
              <a:endParaRPr lang="en-US" sz="1765" dirty="0">
                <a:solidFill>
                  <a:srgbClr val="FFFFFF"/>
                </a:solidFill>
              </a:endParaRPr>
            </a:p>
          </p:txBody>
        </p:sp>
        <p:sp>
          <p:nvSpPr>
            <p:cNvPr id="14" name="Freeform 281"/>
            <p:cNvSpPr>
              <a:spLocks/>
            </p:cNvSpPr>
            <p:nvPr/>
          </p:nvSpPr>
          <p:spPr bwMode="auto">
            <a:xfrm>
              <a:off x="-50" y="-1400"/>
              <a:ext cx="385" cy="54"/>
            </a:xfrm>
            <a:custGeom>
              <a:avLst/>
              <a:gdLst>
                <a:gd name="T0" fmla="*/ 148 w 163"/>
                <a:gd name="T1" fmla="*/ 0 h 23"/>
                <a:gd name="T2" fmla="*/ 14 w 163"/>
                <a:gd name="T3" fmla="*/ 0 h 23"/>
                <a:gd name="T4" fmla="*/ 14 w 163"/>
                <a:gd name="T5" fmla="*/ 23 h 23"/>
                <a:gd name="T6" fmla="*/ 148 w 163"/>
                <a:gd name="T7" fmla="*/ 23 h 23"/>
                <a:gd name="T8" fmla="*/ 148 w 163"/>
                <a:gd name="T9" fmla="*/ 0 h 23"/>
              </a:gdLst>
              <a:ahLst/>
              <a:cxnLst>
                <a:cxn ang="0">
                  <a:pos x="T0" y="T1"/>
                </a:cxn>
                <a:cxn ang="0">
                  <a:pos x="T2" y="T3"/>
                </a:cxn>
                <a:cxn ang="0">
                  <a:pos x="T4" y="T5"/>
                </a:cxn>
                <a:cxn ang="0">
                  <a:pos x="T6" y="T7"/>
                </a:cxn>
                <a:cxn ang="0">
                  <a:pos x="T8" y="T9"/>
                </a:cxn>
              </a:cxnLst>
              <a:rect l="0" t="0" r="r" b="b"/>
              <a:pathLst>
                <a:path w="163" h="23">
                  <a:moveTo>
                    <a:pt x="148" y="0"/>
                  </a:moveTo>
                  <a:cubicBezTo>
                    <a:pt x="103" y="0"/>
                    <a:pt x="59" y="0"/>
                    <a:pt x="14" y="0"/>
                  </a:cubicBezTo>
                  <a:cubicBezTo>
                    <a:pt x="0" y="0"/>
                    <a:pt x="0" y="23"/>
                    <a:pt x="14" y="23"/>
                  </a:cubicBezTo>
                  <a:cubicBezTo>
                    <a:pt x="59" y="23"/>
                    <a:pt x="103" y="23"/>
                    <a:pt x="148" y="23"/>
                  </a:cubicBezTo>
                  <a:cubicBezTo>
                    <a:pt x="163" y="23"/>
                    <a:pt x="163" y="0"/>
                    <a:pt x="1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752981"/>
              <a:endParaRPr lang="en-US" sz="1765" dirty="0">
                <a:solidFill>
                  <a:srgbClr val="FFFFFF"/>
                </a:solidFill>
              </a:endParaRPr>
            </a:p>
          </p:txBody>
        </p:sp>
        <p:sp>
          <p:nvSpPr>
            <p:cNvPr id="15" name="Freeform 282"/>
            <p:cNvSpPr>
              <a:spLocks/>
            </p:cNvSpPr>
            <p:nvPr/>
          </p:nvSpPr>
          <p:spPr bwMode="auto">
            <a:xfrm>
              <a:off x="-92" y="-1898"/>
              <a:ext cx="316" cy="231"/>
            </a:xfrm>
            <a:custGeom>
              <a:avLst/>
              <a:gdLst>
                <a:gd name="T0" fmla="*/ 5 w 134"/>
                <a:gd name="T1" fmla="*/ 75 h 98"/>
                <a:gd name="T2" fmla="*/ 12 w 134"/>
                <a:gd name="T3" fmla="*/ 98 h 98"/>
                <a:gd name="T4" fmla="*/ 134 w 134"/>
                <a:gd name="T5" fmla="*/ 31 h 98"/>
                <a:gd name="T6" fmla="*/ 116 w 134"/>
                <a:gd name="T7" fmla="*/ 11 h 98"/>
                <a:gd name="T8" fmla="*/ 116 w 134"/>
                <a:gd name="T9" fmla="*/ 11 h 98"/>
                <a:gd name="T10" fmla="*/ 48 w 134"/>
                <a:gd name="T11" fmla="*/ 22 h 98"/>
                <a:gd name="T12" fmla="*/ 5 w 134"/>
                <a:gd name="T13" fmla="*/ 75 h 98"/>
              </a:gdLst>
              <a:ahLst/>
              <a:cxnLst>
                <a:cxn ang="0">
                  <a:pos x="T0" y="T1"/>
                </a:cxn>
                <a:cxn ang="0">
                  <a:pos x="T2" y="T3"/>
                </a:cxn>
                <a:cxn ang="0">
                  <a:pos x="T4" y="T5"/>
                </a:cxn>
                <a:cxn ang="0">
                  <a:pos x="T6" y="T7"/>
                </a:cxn>
                <a:cxn ang="0">
                  <a:pos x="T8" y="T9"/>
                </a:cxn>
                <a:cxn ang="0">
                  <a:pos x="T10" y="T11"/>
                </a:cxn>
                <a:cxn ang="0">
                  <a:pos x="T12" y="T13"/>
                </a:cxn>
              </a:cxnLst>
              <a:rect l="0" t="0" r="r" b="b"/>
              <a:pathLst>
                <a:path w="134" h="98">
                  <a:moveTo>
                    <a:pt x="5" y="75"/>
                  </a:moveTo>
                  <a:cubicBezTo>
                    <a:pt x="12" y="98"/>
                    <a:pt x="12" y="98"/>
                    <a:pt x="12" y="98"/>
                  </a:cubicBezTo>
                  <a:cubicBezTo>
                    <a:pt x="44" y="63"/>
                    <a:pt x="86" y="39"/>
                    <a:pt x="134" y="31"/>
                  </a:cubicBezTo>
                  <a:cubicBezTo>
                    <a:pt x="116" y="11"/>
                    <a:pt x="116" y="11"/>
                    <a:pt x="116" y="11"/>
                  </a:cubicBezTo>
                  <a:cubicBezTo>
                    <a:pt x="116" y="11"/>
                    <a:pt x="116" y="11"/>
                    <a:pt x="116" y="11"/>
                  </a:cubicBezTo>
                  <a:cubicBezTo>
                    <a:pt x="107" y="0"/>
                    <a:pt x="78" y="5"/>
                    <a:pt x="48" y="22"/>
                  </a:cubicBezTo>
                  <a:cubicBezTo>
                    <a:pt x="19" y="39"/>
                    <a:pt x="0" y="62"/>
                    <a:pt x="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752981"/>
              <a:endParaRPr lang="en-US" sz="1765" dirty="0">
                <a:solidFill>
                  <a:srgbClr val="FFFFFF"/>
                </a:solidFill>
              </a:endParaRPr>
            </a:p>
          </p:txBody>
        </p:sp>
        <p:sp>
          <p:nvSpPr>
            <p:cNvPr id="16" name="Freeform 283"/>
            <p:cNvSpPr>
              <a:spLocks/>
            </p:cNvSpPr>
            <p:nvPr/>
          </p:nvSpPr>
          <p:spPr bwMode="auto">
            <a:xfrm>
              <a:off x="375" y="-1898"/>
              <a:ext cx="317" cy="231"/>
            </a:xfrm>
            <a:custGeom>
              <a:avLst/>
              <a:gdLst>
                <a:gd name="T0" fmla="*/ 129 w 134"/>
                <a:gd name="T1" fmla="*/ 75 h 98"/>
                <a:gd name="T2" fmla="*/ 122 w 134"/>
                <a:gd name="T3" fmla="*/ 98 h 98"/>
                <a:gd name="T4" fmla="*/ 0 w 134"/>
                <a:gd name="T5" fmla="*/ 31 h 98"/>
                <a:gd name="T6" fmla="*/ 18 w 134"/>
                <a:gd name="T7" fmla="*/ 11 h 98"/>
                <a:gd name="T8" fmla="*/ 18 w 134"/>
                <a:gd name="T9" fmla="*/ 11 h 98"/>
                <a:gd name="T10" fmla="*/ 86 w 134"/>
                <a:gd name="T11" fmla="*/ 22 h 98"/>
                <a:gd name="T12" fmla="*/ 129 w 134"/>
                <a:gd name="T13" fmla="*/ 75 h 98"/>
              </a:gdLst>
              <a:ahLst/>
              <a:cxnLst>
                <a:cxn ang="0">
                  <a:pos x="T0" y="T1"/>
                </a:cxn>
                <a:cxn ang="0">
                  <a:pos x="T2" y="T3"/>
                </a:cxn>
                <a:cxn ang="0">
                  <a:pos x="T4" y="T5"/>
                </a:cxn>
                <a:cxn ang="0">
                  <a:pos x="T6" y="T7"/>
                </a:cxn>
                <a:cxn ang="0">
                  <a:pos x="T8" y="T9"/>
                </a:cxn>
                <a:cxn ang="0">
                  <a:pos x="T10" y="T11"/>
                </a:cxn>
                <a:cxn ang="0">
                  <a:pos x="T12" y="T13"/>
                </a:cxn>
              </a:cxnLst>
              <a:rect l="0" t="0" r="r" b="b"/>
              <a:pathLst>
                <a:path w="134" h="98">
                  <a:moveTo>
                    <a:pt x="129" y="75"/>
                  </a:moveTo>
                  <a:cubicBezTo>
                    <a:pt x="122" y="98"/>
                    <a:pt x="122" y="98"/>
                    <a:pt x="122" y="98"/>
                  </a:cubicBezTo>
                  <a:cubicBezTo>
                    <a:pt x="90" y="63"/>
                    <a:pt x="48" y="39"/>
                    <a:pt x="0" y="31"/>
                  </a:cubicBezTo>
                  <a:cubicBezTo>
                    <a:pt x="18" y="11"/>
                    <a:pt x="18" y="11"/>
                    <a:pt x="18" y="11"/>
                  </a:cubicBezTo>
                  <a:cubicBezTo>
                    <a:pt x="18" y="11"/>
                    <a:pt x="18" y="11"/>
                    <a:pt x="18" y="11"/>
                  </a:cubicBezTo>
                  <a:cubicBezTo>
                    <a:pt x="27" y="0"/>
                    <a:pt x="56" y="5"/>
                    <a:pt x="86" y="22"/>
                  </a:cubicBezTo>
                  <a:cubicBezTo>
                    <a:pt x="115" y="39"/>
                    <a:pt x="134" y="62"/>
                    <a:pt x="129"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752981"/>
              <a:endParaRPr lang="en-US" sz="1765" dirty="0">
                <a:solidFill>
                  <a:srgbClr val="FFFFFF"/>
                </a:solidFill>
              </a:endParaRPr>
            </a:p>
          </p:txBody>
        </p:sp>
      </p:grpSp>
    </p:spTree>
    <p:extLst>
      <p:ext uri="{BB962C8B-B14F-4D97-AF65-F5344CB8AC3E}">
        <p14:creationId xmlns:p14="http://schemas.microsoft.com/office/powerpoint/2010/main" val="23368935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263418" y="6224779"/>
            <a:ext cx="8312519" cy="353045"/>
          </a:xfrm>
          <a:prstGeom prst="rect">
            <a:avLst/>
          </a:prstGeom>
          <a:noFill/>
        </p:spPr>
        <p:txBody>
          <a:bodyPr wrap="square" lIns="0" tIns="0" rIns="0" bIns="0" rtlCol="0">
            <a:spAutoFit/>
          </a:bodyPr>
          <a:lstStyle/>
          <a:p>
            <a:pPr algn="ctr" defTabSz="914016">
              <a:lnSpc>
                <a:spcPct val="90000"/>
              </a:lnSpc>
            </a:pPr>
            <a:r>
              <a:rPr lang="en-US" sz="2549" spc="-49" dirty="0">
                <a:gradFill>
                  <a:gsLst>
                    <a:gs pos="0">
                      <a:srgbClr val="FFFFFF">
                        <a:lumMod val="75000"/>
                      </a:srgbClr>
                    </a:gs>
                    <a:gs pos="100000">
                      <a:srgbClr val="FFFFFF">
                        <a:lumMod val="75000"/>
                      </a:srgbClr>
                    </a:gs>
                  </a:gsLst>
                  <a:lin ang="5400000" scaled="1"/>
                </a:gradFill>
                <a:latin typeface="Segoe UI Light"/>
              </a:rPr>
              <a:t>Microsoft Operation Management Suite</a:t>
            </a:r>
          </a:p>
        </p:txBody>
      </p:sp>
      <p:pic>
        <p:nvPicPr>
          <p:cNvPr id="53" name="Picture 52"/>
          <p:cNvPicPr>
            <a:picLocks noChangeAspect="1"/>
          </p:cNvPicPr>
          <p:nvPr/>
        </p:nvPicPr>
        <p:blipFill>
          <a:blip r:embed="rId3"/>
          <a:stretch>
            <a:fillRect/>
          </a:stretch>
        </p:blipFill>
        <p:spPr>
          <a:xfrm>
            <a:off x="865" y="487"/>
            <a:ext cx="12190271" cy="6857027"/>
          </a:xfrm>
          <a:prstGeom prst="rect">
            <a:avLst/>
          </a:prstGeom>
        </p:spPr>
      </p:pic>
      <p:sp>
        <p:nvSpPr>
          <p:cNvPr id="3" name="Title 2"/>
          <p:cNvSpPr>
            <a:spLocks noGrp="1"/>
          </p:cNvSpPr>
          <p:nvPr>
            <p:ph type="title"/>
          </p:nvPr>
        </p:nvSpPr>
        <p:spPr/>
        <p:txBody>
          <a:bodyPr/>
          <a:lstStyle/>
          <a:p>
            <a:r>
              <a:rPr lang="en-US" dirty="0"/>
              <a:t>Operations Management Suite</a:t>
            </a:r>
          </a:p>
        </p:txBody>
      </p:sp>
      <p:sp>
        <p:nvSpPr>
          <p:cNvPr id="54" name="Arc 53"/>
          <p:cNvSpPr/>
          <p:nvPr/>
        </p:nvSpPr>
        <p:spPr bwMode="auto">
          <a:xfrm>
            <a:off x="6937710" y="1985035"/>
            <a:ext cx="2887932" cy="2887932"/>
          </a:xfrm>
          <a:prstGeom prst="arc">
            <a:avLst>
              <a:gd name="adj1" fmla="val 1593904"/>
              <a:gd name="adj2" fmla="val 20508871"/>
            </a:avLst>
          </a:prstGeom>
          <a:noFill/>
          <a:ln w="381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rtlCol="0" anchor="ctr" anchorCtr="0" compatLnSpc="1">
            <a:prstTxWarp prst="textNoShape">
              <a:avLst/>
            </a:prstTxWarp>
          </a:bodyPr>
          <a:lstStyle/>
          <a:p>
            <a:pPr algn="ctr" defTabSz="931935" fontAlgn="base">
              <a:lnSpc>
                <a:spcPct val="90000"/>
              </a:lnSpc>
              <a:spcBef>
                <a:spcPct val="0"/>
              </a:spcBef>
              <a:spcAft>
                <a:spcPct val="0"/>
              </a:spcAft>
              <a:defRPr/>
            </a:pPr>
            <a:endParaRPr lang="en-US" dirty="0">
              <a:solidFill>
                <a:srgbClr val="FFFFFF"/>
              </a:solidFill>
            </a:endParaRPr>
          </a:p>
        </p:txBody>
      </p:sp>
      <p:grpSp>
        <p:nvGrpSpPr>
          <p:cNvPr id="55" name="Group 54"/>
          <p:cNvGrpSpPr/>
          <p:nvPr/>
        </p:nvGrpSpPr>
        <p:grpSpPr>
          <a:xfrm>
            <a:off x="7211665" y="2640196"/>
            <a:ext cx="3437325" cy="1313124"/>
            <a:chOff x="4260454" y="1262640"/>
            <a:chExt cx="3438300" cy="1313497"/>
          </a:xfrm>
        </p:grpSpPr>
        <p:sp>
          <p:nvSpPr>
            <p:cNvPr id="56" name="Freeform 6"/>
            <p:cNvSpPr>
              <a:spLocks/>
            </p:cNvSpPr>
            <p:nvPr/>
          </p:nvSpPr>
          <p:spPr bwMode="auto">
            <a:xfrm flipH="1">
              <a:off x="4260454" y="1262640"/>
              <a:ext cx="3438300" cy="1313497"/>
            </a:xfrm>
            <a:custGeom>
              <a:avLst/>
              <a:gdLst>
                <a:gd name="T0" fmla="*/ 349 w 391"/>
                <a:gd name="T1" fmla="*/ 74 h 158"/>
                <a:gd name="T2" fmla="*/ 342 w 391"/>
                <a:gd name="T3" fmla="*/ 75 h 158"/>
                <a:gd name="T4" fmla="*/ 263 w 391"/>
                <a:gd name="T5" fmla="*/ 0 h 158"/>
                <a:gd name="T6" fmla="*/ 186 w 391"/>
                <a:gd name="T7" fmla="*/ 59 h 158"/>
                <a:gd name="T8" fmla="*/ 145 w 391"/>
                <a:gd name="T9" fmla="*/ 41 h 158"/>
                <a:gd name="T10" fmla="*/ 86 w 391"/>
                <a:gd name="T11" fmla="*/ 94 h 158"/>
                <a:gd name="T12" fmla="*/ 59 w 391"/>
                <a:gd name="T13" fmla="*/ 107 h 158"/>
                <a:gd name="T14" fmla="*/ 32 w 391"/>
                <a:gd name="T15" fmla="*/ 93 h 158"/>
                <a:gd name="T16" fmla="*/ 0 w 391"/>
                <a:gd name="T17" fmla="*/ 126 h 158"/>
                <a:gd name="T18" fmla="*/ 32 w 391"/>
                <a:gd name="T19" fmla="*/ 158 h 158"/>
                <a:gd name="T20" fmla="*/ 41 w 391"/>
                <a:gd name="T21" fmla="*/ 158 h 158"/>
                <a:gd name="T22" fmla="*/ 148 w 391"/>
                <a:gd name="T23" fmla="*/ 158 h 158"/>
                <a:gd name="T24" fmla="*/ 208 w 391"/>
                <a:gd name="T25" fmla="*/ 158 h 158"/>
                <a:gd name="T26" fmla="*/ 351 w 391"/>
                <a:gd name="T27" fmla="*/ 158 h 158"/>
                <a:gd name="T28" fmla="*/ 351 w 391"/>
                <a:gd name="T29" fmla="*/ 158 h 158"/>
                <a:gd name="T30" fmla="*/ 391 w 391"/>
                <a:gd name="T31" fmla="*/ 116 h 158"/>
                <a:gd name="T32" fmla="*/ 349 w 391"/>
                <a:gd name="T33" fmla="*/ 7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1" h="158">
                  <a:moveTo>
                    <a:pt x="349" y="74"/>
                  </a:moveTo>
                  <a:cubicBezTo>
                    <a:pt x="347" y="74"/>
                    <a:pt x="344" y="75"/>
                    <a:pt x="342" y="75"/>
                  </a:cubicBezTo>
                  <a:cubicBezTo>
                    <a:pt x="340" y="33"/>
                    <a:pt x="305" y="0"/>
                    <a:pt x="263" y="0"/>
                  </a:cubicBezTo>
                  <a:cubicBezTo>
                    <a:pt x="226" y="0"/>
                    <a:pt x="195" y="25"/>
                    <a:pt x="186" y="59"/>
                  </a:cubicBezTo>
                  <a:cubicBezTo>
                    <a:pt x="176" y="48"/>
                    <a:pt x="161" y="41"/>
                    <a:pt x="145" y="41"/>
                  </a:cubicBezTo>
                  <a:cubicBezTo>
                    <a:pt x="114" y="41"/>
                    <a:pt x="89" y="64"/>
                    <a:pt x="86" y="94"/>
                  </a:cubicBezTo>
                  <a:cubicBezTo>
                    <a:pt x="76" y="95"/>
                    <a:pt x="66" y="100"/>
                    <a:pt x="59" y="107"/>
                  </a:cubicBezTo>
                  <a:cubicBezTo>
                    <a:pt x="53" y="98"/>
                    <a:pt x="43" y="93"/>
                    <a:pt x="32" y="93"/>
                  </a:cubicBezTo>
                  <a:cubicBezTo>
                    <a:pt x="14" y="93"/>
                    <a:pt x="0" y="108"/>
                    <a:pt x="0" y="126"/>
                  </a:cubicBezTo>
                  <a:cubicBezTo>
                    <a:pt x="0" y="144"/>
                    <a:pt x="14" y="158"/>
                    <a:pt x="32" y="158"/>
                  </a:cubicBezTo>
                  <a:cubicBezTo>
                    <a:pt x="41" y="158"/>
                    <a:pt x="41" y="158"/>
                    <a:pt x="41" y="158"/>
                  </a:cubicBezTo>
                  <a:cubicBezTo>
                    <a:pt x="148" y="158"/>
                    <a:pt x="148" y="158"/>
                    <a:pt x="148" y="158"/>
                  </a:cubicBezTo>
                  <a:cubicBezTo>
                    <a:pt x="208" y="158"/>
                    <a:pt x="208" y="158"/>
                    <a:pt x="208" y="158"/>
                  </a:cubicBezTo>
                  <a:cubicBezTo>
                    <a:pt x="351" y="158"/>
                    <a:pt x="351" y="158"/>
                    <a:pt x="351" y="158"/>
                  </a:cubicBezTo>
                  <a:cubicBezTo>
                    <a:pt x="351" y="158"/>
                    <a:pt x="351" y="158"/>
                    <a:pt x="351" y="158"/>
                  </a:cubicBezTo>
                  <a:cubicBezTo>
                    <a:pt x="373" y="157"/>
                    <a:pt x="391" y="139"/>
                    <a:pt x="391" y="116"/>
                  </a:cubicBezTo>
                  <a:cubicBezTo>
                    <a:pt x="391" y="93"/>
                    <a:pt x="372" y="74"/>
                    <a:pt x="349" y="74"/>
                  </a:cubicBezTo>
                  <a:close/>
                </a:path>
              </a:pathLst>
            </a:custGeom>
            <a:solidFill>
              <a:schemeClr val="tx1">
                <a:lumMod val="95000"/>
              </a:schemeClr>
            </a:solidFill>
            <a:ln>
              <a:noFill/>
            </a:ln>
            <a:effectLst/>
            <a:extLst/>
          </p:spPr>
          <p:txBody>
            <a:bodyPr vert="horz" wrap="square" lIns="89617" tIns="44808" rIns="89617" bIns="44808" numCol="1" anchor="t" anchorCtr="0" compatLnSpc="1">
              <a:prstTxWarp prst="textNoShape">
                <a:avLst/>
              </a:prstTxWarp>
              <a:noAutofit/>
            </a:bodyPr>
            <a:lstStyle/>
            <a:p>
              <a:pPr algn="ctr" defTabSz="914049" fontAlgn="base">
                <a:defRPr/>
              </a:pPr>
              <a:endParaRPr lang="en-US" sz="1567" kern="0" dirty="0">
                <a:solidFill>
                  <a:srgbClr val="505050"/>
                </a:solidFill>
              </a:endParaRPr>
            </a:p>
          </p:txBody>
        </p:sp>
        <p:sp>
          <p:nvSpPr>
            <p:cNvPr id="57" name="Rectangle 56"/>
            <p:cNvSpPr/>
            <p:nvPr/>
          </p:nvSpPr>
          <p:spPr>
            <a:xfrm>
              <a:off x="4868711" y="1817939"/>
              <a:ext cx="2518092" cy="600891"/>
            </a:xfrm>
            <a:prstGeom prst="rect">
              <a:avLst/>
            </a:prstGeom>
          </p:spPr>
          <p:txBody>
            <a:bodyPr wrap="square">
              <a:spAutoFit/>
            </a:bodyPr>
            <a:lstStyle/>
            <a:p>
              <a:pPr defTabSz="914016">
                <a:lnSpc>
                  <a:spcPct val="90000"/>
                </a:lnSpc>
              </a:pPr>
              <a:r>
                <a:rPr lang="en-US" spc="-49" dirty="0">
                  <a:solidFill>
                    <a:srgbClr val="0078D7">
                      <a:lumMod val="50000"/>
                    </a:srgbClr>
                  </a:solidFill>
                </a:rPr>
                <a:t>Operations</a:t>
              </a:r>
            </a:p>
            <a:p>
              <a:pPr defTabSz="914016">
                <a:lnSpc>
                  <a:spcPct val="90000"/>
                </a:lnSpc>
              </a:pPr>
              <a:r>
                <a:rPr lang="en-US" spc="-49" dirty="0">
                  <a:solidFill>
                    <a:srgbClr val="0078D7">
                      <a:lumMod val="50000"/>
                    </a:srgbClr>
                  </a:solidFill>
                </a:rPr>
                <a:t>Management Suite</a:t>
              </a:r>
            </a:p>
          </p:txBody>
        </p:sp>
      </p:grpSp>
      <p:sp>
        <p:nvSpPr>
          <p:cNvPr id="6" name="Trapezoid 5"/>
          <p:cNvSpPr/>
          <p:nvPr/>
        </p:nvSpPr>
        <p:spPr bwMode="auto">
          <a:xfrm rot="5400000">
            <a:off x="1894711" y="-39423"/>
            <a:ext cx="3149151" cy="6936845"/>
          </a:xfrm>
          <a:prstGeom prst="trapezoid">
            <a:avLst>
              <a:gd name="adj" fmla="val 38433"/>
            </a:avLst>
          </a:prstGeom>
          <a:solidFill>
            <a:schemeClr val="accent1">
              <a:alpha val="4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19" fontAlgn="base">
              <a:spcBef>
                <a:spcPct val="0"/>
              </a:spcBef>
              <a:spcAft>
                <a:spcPct val="0"/>
              </a:spcAft>
            </a:pPr>
            <a:endParaRPr lang="en-US" sz="2000" dirty="0">
              <a:gradFill>
                <a:gsLst>
                  <a:gs pos="16814">
                    <a:srgbClr val="FFFFFF"/>
                  </a:gs>
                  <a:gs pos="46000">
                    <a:srgbClr val="FFFFFF"/>
                  </a:gs>
                </a:gsLst>
                <a:lin ang="5400000" scaled="0"/>
              </a:gradFill>
            </a:endParaRPr>
          </a:p>
        </p:txBody>
      </p:sp>
      <p:sp>
        <p:nvSpPr>
          <p:cNvPr id="58" name="TextBox 57"/>
          <p:cNvSpPr txBox="1"/>
          <p:nvPr/>
        </p:nvSpPr>
        <p:spPr>
          <a:xfrm>
            <a:off x="4384439" y="2855166"/>
            <a:ext cx="1285079"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Linux</a:t>
            </a:r>
          </a:p>
        </p:txBody>
      </p:sp>
      <p:sp>
        <p:nvSpPr>
          <p:cNvPr id="59" name="TextBox 58"/>
          <p:cNvSpPr txBox="1"/>
          <p:nvPr/>
        </p:nvSpPr>
        <p:spPr>
          <a:xfrm>
            <a:off x="4225306" y="3398193"/>
            <a:ext cx="1374531"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Patching</a:t>
            </a:r>
          </a:p>
        </p:txBody>
      </p:sp>
      <p:sp>
        <p:nvSpPr>
          <p:cNvPr id="60" name="TextBox 59"/>
          <p:cNvSpPr txBox="1"/>
          <p:nvPr/>
        </p:nvSpPr>
        <p:spPr>
          <a:xfrm>
            <a:off x="2752165" y="3044116"/>
            <a:ext cx="1434243"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Inventory</a:t>
            </a:r>
          </a:p>
        </p:txBody>
      </p:sp>
      <p:sp>
        <p:nvSpPr>
          <p:cNvPr id="61" name="TextBox 60"/>
          <p:cNvSpPr txBox="1"/>
          <p:nvPr/>
        </p:nvSpPr>
        <p:spPr>
          <a:xfrm>
            <a:off x="2236076" y="2475943"/>
            <a:ext cx="1836499"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Wire Data</a:t>
            </a:r>
          </a:p>
        </p:txBody>
      </p:sp>
      <p:sp>
        <p:nvSpPr>
          <p:cNvPr id="62" name="TextBox 61"/>
          <p:cNvSpPr txBox="1"/>
          <p:nvPr/>
        </p:nvSpPr>
        <p:spPr>
          <a:xfrm>
            <a:off x="128621" y="3781708"/>
            <a:ext cx="2323077" cy="803824"/>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Remote OS Management</a:t>
            </a:r>
          </a:p>
        </p:txBody>
      </p:sp>
      <p:sp>
        <p:nvSpPr>
          <p:cNvPr id="63" name="TextBox 62"/>
          <p:cNvSpPr txBox="1"/>
          <p:nvPr/>
        </p:nvSpPr>
        <p:spPr>
          <a:xfrm>
            <a:off x="752505" y="2808450"/>
            <a:ext cx="1893644"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Configuration</a:t>
            </a:r>
          </a:p>
        </p:txBody>
      </p:sp>
      <p:sp>
        <p:nvSpPr>
          <p:cNvPr id="64" name="TextBox 63"/>
          <p:cNvSpPr txBox="1"/>
          <p:nvPr/>
        </p:nvSpPr>
        <p:spPr>
          <a:xfrm>
            <a:off x="181184" y="2156227"/>
            <a:ext cx="1704637"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Containers</a:t>
            </a:r>
          </a:p>
        </p:txBody>
      </p:sp>
      <p:sp>
        <p:nvSpPr>
          <p:cNvPr id="65" name="TextBox 64"/>
          <p:cNvSpPr txBox="1"/>
          <p:nvPr/>
        </p:nvSpPr>
        <p:spPr>
          <a:xfrm>
            <a:off x="2717483" y="3734229"/>
            <a:ext cx="1285079"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Alerting</a:t>
            </a:r>
          </a:p>
        </p:txBody>
      </p:sp>
      <p:sp>
        <p:nvSpPr>
          <p:cNvPr id="66" name="TextBox 65"/>
          <p:cNvSpPr txBox="1"/>
          <p:nvPr/>
        </p:nvSpPr>
        <p:spPr>
          <a:xfrm>
            <a:off x="1563458" y="3490760"/>
            <a:ext cx="1285079"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CMDB</a:t>
            </a:r>
          </a:p>
        </p:txBody>
      </p:sp>
      <p:sp>
        <p:nvSpPr>
          <p:cNvPr id="67" name="TextBox 66"/>
          <p:cNvSpPr txBox="1"/>
          <p:nvPr/>
        </p:nvSpPr>
        <p:spPr>
          <a:xfrm rot="591511">
            <a:off x="1469617" y="2073914"/>
            <a:ext cx="6916497"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Analytics | </a:t>
            </a:r>
            <a:r>
              <a:rPr lang="en-US" b="1" dirty="0">
                <a:solidFill>
                  <a:srgbClr val="FFFFFF"/>
                </a:solidFill>
              </a:rPr>
              <a:t>Automation</a:t>
            </a:r>
            <a:r>
              <a:rPr lang="en-US" dirty="0">
                <a:solidFill>
                  <a:srgbClr val="FFFFFF"/>
                </a:solidFill>
              </a:rPr>
              <a:t> | Recovery    &gt;&gt;</a:t>
            </a:r>
          </a:p>
        </p:txBody>
      </p:sp>
      <p:sp>
        <p:nvSpPr>
          <p:cNvPr id="68" name="TextBox 67"/>
          <p:cNvSpPr txBox="1"/>
          <p:nvPr/>
        </p:nvSpPr>
        <p:spPr>
          <a:xfrm rot="20993100">
            <a:off x="1209879" y="4287045"/>
            <a:ext cx="6916497" cy="544688"/>
          </a:xfrm>
          <a:prstGeom prst="rect">
            <a:avLst/>
          </a:prstGeom>
          <a:noFill/>
        </p:spPr>
        <p:txBody>
          <a:bodyPr wrap="square" lIns="182854" tIns="146284" rIns="182854" bIns="146284" rtlCol="0">
            <a:spAutoFit/>
          </a:bodyPr>
          <a:lstStyle/>
          <a:p>
            <a:pPr>
              <a:lnSpc>
                <a:spcPct val="90000"/>
              </a:lnSpc>
              <a:spcAft>
                <a:spcPts val="600"/>
              </a:spcAft>
            </a:pPr>
            <a:r>
              <a:rPr lang="en-US" dirty="0">
                <a:solidFill>
                  <a:srgbClr val="FFFFFF"/>
                </a:solidFill>
              </a:rPr>
              <a:t>Security | Update | Change | Dashboards   &gt;&gt;</a:t>
            </a:r>
          </a:p>
        </p:txBody>
      </p:sp>
      <p:grpSp>
        <p:nvGrpSpPr>
          <p:cNvPr id="69" name="Group 68"/>
          <p:cNvGrpSpPr/>
          <p:nvPr/>
        </p:nvGrpSpPr>
        <p:grpSpPr>
          <a:xfrm>
            <a:off x="6140772" y="5191117"/>
            <a:ext cx="1089939" cy="1454554"/>
            <a:chOff x="2416275" y="4798284"/>
            <a:chExt cx="404726" cy="540118"/>
          </a:xfrm>
        </p:grpSpPr>
        <p:sp>
          <p:nvSpPr>
            <p:cNvPr id="93" name="Freeform 10"/>
            <p:cNvSpPr>
              <a:spLocks noEditPoints="1"/>
            </p:cNvSpPr>
            <p:nvPr/>
          </p:nvSpPr>
          <p:spPr bwMode="auto">
            <a:xfrm>
              <a:off x="2416275" y="5026226"/>
              <a:ext cx="253616" cy="312176"/>
            </a:xfrm>
            <a:custGeom>
              <a:avLst/>
              <a:gdLst>
                <a:gd name="T0" fmla="*/ 0 w 2776"/>
                <a:gd name="T1" fmla="*/ 0 h 3417"/>
                <a:gd name="T2" fmla="*/ 0 w 2776"/>
                <a:gd name="T3" fmla="*/ 3417 h 3417"/>
                <a:gd name="T4" fmla="*/ 902 w 2776"/>
                <a:gd name="T5" fmla="*/ 3417 h 3417"/>
                <a:gd name="T6" fmla="*/ 902 w 2776"/>
                <a:gd name="T7" fmla="*/ 2717 h 3417"/>
                <a:gd name="T8" fmla="*/ 1264 w 2776"/>
                <a:gd name="T9" fmla="*/ 2717 h 3417"/>
                <a:gd name="T10" fmla="*/ 1264 w 2776"/>
                <a:gd name="T11" fmla="*/ 3417 h 3417"/>
                <a:gd name="T12" fmla="*/ 1526 w 2776"/>
                <a:gd name="T13" fmla="*/ 3417 h 3417"/>
                <a:gd name="T14" fmla="*/ 1526 w 2776"/>
                <a:gd name="T15" fmla="*/ 2717 h 3417"/>
                <a:gd name="T16" fmla="*/ 1889 w 2776"/>
                <a:gd name="T17" fmla="*/ 2717 h 3417"/>
                <a:gd name="T18" fmla="*/ 1889 w 2776"/>
                <a:gd name="T19" fmla="*/ 3417 h 3417"/>
                <a:gd name="T20" fmla="*/ 2776 w 2776"/>
                <a:gd name="T21" fmla="*/ 3417 h 3417"/>
                <a:gd name="T22" fmla="*/ 2776 w 2776"/>
                <a:gd name="T23" fmla="*/ 0 h 3417"/>
                <a:gd name="T24" fmla="*/ 0 w 2776"/>
                <a:gd name="T25" fmla="*/ 0 h 3417"/>
                <a:gd name="T26" fmla="*/ 2516 w 2776"/>
                <a:gd name="T27" fmla="*/ 2495 h 3417"/>
                <a:gd name="T28" fmla="*/ 275 w 2776"/>
                <a:gd name="T29" fmla="*/ 2495 h 3417"/>
                <a:gd name="T30" fmla="*/ 275 w 2776"/>
                <a:gd name="T31" fmla="*/ 2135 h 3417"/>
                <a:gd name="T32" fmla="*/ 2516 w 2776"/>
                <a:gd name="T33" fmla="*/ 2135 h 3417"/>
                <a:gd name="T34" fmla="*/ 2516 w 2776"/>
                <a:gd name="T35" fmla="*/ 2495 h 3417"/>
                <a:gd name="T36" fmla="*/ 2516 w 2776"/>
                <a:gd name="T37" fmla="*/ 1870 h 3417"/>
                <a:gd name="T38" fmla="*/ 275 w 2776"/>
                <a:gd name="T39" fmla="*/ 1870 h 3417"/>
                <a:gd name="T40" fmla="*/ 275 w 2776"/>
                <a:gd name="T41" fmla="*/ 1511 h 3417"/>
                <a:gd name="T42" fmla="*/ 2516 w 2776"/>
                <a:gd name="T43" fmla="*/ 1511 h 3417"/>
                <a:gd name="T44" fmla="*/ 2516 w 2776"/>
                <a:gd name="T45" fmla="*/ 1870 h 3417"/>
                <a:gd name="T46" fmla="*/ 2516 w 2776"/>
                <a:gd name="T47" fmla="*/ 1248 h 3417"/>
                <a:gd name="T48" fmla="*/ 275 w 2776"/>
                <a:gd name="T49" fmla="*/ 1248 h 3417"/>
                <a:gd name="T50" fmla="*/ 275 w 2776"/>
                <a:gd name="T51" fmla="*/ 889 h 3417"/>
                <a:gd name="T52" fmla="*/ 2516 w 2776"/>
                <a:gd name="T53" fmla="*/ 889 h 3417"/>
                <a:gd name="T54" fmla="*/ 2516 w 2776"/>
                <a:gd name="T55" fmla="*/ 1248 h 3417"/>
                <a:gd name="T56" fmla="*/ 2516 w 2776"/>
                <a:gd name="T57" fmla="*/ 626 h 3417"/>
                <a:gd name="T58" fmla="*/ 275 w 2776"/>
                <a:gd name="T59" fmla="*/ 626 h 3417"/>
                <a:gd name="T60" fmla="*/ 275 w 2776"/>
                <a:gd name="T61" fmla="*/ 267 h 3417"/>
                <a:gd name="T62" fmla="*/ 2516 w 2776"/>
                <a:gd name="T63" fmla="*/ 267 h 3417"/>
                <a:gd name="T64" fmla="*/ 2516 w 2776"/>
                <a:gd name="T65" fmla="*/ 626 h 3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76" h="3417">
                  <a:moveTo>
                    <a:pt x="0" y="0"/>
                  </a:moveTo>
                  <a:lnTo>
                    <a:pt x="0" y="3417"/>
                  </a:lnTo>
                  <a:lnTo>
                    <a:pt x="902" y="3417"/>
                  </a:lnTo>
                  <a:lnTo>
                    <a:pt x="902" y="2717"/>
                  </a:lnTo>
                  <a:lnTo>
                    <a:pt x="1264" y="2717"/>
                  </a:lnTo>
                  <a:lnTo>
                    <a:pt x="1264" y="3417"/>
                  </a:lnTo>
                  <a:lnTo>
                    <a:pt x="1526" y="3417"/>
                  </a:lnTo>
                  <a:lnTo>
                    <a:pt x="1526" y="2717"/>
                  </a:lnTo>
                  <a:lnTo>
                    <a:pt x="1889" y="2717"/>
                  </a:lnTo>
                  <a:lnTo>
                    <a:pt x="1889" y="3417"/>
                  </a:lnTo>
                  <a:lnTo>
                    <a:pt x="2776" y="3417"/>
                  </a:lnTo>
                  <a:lnTo>
                    <a:pt x="2776" y="0"/>
                  </a:lnTo>
                  <a:lnTo>
                    <a:pt x="0" y="0"/>
                  </a:lnTo>
                  <a:close/>
                  <a:moveTo>
                    <a:pt x="2516" y="2495"/>
                  </a:moveTo>
                  <a:lnTo>
                    <a:pt x="275" y="2495"/>
                  </a:lnTo>
                  <a:lnTo>
                    <a:pt x="275" y="2135"/>
                  </a:lnTo>
                  <a:lnTo>
                    <a:pt x="2516" y="2135"/>
                  </a:lnTo>
                  <a:lnTo>
                    <a:pt x="2516" y="2495"/>
                  </a:lnTo>
                  <a:close/>
                  <a:moveTo>
                    <a:pt x="2516" y="1870"/>
                  </a:moveTo>
                  <a:lnTo>
                    <a:pt x="275" y="1870"/>
                  </a:lnTo>
                  <a:lnTo>
                    <a:pt x="275" y="1511"/>
                  </a:lnTo>
                  <a:lnTo>
                    <a:pt x="2516" y="1511"/>
                  </a:lnTo>
                  <a:lnTo>
                    <a:pt x="2516" y="1870"/>
                  </a:lnTo>
                  <a:close/>
                  <a:moveTo>
                    <a:pt x="2516" y="1248"/>
                  </a:moveTo>
                  <a:lnTo>
                    <a:pt x="275" y="1248"/>
                  </a:lnTo>
                  <a:lnTo>
                    <a:pt x="275" y="889"/>
                  </a:lnTo>
                  <a:lnTo>
                    <a:pt x="2516" y="889"/>
                  </a:lnTo>
                  <a:lnTo>
                    <a:pt x="2516" y="1248"/>
                  </a:lnTo>
                  <a:close/>
                  <a:moveTo>
                    <a:pt x="2516" y="626"/>
                  </a:moveTo>
                  <a:lnTo>
                    <a:pt x="275" y="626"/>
                  </a:lnTo>
                  <a:lnTo>
                    <a:pt x="275" y="267"/>
                  </a:lnTo>
                  <a:lnTo>
                    <a:pt x="2516" y="267"/>
                  </a:lnTo>
                  <a:lnTo>
                    <a:pt x="2516" y="6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94" name="Freeform 11"/>
            <p:cNvSpPr>
              <a:spLocks noEditPoints="1"/>
            </p:cNvSpPr>
            <p:nvPr/>
          </p:nvSpPr>
          <p:spPr bwMode="auto">
            <a:xfrm>
              <a:off x="2567385" y="4798284"/>
              <a:ext cx="253616" cy="540118"/>
            </a:xfrm>
            <a:custGeom>
              <a:avLst/>
              <a:gdLst>
                <a:gd name="T0" fmla="*/ 0 w 2776"/>
                <a:gd name="T1" fmla="*/ 0 h 5912"/>
                <a:gd name="T2" fmla="*/ 0 w 2776"/>
                <a:gd name="T3" fmla="*/ 2308 h 5912"/>
                <a:gd name="T4" fmla="*/ 275 w 2776"/>
                <a:gd name="T5" fmla="*/ 2308 h 5912"/>
                <a:gd name="T6" fmla="*/ 275 w 2776"/>
                <a:gd name="T7" fmla="*/ 2137 h 5912"/>
                <a:gd name="T8" fmla="*/ 2516 w 2776"/>
                <a:gd name="T9" fmla="*/ 2137 h 5912"/>
                <a:gd name="T10" fmla="*/ 2516 w 2776"/>
                <a:gd name="T11" fmla="*/ 2497 h 5912"/>
                <a:gd name="T12" fmla="*/ 1389 w 2776"/>
                <a:gd name="T13" fmla="*/ 2497 h 5912"/>
                <a:gd name="T14" fmla="*/ 1389 w 2776"/>
                <a:gd name="T15" fmla="*/ 2762 h 5912"/>
                <a:gd name="T16" fmla="*/ 2516 w 2776"/>
                <a:gd name="T17" fmla="*/ 2762 h 5912"/>
                <a:gd name="T18" fmla="*/ 2516 w 2776"/>
                <a:gd name="T19" fmla="*/ 3121 h 5912"/>
                <a:gd name="T20" fmla="*/ 1389 w 2776"/>
                <a:gd name="T21" fmla="*/ 3121 h 5912"/>
                <a:gd name="T22" fmla="*/ 1389 w 2776"/>
                <a:gd name="T23" fmla="*/ 3384 h 5912"/>
                <a:gd name="T24" fmla="*/ 2516 w 2776"/>
                <a:gd name="T25" fmla="*/ 3384 h 5912"/>
                <a:gd name="T26" fmla="*/ 2516 w 2776"/>
                <a:gd name="T27" fmla="*/ 3743 h 5912"/>
                <a:gd name="T28" fmla="*/ 1389 w 2776"/>
                <a:gd name="T29" fmla="*/ 3743 h 5912"/>
                <a:gd name="T30" fmla="*/ 1389 w 2776"/>
                <a:gd name="T31" fmla="*/ 4006 h 5912"/>
                <a:gd name="T32" fmla="*/ 2516 w 2776"/>
                <a:gd name="T33" fmla="*/ 4006 h 5912"/>
                <a:gd name="T34" fmla="*/ 2516 w 2776"/>
                <a:gd name="T35" fmla="*/ 4365 h 5912"/>
                <a:gd name="T36" fmla="*/ 1389 w 2776"/>
                <a:gd name="T37" fmla="*/ 4365 h 5912"/>
                <a:gd name="T38" fmla="*/ 1389 w 2776"/>
                <a:gd name="T39" fmla="*/ 4630 h 5912"/>
                <a:gd name="T40" fmla="*/ 2516 w 2776"/>
                <a:gd name="T41" fmla="*/ 4630 h 5912"/>
                <a:gd name="T42" fmla="*/ 2516 w 2776"/>
                <a:gd name="T43" fmla="*/ 4990 h 5912"/>
                <a:gd name="T44" fmla="*/ 1389 w 2776"/>
                <a:gd name="T45" fmla="*/ 4990 h 5912"/>
                <a:gd name="T46" fmla="*/ 1389 w 2776"/>
                <a:gd name="T47" fmla="*/ 5912 h 5912"/>
                <a:gd name="T48" fmla="*/ 1527 w 2776"/>
                <a:gd name="T49" fmla="*/ 5912 h 5912"/>
                <a:gd name="T50" fmla="*/ 1527 w 2776"/>
                <a:gd name="T51" fmla="*/ 5212 h 5912"/>
                <a:gd name="T52" fmla="*/ 1889 w 2776"/>
                <a:gd name="T53" fmla="*/ 5212 h 5912"/>
                <a:gd name="T54" fmla="*/ 1889 w 2776"/>
                <a:gd name="T55" fmla="*/ 5912 h 5912"/>
                <a:gd name="T56" fmla="*/ 2776 w 2776"/>
                <a:gd name="T57" fmla="*/ 5912 h 5912"/>
                <a:gd name="T58" fmla="*/ 2776 w 2776"/>
                <a:gd name="T59" fmla="*/ 0 h 5912"/>
                <a:gd name="T60" fmla="*/ 0 w 2776"/>
                <a:gd name="T61" fmla="*/ 0 h 5912"/>
                <a:gd name="T62" fmla="*/ 2516 w 2776"/>
                <a:gd name="T63" fmla="*/ 1875 h 5912"/>
                <a:gd name="T64" fmla="*/ 275 w 2776"/>
                <a:gd name="T65" fmla="*/ 1875 h 5912"/>
                <a:gd name="T66" fmla="*/ 275 w 2776"/>
                <a:gd name="T67" fmla="*/ 1515 h 5912"/>
                <a:gd name="T68" fmla="*/ 2516 w 2776"/>
                <a:gd name="T69" fmla="*/ 1515 h 5912"/>
                <a:gd name="T70" fmla="*/ 2516 w 2776"/>
                <a:gd name="T71" fmla="*/ 1875 h 5912"/>
                <a:gd name="T72" fmla="*/ 2516 w 2776"/>
                <a:gd name="T73" fmla="*/ 1258 h 5912"/>
                <a:gd name="T74" fmla="*/ 275 w 2776"/>
                <a:gd name="T75" fmla="*/ 1258 h 5912"/>
                <a:gd name="T76" fmla="*/ 275 w 2776"/>
                <a:gd name="T77" fmla="*/ 898 h 5912"/>
                <a:gd name="T78" fmla="*/ 2516 w 2776"/>
                <a:gd name="T79" fmla="*/ 898 h 5912"/>
                <a:gd name="T80" fmla="*/ 2516 w 2776"/>
                <a:gd name="T81" fmla="*/ 1258 h 5912"/>
                <a:gd name="T82" fmla="*/ 2516 w 2776"/>
                <a:gd name="T83" fmla="*/ 636 h 5912"/>
                <a:gd name="T84" fmla="*/ 275 w 2776"/>
                <a:gd name="T85" fmla="*/ 636 h 5912"/>
                <a:gd name="T86" fmla="*/ 275 w 2776"/>
                <a:gd name="T87" fmla="*/ 276 h 5912"/>
                <a:gd name="T88" fmla="*/ 2516 w 2776"/>
                <a:gd name="T89" fmla="*/ 276 h 5912"/>
                <a:gd name="T90" fmla="*/ 2516 w 2776"/>
                <a:gd name="T91" fmla="*/ 636 h 5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76" h="5912">
                  <a:moveTo>
                    <a:pt x="0" y="0"/>
                  </a:moveTo>
                  <a:lnTo>
                    <a:pt x="0" y="2308"/>
                  </a:lnTo>
                  <a:lnTo>
                    <a:pt x="275" y="2308"/>
                  </a:lnTo>
                  <a:lnTo>
                    <a:pt x="275" y="2137"/>
                  </a:lnTo>
                  <a:lnTo>
                    <a:pt x="2516" y="2137"/>
                  </a:lnTo>
                  <a:lnTo>
                    <a:pt x="2516" y="2497"/>
                  </a:lnTo>
                  <a:lnTo>
                    <a:pt x="1389" y="2497"/>
                  </a:lnTo>
                  <a:lnTo>
                    <a:pt x="1389" y="2762"/>
                  </a:lnTo>
                  <a:lnTo>
                    <a:pt x="2516" y="2762"/>
                  </a:lnTo>
                  <a:lnTo>
                    <a:pt x="2516" y="3121"/>
                  </a:lnTo>
                  <a:lnTo>
                    <a:pt x="1389" y="3121"/>
                  </a:lnTo>
                  <a:lnTo>
                    <a:pt x="1389" y="3384"/>
                  </a:lnTo>
                  <a:lnTo>
                    <a:pt x="2516" y="3384"/>
                  </a:lnTo>
                  <a:lnTo>
                    <a:pt x="2516" y="3743"/>
                  </a:lnTo>
                  <a:lnTo>
                    <a:pt x="1389" y="3743"/>
                  </a:lnTo>
                  <a:lnTo>
                    <a:pt x="1389" y="4006"/>
                  </a:lnTo>
                  <a:lnTo>
                    <a:pt x="2516" y="4006"/>
                  </a:lnTo>
                  <a:lnTo>
                    <a:pt x="2516" y="4365"/>
                  </a:lnTo>
                  <a:lnTo>
                    <a:pt x="1389" y="4365"/>
                  </a:lnTo>
                  <a:lnTo>
                    <a:pt x="1389" y="4630"/>
                  </a:lnTo>
                  <a:lnTo>
                    <a:pt x="2516" y="4630"/>
                  </a:lnTo>
                  <a:lnTo>
                    <a:pt x="2516" y="4990"/>
                  </a:lnTo>
                  <a:lnTo>
                    <a:pt x="1389" y="4990"/>
                  </a:lnTo>
                  <a:lnTo>
                    <a:pt x="1389" y="5912"/>
                  </a:lnTo>
                  <a:lnTo>
                    <a:pt x="1527" y="5912"/>
                  </a:lnTo>
                  <a:lnTo>
                    <a:pt x="1527" y="5212"/>
                  </a:lnTo>
                  <a:lnTo>
                    <a:pt x="1889" y="5212"/>
                  </a:lnTo>
                  <a:lnTo>
                    <a:pt x="1889" y="5912"/>
                  </a:lnTo>
                  <a:lnTo>
                    <a:pt x="2776" y="5912"/>
                  </a:lnTo>
                  <a:lnTo>
                    <a:pt x="2776" y="0"/>
                  </a:lnTo>
                  <a:lnTo>
                    <a:pt x="0" y="0"/>
                  </a:lnTo>
                  <a:close/>
                  <a:moveTo>
                    <a:pt x="2516" y="1875"/>
                  </a:moveTo>
                  <a:lnTo>
                    <a:pt x="275" y="1875"/>
                  </a:lnTo>
                  <a:lnTo>
                    <a:pt x="275" y="1515"/>
                  </a:lnTo>
                  <a:lnTo>
                    <a:pt x="2516" y="1515"/>
                  </a:lnTo>
                  <a:lnTo>
                    <a:pt x="2516" y="1875"/>
                  </a:lnTo>
                  <a:close/>
                  <a:moveTo>
                    <a:pt x="2516" y="1258"/>
                  </a:moveTo>
                  <a:lnTo>
                    <a:pt x="275" y="1258"/>
                  </a:lnTo>
                  <a:lnTo>
                    <a:pt x="275" y="898"/>
                  </a:lnTo>
                  <a:lnTo>
                    <a:pt x="2516" y="898"/>
                  </a:lnTo>
                  <a:lnTo>
                    <a:pt x="2516" y="1258"/>
                  </a:lnTo>
                  <a:close/>
                  <a:moveTo>
                    <a:pt x="2516" y="636"/>
                  </a:moveTo>
                  <a:lnTo>
                    <a:pt x="275" y="636"/>
                  </a:lnTo>
                  <a:lnTo>
                    <a:pt x="275" y="276"/>
                  </a:lnTo>
                  <a:lnTo>
                    <a:pt x="2516" y="276"/>
                  </a:lnTo>
                  <a:lnTo>
                    <a:pt x="2516" y="63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grpSp>
      <p:grpSp>
        <p:nvGrpSpPr>
          <p:cNvPr id="95" name="Group 94"/>
          <p:cNvGrpSpPr/>
          <p:nvPr/>
        </p:nvGrpSpPr>
        <p:grpSpPr>
          <a:xfrm>
            <a:off x="7446543" y="5975804"/>
            <a:ext cx="527349" cy="684380"/>
            <a:chOff x="3073400" y="7754938"/>
            <a:chExt cx="3929063" cy="5099050"/>
          </a:xfrm>
          <a:solidFill>
            <a:schemeClr val="tx1">
              <a:lumMod val="95000"/>
            </a:schemeClr>
          </a:solidFill>
        </p:grpSpPr>
        <p:sp>
          <p:nvSpPr>
            <p:cNvPr id="96" name="Freeform 5"/>
            <p:cNvSpPr>
              <a:spLocks noEditPoints="1"/>
            </p:cNvSpPr>
            <p:nvPr/>
          </p:nvSpPr>
          <p:spPr bwMode="auto">
            <a:xfrm>
              <a:off x="3073400" y="7754938"/>
              <a:ext cx="3929063" cy="5099050"/>
            </a:xfrm>
            <a:custGeom>
              <a:avLst/>
              <a:gdLst>
                <a:gd name="T0" fmla="*/ 0 w 1045"/>
                <a:gd name="T1" fmla="*/ 0 h 1357"/>
                <a:gd name="T2" fmla="*/ 0 w 1045"/>
                <a:gd name="T3" fmla="*/ 1357 h 1357"/>
                <a:gd name="T4" fmla="*/ 1045 w 1045"/>
                <a:gd name="T5" fmla="*/ 1357 h 1357"/>
                <a:gd name="T6" fmla="*/ 1045 w 1045"/>
                <a:gd name="T7" fmla="*/ 0 h 1357"/>
                <a:gd name="T8" fmla="*/ 0 w 1045"/>
                <a:gd name="T9" fmla="*/ 0 h 1357"/>
                <a:gd name="T10" fmla="*/ 933 w 1045"/>
                <a:gd name="T11" fmla="*/ 998 h 1357"/>
                <a:gd name="T12" fmla="*/ 863 w 1045"/>
                <a:gd name="T13" fmla="*/ 1064 h 1357"/>
                <a:gd name="T14" fmla="*/ 182 w 1045"/>
                <a:gd name="T15" fmla="*/ 1064 h 1357"/>
                <a:gd name="T16" fmla="*/ 112 w 1045"/>
                <a:gd name="T17" fmla="*/ 998 h 1357"/>
                <a:gd name="T18" fmla="*/ 112 w 1045"/>
                <a:gd name="T19" fmla="*/ 985 h 1357"/>
                <a:gd name="T20" fmla="*/ 182 w 1045"/>
                <a:gd name="T21" fmla="*/ 920 h 1357"/>
                <a:gd name="T22" fmla="*/ 549 w 1045"/>
                <a:gd name="T23" fmla="*/ 920 h 1357"/>
                <a:gd name="T24" fmla="*/ 863 w 1045"/>
                <a:gd name="T25" fmla="*/ 920 h 1357"/>
                <a:gd name="T26" fmla="*/ 933 w 1045"/>
                <a:gd name="T27" fmla="*/ 985 h 1357"/>
                <a:gd name="T28" fmla="*/ 933 w 1045"/>
                <a:gd name="T29" fmla="*/ 998 h 1357"/>
                <a:gd name="T30" fmla="*/ 933 w 1045"/>
                <a:gd name="T31" fmla="*/ 743 h 1357"/>
                <a:gd name="T32" fmla="*/ 863 w 1045"/>
                <a:gd name="T33" fmla="*/ 808 h 1357"/>
                <a:gd name="T34" fmla="*/ 182 w 1045"/>
                <a:gd name="T35" fmla="*/ 808 h 1357"/>
                <a:gd name="T36" fmla="*/ 112 w 1045"/>
                <a:gd name="T37" fmla="*/ 743 h 1357"/>
                <a:gd name="T38" fmla="*/ 112 w 1045"/>
                <a:gd name="T39" fmla="*/ 729 h 1357"/>
                <a:gd name="T40" fmla="*/ 182 w 1045"/>
                <a:gd name="T41" fmla="*/ 664 h 1357"/>
                <a:gd name="T42" fmla="*/ 549 w 1045"/>
                <a:gd name="T43" fmla="*/ 664 h 1357"/>
                <a:gd name="T44" fmla="*/ 863 w 1045"/>
                <a:gd name="T45" fmla="*/ 664 h 1357"/>
                <a:gd name="T46" fmla="*/ 933 w 1045"/>
                <a:gd name="T47" fmla="*/ 729 h 1357"/>
                <a:gd name="T48" fmla="*/ 933 w 1045"/>
                <a:gd name="T49" fmla="*/ 743 h 1357"/>
                <a:gd name="T50" fmla="*/ 933 w 1045"/>
                <a:gd name="T51" fmla="*/ 487 h 1357"/>
                <a:gd name="T52" fmla="*/ 863 w 1045"/>
                <a:gd name="T53" fmla="*/ 553 h 1357"/>
                <a:gd name="T54" fmla="*/ 182 w 1045"/>
                <a:gd name="T55" fmla="*/ 553 h 1357"/>
                <a:gd name="T56" fmla="*/ 112 w 1045"/>
                <a:gd name="T57" fmla="*/ 487 h 1357"/>
                <a:gd name="T58" fmla="*/ 112 w 1045"/>
                <a:gd name="T59" fmla="*/ 474 h 1357"/>
                <a:gd name="T60" fmla="*/ 182 w 1045"/>
                <a:gd name="T61" fmla="*/ 408 h 1357"/>
                <a:gd name="T62" fmla="*/ 549 w 1045"/>
                <a:gd name="T63" fmla="*/ 408 h 1357"/>
                <a:gd name="T64" fmla="*/ 863 w 1045"/>
                <a:gd name="T65" fmla="*/ 408 h 1357"/>
                <a:gd name="T66" fmla="*/ 933 w 1045"/>
                <a:gd name="T67" fmla="*/ 474 h 1357"/>
                <a:gd name="T68" fmla="*/ 933 w 1045"/>
                <a:gd name="T69" fmla="*/ 487 h 1357"/>
                <a:gd name="T70" fmla="*/ 933 w 1045"/>
                <a:gd name="T71" fmla="*/ 231 h 1357"/>
                <a:gd name="T72" fmla="*/ 863 w 1045"/>
                <a:gd name="T73" fmla="*/ 297 h 1357"/>
                <a:gd name="T74" fmla="*/ 182 w 1045"/>
                <a:gd name="T75" fmla="*/ 297 h 1357"/>
                <a:gd name="T76" fmla="*/ 112 w 1045"/>
                <a:gd name="T77" fmla="*/ 231 h 1357"/>
                <a:gd name="T78" fmla="*/ 112 w 1045"/>
                <a:gd name="T79" fmla="*/ 218 h 1357"/>
                <a:gd name="T80" fmla="*/ 182 w 1045"/>
                <a:gd name="T81" fmla="*/ 153 h 1357"/>
                <a:gd name="T82" fmla="*/ 549 w 1045"/>
                <a:gd name="T83" fmla="*/ 153 h 1357"/>
                <a:gd name="T84" fmla="*/ 863 w 1045"/>
                <a:gd name="T85" fmla="*/ 153 h 1357"/>
                <a:gd name="T86" fmla="*/ 933 w 1045"/>
                <a:gd name="T87" fmla="*/ 218 h 1357"/>
                <a:gd name="T88" fmla="*/ 933 w 1045"/>
                <a:gd name="T89" fmla="*/ 231 h 1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45" h="1357">
                  <a:moveTo>
                    <a:pt x="0" y="0"/>
                  </a:moveTo>
                  <a:cubicBezTo>
                    <a:pt x="0" y="1357"/>
                    <a:pt x="0" y="1357"/>
                    <a:pt x="0" y="1357"/>
                  </a:cubicBezTo>
                  <a:cubicBezTo>
                    <a:pt x="1045" y="1357"/>
                    <a:pt x="1045" y="1357"/>
                    <a:pt x="1045" y="1357"/>
                  </a:cubicBezTo>
                  <a:cubicBezTo>
                    <a:pt x="1045" y="0"/>
                    <a:pt x="1045" y="0"/>
                    <a:pt x="1045" y="0"/>
                  </a:cubicBezTo>
                  <a:lnTo>
                    <a:pt x="0" y="0"/>
                  </a:lnTo>
                  <a:close/>
                  <a:moveTo>
                    <a:pt x="933" y="998"/>
                  </a:moveTo>
                  <a:cubicBezTo>
                    <a:pt x="933" y="1064"/>
                    <a:pt x="863" y="1064"/>
                    <a:pt x="863" y="1064"/>
                  </a:cubicBezTo>
                  <a:cubicBezTo>
                    <a:pt x="182" y="1064"/>
                    <a:pt x="182" y="1064"/>
                    <a:pt x="182" y="1064"/>
                  </a:cubicBezTo>
                  <a:cubicBezTo>
                    <a:pt x="112" y="1064"/>
                    <a:pt x="112" y="998"/>
                    <a:pt x="112" y="998"/>
                  </a:cubicBezTo>
                  <a:cubicBezTo>
                    <a:pt x="112" y="985"/>
                    <a:pt x="112" y="985"/>
                    <a:pt x="112" y="985"/>
                  </a:cubicBezTo>
                  <a:cubicBezTo>
                    <a:pt x="112" y="920"/>
                    <a:pt x="182" y="920"/>
                    <a:pt x="182" y="920"/>
                  </a:cubicBezTo>
                  <a:cubicBezTo>
                    <a:pt x="549" y="920"/>
                    <a:pt x="549" y="920"/>
                    <a:pt x="549" y="920"/>
                  </a:cubicBezTo>
                  <a:cubicBezTo>
                    <a:pt x="863" y="920"/>
                    <a:pt x="863" y="920"/>
                    <a:pt x="863" y="920"/>
                  </a:cubicBezTo>
                  <a:cubicBezTo>
                    <a:pt x="933" y="920"/>
                    <a:pt x="933" y="985"/>
                    <a:pt x="933" y="985"/>
                  </a:cubicBezTo>
                  <a:lnTo>
                    <a:pt x="933" y="998"/>
                  </a:lnTo>
                  <a:close/>
                  <a:moveTo>
                    <a:pt x="933" y="743"/>
                  </a:moveTo>
                  <a:cubicBezTo>
                    <a:pt x="933" y="808"/>
                    <a:pt x="863" y="808"/>
                    <a:pt x="863" y="808"/>
                  </a:cubicBezTo>
                  <a:cubicBezTo>
                    <a:pt x="182" y="808"/>
                    <a:pt x="182" y="808"/>
                    <a:pt x="182" y="808"/>
                  </a:cubicBezTo>
                  <a:cubicBezTo>
                    <a:pt x="112" y="808"/>
                    <a:pt x="112" y="743"/>
                    <a:pt x="112" y="743"/>
                  </a:cubicBezTo>
                  <a:cubicBezTo>
                    <a:pt x="112" y="729"/>
                    <a:pt x="112" y="729"/>
                    <a:pt x="112" y="729"/>
                  </a:cubicBezTo>
                  <a:cubicBezTo>
                    <a:pt x="112" y="664"/>
                    <a:pt x="182" y="664"/>
                    <a:pt x="182" y="664"/>
                  </a:cubicBezTo>
                  <a:cubicBezTo>
                    <a:pt x="549" y="664"/>
                    <a:pt x="549" y="664"/>
                    <a:pt x="549" y="664"/>
                  </a:cubicBezTo>
                  <a:cubicBezTo>
                    <a:pt x="863" y="664"/>
                    <a:pt x="863" y="664"/>
                    <a:pt x="863" y="664"/>
                  </a:cubicBezTo>
                  <a:cubicBezTo>
                    <a:pt x="933" y="664"/>
                    <a:pt x="933" y="729"/>
                    <a:pt x="933" y="729"/>
                  </a:cubicBezTo>
                  <a:lnTo>
                    <a:pt x="933" y="743"/>
                  </a:lnTo>
                  <a:close/>
                  <a:moveTo>
                    <a:pt x="933" y="487"/>
                  </a:moveTo>
                  <a:cubicBezTo>
                    <a:pt x="933" y="553"/>
                    <a:pt x="863" y="553"/>
                    <a:pt x="863" y="553"/>
                  </a:cubicBezTo>
                  <a:cubicBezTo>
                    <a:pt x="182" y="553"/>
                    <a:pt x="182" y="553"/>
                    <a:pt x="182" y="553"/>
                  </a:cubicBezTo>
                  <a:cubicBezTo>
                    <a:pt x="112" y="553"/>
                    <a:pt x="112" y="487"/>
                    <a:pt x="112" y="487"/>
                  </a:cubicBezTo>
                  <a:cubicBezTo>
                    <a:pt x="112" y="474"/>
                    <a:pt x="112" y="474"/>
                    <a:pt x="112" y="474"/>
                  </a:cubicBezTo>
                  <a:cubicBezTo>
                    <a:pt x="112" y="408"/>
                    <a:pt x="182" y="408"/>
                    <a:pt x="182" y="408"/>
                  </a:cubicBezTo>
                  <a:cubicBezTo>
                    <a:pt x="549" y="408"/>
                    <a:pt x="549" y="408"/>
                    <a:pt x="549" y="408"/>
                  </a:cubicBezTo>
                  <a:cubicBezTo>
                    <a:pt x="863" y="408"/>
                    <a:pt x="863" y="408"/>
                    <a:pt x="863" y="408"/>
                  </a:cubicBezTo>
                  <a:cubicBezTo>
                    <a:pt x="933" y="408"/>
                    <a:pt x="933" y="474"/>
                    <a:pt x="933" y="474"/>
                  </a:cubicBezTo>
                  <a:lnTo>
                    <a:pt x="933" y="487"/>
                  </a:lnTo>
                  <a:close/>
                  <a:moveTo>
                    <a:pt x="933" y="231"/>
                  </a:moveTo>
                  <a:cubicBezTo>
                    <a:pt x="933" y="297"/>
                    <a:pt x="863" y="297"/>
                    <a:pt x="863" y="297"/>
                  </a:cubicBezTo>
                  <a:cubicBezTo>
                    <a:pt x="182" y="297"/>
                    <a:pt x="182" y="297"/>
                    <a:pt x="182" y="297"/>
                  </a:cubicBezTo>
                  <a:cubicBezTo>
                    <a:pt x="112" y="297"/>
                    <a:pt x="112" y="231"/>
                    <a:pt x="112" y="231"/>
                  </a:cubicBezTo>
                  <a:cubicBezTo>
                    <a:pt x="112" y="218"/>
                    <a:pt x="112" y="218"/>
                    <a:pt x="112" y="218"/>
                  </a:cubicBezTo>
                  <a:cubicBezTo>
                    <a:pt x="112" y="153"/>
                    <a:pt x="182" y="153"/>
                    <a:pt x="182" y="153"/>
                  </a:cubicBezTo>
                  <a:cubicBezTo>
                    <a:pt x="549" y="153"/>
                    <a:pt x="549" y="153"/>
                    <a:pt x="549" y="153"/>
                  </a:cubicBezTo>
                  <a:cubicBezTo>
                    <a:pt x="863" y="153"/>
                    <a:pt x="863" y="153"/>
                    <a:pt x="863" y="153"/>
                  </a:cubicBezTo>
                  <a:cubicBezTo>
                    <a:pt x="933" y="153"/>
                    <a:pt x="933" y="218"/>
                    <a:pt x="933" y="218"/>
                  </a:cubicBezTo>
                  <a:lnTo>
                    <a:pt x="933" y="2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97" name="Oval 6"/>
            <p:cNvSpPr>
              <a:spLocks noChangeArrowheads="1"/>
            </p:cNvSpPr>
            <p:nvPr/>
          </p:nvSpPr>
          <p:spPr bwMode="auto">
            <a:xfrm>
              <a:off x="6111875" y="8442326"/>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98" name="Oval 7"/>
            <p:cNvSpPr>
              <a:spLocks noChangeArrowheads="1"/>
            </p:cNvSpPr>
            <p:nvPr/>
          </p:nvSpPr>
          <p:spPr bwMode="auto">
            <a:xfrm>
              <a:off x="6111875" y="9404351"/>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99" name="Oval 8"/>
            <p:cNvSpPr>
              <a:spLocks noChangeArrowheads="1"/>
            </p:cNvSpPr>
            <p:nvPr/>
          </p:nvSpPr>
          <p:spPr bwMode="auto">
            <a:xfrm>
              <a:off x="6111875" y="10366376"/>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100" name="Oval 9"/>
            <p:cNvSpPr>
              <a:spLocks noChangeArrowheads="1"/>
            </p:cNvSpPr>
            <p:nvPr/>
          </p:nvSpPr>
          <p:spPr bwMode="auto">
            <a:xfrm>
              <a:off x="6111875" y="11328401"/>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grpSp>
      <p:grpSp>
        <p:nvGrpSpPr>
          <p:cNvPr id="101" name="Group 100"/>
          <p:cNvGrpSpPr/>
          <p:nvPr/>
        </p:nvGrpSpPr>
        <p:grpSpPr>
          <a:xfrm>
            <a:off x="8059684" y="6242308"/>
            <a:ext cx="321993" cy="417876"/>
            <a:chOff x="3073400" y="7754938"/>
            <a:chExt cx="3929063" cy="5099050"/>
          </a:xfrm>
          <a:solidFill>
            <a:schemeClr val="tx1">
              <a:lumMod val="95000"/>
            </a:schemeClr>
          </a:solidFill>
        </p:grpSpPr>
        <p:sp>
          <p:nvSpPr>
            <p:cNvPr id="102" name="Freeform 5"/>
            <p:cNvSpPr>
              <a:spLocks noEditPoints="1"/>
            </p:cNvSpPr>
            <p:nvPr/>
          </p:nvSpPr>
          <p:spPr bwMode="auto">
            <a:xfrm>
              <a:off x="3073400" y="7754938"/>
              <a:ext cx="3929063" cy="5099050"/>
            </a:xfrm>
            <a:custGeom>
              <a:avLst/>
              <a:gdLst>
                <a:gd name="T0" fmla="*/ 0 w 1045"/>
                <a:gd name="T1" fmla="*/ 0 h 1357"/>
                <a:gd name="T2" fmla="*/ 0 w 1045"/>
                <a:gd name="T3" fmla="*/ 1357 h 1357"/>
                <a:gd name="T4" fmla="*/ 1045 w 1045"/>
                <a:gd name="T5" fmla="*/ 1357 h 1357"/>
                <a:gd name="T6" fmla="*/ 1045 w 1045"/>
                <a:gd name="T7" fmla="*/ 0 h 1357"/>
                <a:gd name="T8" fmla="*/ 0 w 1045"/>
                <a:gd name="T9" fmla="*/ 0 h 1357"/>
                <a:gd name="T10" fmla="*/ 933 w 1045"/>
                <a:gd name="T11" fmla="*/ 998 h 1357"/>
                <a:gd name="T12" fmla="*/ 863 w 1045"/>
                <a:gd name="T13" fmla="*/ 1064 h 1357"/>
                <a:gd name="T14" fmla="*/ 182 w 1045"/>
                <a:gd name="T15" fmla="*/ 1064 h 1357"/>
                <a:gd name="T16" fmla="*/ 112 w 1045"/>
                <a:gd name="T17" fmla="*/ 998 h 1357"/>
                <a:gd name="T18" fmla="*/ 112 w 1045"/>
                <a:gd name="T19" fmla="*/ 985 h 1357"/>
                <a:gd name="T20" fmla="*/ 182 w 1045"/>
                <a:gd name="T21" fmla="*/ 920 h 1357"/>
                <a:gd name="T22" fmla="*/ 549 w 1045"/>
                <a:gd name="T23" fmla="*/ 920 h 1357"/>
                <a:gd name="T24" fmla="*/ 863 w 1045"/>
                <a:gd name="T25" fmla="*/ 920 h 1357"/>
                <a:gd name="T26" fmla="*/ 933 w 1045"/>
                <a:gd name="T27" fmla="*/ 985 h 1357"/>
                <a:gd name="T28" fmla="*/ 933 w 1045"/>
                <a:gd name="T29" fmla="*/ 998 h 1357"/>
                <a:gd name="T30" fmla="*/ 933 w 1045"/>
                <a:gd name="T31" fmla="*/ 743 h 1357"/>
                <a:gd name="T32" fmla="*/ 863 w 1045"/>
                <a:gd name="T33" fmla="*/ 808 h 1357"/>
                <a:gd name="T34" fmla="*/ 182 w 1045"/>
                <a:gd name="T35" fmla="*/ 808 h 1357"/>
                <a:gd name="T36" fmla="*/ 112 w 1045"/>
                <a:gd name="T37" fmla="*/ 743 h 1357"/>
                <a:gd name="T38" fmla="*/ 112 w 1045"/>
                <a:gd name="T39" fmla="*/ 729 h 1357"/>
                <a:gd name="T40" fmla="*/ 182 w 1045"/>
                <a:gd name="T41" fmla="*/ 664 h 1357"/>
                <a:gd name="T42" fmla="*/ 549 w 1045"/>
                <a:gd name="T43" fmla="*/ 664 h 1357"/>
                <a:gd name="T44" fmla="*/ 863 w 1045"/>
                <a:gd name="T45" fmla="*/ 664 h 1357"/>
                <a:gd name="T46" fmla="*/ 933 w 1045"/>
                <a:gd name="T47" fmla="*/ 729 h 1357"/>
                <a:gd name="T48" fmla="*/ 933 w 1045"/>
                <a:gd name="T49" fmla="*/ 743 h 1357"/>
                <a:gd name="T50" fmla="*/ 933 w 1045"/>
                <a:gd name="T51" fmla="*/ 487 h 1357"/>
                <a:gd name="T52" fmla="*/ 863 w 1045"/>
                <a:gd name="T53" fmla="*/ 553 h 1357"/>
                <a:gd name="T54" fmla="*/ 182 w 1045"/>
                <a:gd name="T55" fmla="*/ 553 h 1357"/>
                <a:gd name="T56" fmla="*/ 112 w 1045"/>
                <a:gd name="T57" fmla="*/ 487 h 1357"/>
                <a:gd name="T58" fmla="*/ 112 w 1045"/>
                <a:gd name="T59" fmla="*/ 474 h 1357"/>
                <a:gd name="T60" fmla="*/ 182 w 1045"/>
                <a:gd name="T61" fmla="*/ 408 h 1357"/>
                <a:gd name="T62" fmla="*/ 549 w 1045"/>
                <a:gd name="T63" fmla="*/ 408 h 1357"/>
                <a:gd name="T64" fmla="*/ 863 w 1045"/>
                <a:gd name="T65" fmla="*/ 408 h 1357"/>
                <a:gd name="T66" fmla="*/ 933 w 1045"/>
                <a:gd name="T67" fmla="*/ 474 h 1357"/>
                <a:gd name="T68" fmla="*/ 933 w 1045"/>
                <a:gd name="T69" fmla="*/ 487 h 1357"/>
                <a:gd name="T70" fmla="*/ 933 w 1045"/>
                <a:gd name="T71" fmla="*/ 231 h 1357"/>
                <a:gd name="T72" fmla="*/ 863 w 1045"/>
                <a:gd name="T73" fmla="*/ 297 h 1357"/>
                <a:gd name="T74" fmla="*/ 182 w 1045"/>
                <a:gd name="T75" fmla="*/ 297 h 1357"/>
                <a:gd name="T76" fmla="*/ 112 w 1045"/>
                <a:gd name="T77" fmla="*/ 231 h 1357"/>
                <a:gd name="T78" fmla="*/ 112 w 1045"/>
                <a:gd name="T79" fmla="*/ 218 h 1357"/>
                <a:gd name="T80" fmla="*/ 182 w 1045"/>
                <a:gd name="T81" fmla="*/ 153 h 1357"/>
                <a:gd name="T82" fmla="*/ 549 w 1045"/>
                <a:gd name="T83" fmla="*/ 153 h 1357"/>
                <a:gd name="T84" fmla="*/ 863 w 1045"/>
                <a:gd name="T85" fmla="*/ 153 h 1357"/>
                <a:gd name="T86" fmla="*/ 933 w 1045"/>
                <a:gd name="T87" fmla="*/ 218 h 1357"/>
                <a:gd name="T88" fmla="*/ 933 w 1045"/>
                <a:gd name="T89" fmla="*/ 231 h 1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45" h="1357">
                  <a:moveTo>
                    <a:pt x="0" y="0"/>
                  </a:moveTo>
                  <a:cubicBezTo>
                    <a:pt x="0" y="1357"/>
                    <a:pt x="0" y="1357"/>
                    <a:pt x="0" y="1357"/>
                  </a:cubicBezTo>
                  <a:cubicBezTo>
                    <a:pt x="1045" y="1357"/>
                    <a:pt x="1045" y="1357"/>
                    <a:pt x="1045" y="1357"/>
                  </a:cubicBezTo>
                  <a:cubicBezTo>
                    <a:pt x="1045" y="0"/>
                    <a:pt x="1045" y="0"/>
                    <a:pt x="1045" y="0"/>
                  </a:cubicBezTo>
                  <a:lnTo>
                    <a:pt x="0" y="0"/>
                  </a:lnTo>
                  <a:close/>
                  <a:moveTo>
                    <a:pt x="933" y="998"/>
                  </a:moveTo>
                  <a:cubicBezTo>
                    <a:pt x="933" y="1064"/>
                    <a:pt x="863" y="1064"/>
                    <a:pt x="863" y="1064"/>
                  </a:cubicBezTo>
                  <a:cubicBezTo>
                    <a:pt x="182" y="1064"/>
                    <a:pt x="182" y="1064"/>
                    <a:pt x="182" y="1064"/>
                  </a:cubicBezTo>
                  <a:cubicBezTo>
                    <a:pt x="112" y="1064"/>
                    <a:pt x="112" y="998"/>
                    <a:pt x="112" y="998"/>
                  </a:cubicBezTo>
                  <a:cubicBezTo>
                    <a:pt x="112" y="985"/>
                    <a:pt x="112" y="985"/>
                    <a:pt x="112" y="985"/>
                  </a:cubicBezTo>
                  <a:cubicBezTo>
                    <a:pt x="112" y="920"/>
                    <a:pt x="182" y="920"/>
                    <a:pt x="182" y="920"/>
                  </a:cubicBezTo>
                  <a:cubicBezTo>
                    <a:pt x="549" y="920"/>
                    <a:pt x="549" y="920"/>
                    <a:pt x="549" y="920"/>
                  </a:cubicBezTo>
                  <a:cubicBezTo>
                    <a:pt x="863" y="920"/>
                    <a:pt x="863" y="920"/>
                    <a:pt x="863" y="920"/>
                  </a:cubicBezTo>
                  <a:cubicBezTo>
                    <a:pt x="933" y="920"/>
                    <a:pt x="933" y="985"/>
                    <a:pt x="933" y="985"/>
                  </a:cubicBezTo>
                  <a:lnTo>
                    <a:pt x="933" y="998"/>
                  </a:lnTo>
                  <a:close/>
                  <a:moveTo>
                    <a:pt x="933" y="743"/>
                  </a:moveTo>
                  <a:cubicBezTo>
                    <a:pt x="933" y="808"/>
                    <a:pt x="863" y="808"/>
                    <a:pt x="863" y="808"/>
                  </a:cubicBezTo>
                  <a:cubicBezTo>
                    <a:pt x="182" y="808"/>
                    <a:pt x="182" y="808"/>
                    <a:pt x="182" y="808"/>
                  </a:cubicBezTo>
                  <a:cubicBezTo>
                    <a:pt x="112" y="808"/>
                    <a:pt x="112" y="743"/>
                    <a:pt x="112" y="743"/>
                  </a:cubicBezTo>
                  <a:cubicBezTo>
                    <a:pt x="112" y="729"/>
                    <a:pt x="112" y="729"/>
                    <a:pt x="112" y="729"/>
                  </a:cubicBezTo>
                  <a:cubicBezTo>
                    <a:pt x="112" y="664"/>
                    <a:pt x="182" y="664"/>
                    <a:pt x="182" y="664"/>
                  </a:cubicBezTo>
                  <a:cubicBezTo>
                    <a:pt x="549" y="664"/>
                    <a:pt x="549" y="664"/>
                    <a:pt x="549" y="664"/>
                  </a:cubicBezTo>
                  <a:cubicBezTo>
                    <a:pt x="863" y="664"/>
                    <a:pt x="863" y="664"/>
                    <a:pt x="863" y="664"/>
                  </a:cubicBezTo>
                  <a:cubicBezTo>
                    <a:pt x="933" y="664"/>
                    <a:pt x="933" y="729"/>
                    <a:pt x="933" y="729"/>
                  </a:cubicBezTo>
                  <a:lnTo>
                    <a:pt x="933" y="743"/>
                  </a:lnTo>
                  <a:close/>
                  <a:moveTo>
                    <a:pt x="933" y="487"/>
                  </a:moveTo>
                  <a:cubicBezTo>
                    <a:pt x="933" y="553"/>
                    <a:pt x="863" y="553"/>
                    <a:pt x="863" y="553"/>
                  </a:cubicBezTo>
                  <a:cubicBezTo>
                    <a:pt x="182" y="553"/>
                    <a:pt x="182" y="553"/>
                    <a:pt x="182" y="553"/>
                  </a:cubicBezTo>
                  <a:cubicBezTo>
                    <a:pt x="112" y="553"/>
                    <a:pt x="112" y="487"/>
                    <a:pt x="112" y="487"/>
                  </a:cubicBezTo>
                  <a:cubicBezTo>
                    <a:pt x="112" y="474"/>
                    <a:pt x="112" y="474"/>
                    <a:pt x="112" y="474"/>
                  </a:cubicBezTo>
                  <a:cubicBezTo>
                    <a:pt x="112" y="408"/>
                    <a:pt x="182" y="408"/>
                    <a:pt x="182" y="408"/>
                  </a:cubicBezTo>
                  <a:cubicBezTo>
                    <a:pt x="549" y="408"/>
                    <a:pt x="549" y="408"/>
                    <a:pt x="549" y="408"/>
                  </a:cubicBezTo>
                  <a:cubicBezTo>
                    <a:pt x="863" y="408"/>
                    <a:pt x="863" y="408"/>
                    <a:pt x="863" y="408"/>
                  </a:cubicBezTo>
                  <a:cubicBezTo>
                    <a:pt x="933" y="408"/>
                    <a:pt x="933" y="474"/>
                    <a:pt x="933" y="474"/>
                  </a:cubicBezTo>
                  <a:lnTo>
                    <a:pt x="933" y="487"/>
                  </a:lnTo>
                  <a:close/>
                  <a:moveTo>
                    <a:pt x="933" y="231"/>
                  </a:moveTo>
                  <a:cubicBezTo>
                    <a:pt x="933" y="297"/>
                    <a:pt x="863" y="297"/>
                    <a:pt x="863" y="297"/>
                  </a:cubicBezTo>
                  <a:cubicBezTo>
                    <a:pt x="182" y="297"/>
                    <a:pt x="182" y="297"/>
                    <a:pt x="182" y="297"/>
                  </a:cubicBezTo>
                  <a:cubicBezTo>
                    <a:pt x="112" y="297"/>
                    <a:pt x="112" y="231"/>
                    <a:pt x="112" y="231"/>
                  </a:cubicBezTo>
                  <a:cubicBezTo>
                    <a:pt x="112" y="218"/>
                    <a:pt x="112" y="218"/>
                    <a:pt x="112" y="218"/>
                  </a:cubicBezTo>
                  <a:cubicBezTo>
                    <a:pt x="112" y="153"/>
                    <a:pt x="182" y="153"/>
                    <a:pt x="182" y="153"/>
                  </a:cubicBezTo>
                  <a:cubicBezTo>
                    <a:pt x="549" y="153"/>
                    <a:pt x="549" y="153"/>
                    <a:pt x="549" y="153"/>
                  </a:cubicBezTo>
                  <a:cubicBezTo>
                    <a:pt x="863" y="153"/>
                    <a:pt x="863" y="153"/>
                    <a:pt x="863" y="153"/>
                  </a:cubicBezTo>
                  <a:cubicBezTo>
                    <a:pt x="933" y="153"/>
                    <a:pt x="933" y="218"/>
                    <a:pt x="933" y="218"/>
                  </a:cubicBezTo>
                  <a:lnTo>
                    <a:pt x="933" y="2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103" name="Oval 6"/>
            <p:cNvSpPr>
              <a:spLocks noChangeArrowheads="1"/>
            </p:cNvSpPr>
            <p:nvPr/>
          </p:nvSpPr>
          <p:spPr bwMode="auto">
            <a:xfrm>
              <a:off x="6111875" y="8442326"/>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104" name="Oval 7"/>
            <p:cNvSpPr>
              <a:spLocks noChangeArrowheads="1"/>
            </p:cNvSpPr>
            <p:nvPr/>
          </p:nvSpPr>
          <p:spPr bwMode="auto">
            <a:xfrm>
              <a:off x="6111875" y="9404351"/>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105" name="Oval 8"/>
            <p:cNvSpPr>
              <a:spLocks noChangeArrowheads="1"/>
            </p:cNvSpPr>
            <p:nvPr/>
          </p:nvSpPr>
          <p:spPr bwMode="auto">
            <a:xfrm>
              <a:off x="6111875" y="10366376"/>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
          <p:nvSpPr>
            <p:cNvPr id="106" name="Oval 9"/>
            <p:cNvSpPr>
              <a:spLocks noChangeArrowheads="1"/>
            </p:cNvSpPr>
            <p:nvPr/>
          </p:nvSpPr>
          <p:spPr bwMode="auto">
            <a:xfrm>
              <a:off x="6111875" y="11328401"/>
              <a:ext cx="301625" cy="300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grpSp>
      <p:sp>
        <p:nvSpPr>
          <p:cNvPr id="107" name="Freeform 15"/>
          <p:cNvSpPr>
            <a:spLocks/>
          </p:cNvSpPr>
          <p:nvPr/>
        </p:nvSpPr>
        <p:spPr bwMode="auto">
          <a:xfrm>
            <a:off x="8220680" y="5472469"/>
            <a:ext cx="628437" cy="415923"/>
          </a:xfrm>
          <a:custGeom>
            <a:avLst/>
            <a:gdLst>
              <a:gd name="T0" fmla="*/ 218 w 260"/>
              <a:gd name="T1" fmla="*/ 74 h 171"/>
              <a:gd name="T2" fmla="*/ 218 w 260"/>
              <a:gd name="T3" fmla="*/ 71 h 171"/>
              <a:gd name="T4" fmla="*/ 147 w 260"/>
              <a:gd name="T5" fmla="*/ 0 h 171"/>
              <a:gd name="T6" fmla="*/ 87 w 260"/>
              <a:gd name="T7" fmla="*/ 31 h 171"/>
              <a:gd name="T8" fmla="*/ 68 w 260"/>
              <a:gd name="T9" fmla="*/ 26 h 171"/>
              <a:gd name="T10" fmla="*/ 26 w 260"/>
              <a:gd name="T11" fmla="*/ 67 h 171"/>
              <a:gd name="T12" fmla="*/ 0 w 260"/>
              <a:gd name="T13" fmla="*/ 114 h 171"/>
              <a:gd name="T14" fmla="*/ 51 w 260"/>
              <a:gd name="T15" fmla="*/ 170 h 171"/>
              <a:gd name="T16" fmla="*/ 51 w 260"/>
              <a:gd name="T17" fmla="*/ 170 h 171"/>
              <a:gd name="T18" fmla="*/ 51 w 260"/>
              <a:gd name="T19" fmla="*/ 170 h 171"/>
              <a:gd name="T20" fmla="*/ 57 w 260"/>
              <a:gd name="T21" fmla="*/ 171 h 171"/>
              <a:gd name="T22" fmla="*/ 212 w 260"/>
              <a:gd name="T23" fmla="*/ 171 h 171"/>
              <a:gd name="T24" fmla="*/ 212 w 260"/>
              <a:gd name="T25" fmla="*/ 171 h 171"/>
              <a:gd name="T26" fmla="*/ 260 w 260"/>
              <a:gd name="T27" fmla="*/ 122 h 171"/>
              <a:gd name="T28" fmla="*/ 218 w 260"/>
              <a:gd name="T29" fmla="*/ 7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0" h="171">
                <a:moveTo>
                  <a:pt x="218" y="74"/>
                </a:moveTo>
                <a:cubicBezTo>
                  <a:pt x="218" y="73"/>
                  <a:pt x="218" y="72"/>
                  <a:pt x="218" y="71"/>
                </a:cubicBezTo>
                <a:cubicBezTo>
                  <a:pt x="218" y="32"/>
                  <a:pt x="186" y="0"/>
                  <a:pt x="147" y="0"/>
                </a:cubicBezTo>
                <a:cubicBezTo>
                  <a:pt x="122" y="0"/>
                  <a:pt x="100" y="12"/>
                  <a:pt x="87" y="31"/>
                </a:cubicBezTo>
                <a:cubicBezTo>
                  <a:pt x="82" y="28"/>
                  <a:pt x="75" y="26"/>
                  <a:pt x="68" y="26"/>
                </a:cubicBezTo>
                <a:cubicBezTo>
                  <a:pt x="45" y="26"/>
                  <a:pt x="27" y="44"/>
                  <a:pt x="26" y="67"/>
                </a:cubicBezTo>
                <a:cubicBezTo>
                  <a:pt x="11" y="77"/>
                  <a:pt x="0" y="94"/>
                  <a:pt x="0" y="114"/>
                </a:cubicBezTo>
                <a:cubicBezTo>
                  <a:pt x="0" y="143"/>
                  <a:pt x="22" y="167"/>
                  <a:pt x="51" y="170"/>
                </a:cubicBezTo>
                <a:cubicBezTo>
                  <a:pt x="51" y="170"/>
                  <a:pt x="51" y="170"/>
                  <a:pt x="51" y="170"/>
                </a:cubicBezTo>
                <a:cubicBezTo>
                  <a:pt x="51" y="170"/>
                  <a:pt x="51" y="170"/>
                  <a:pt x="51" y="170"/>
                </a:cubicBezTo>
                <a:cubicBezTo>
                  <a:pt x="53" y="170"/>
                  <a:pt x="55" y="171"/>
                  <a:pt x="57" y="171"/>
                </a:cubicBezTo>
                <a:cubicBezTo>
                  <a:pt x="59" y="171"/>
                  <a:pt x="212" y="171"/>
                  <a:pt x="212" y="171"/>
                </a:cubicBezTo>
                <a:cubicBezTo>
                  <a:pt x="212" y="171"/>
                  <a:pt x="212" y="171"/>
                  <a:pt x="212" y="171"/>
                </a:cubicBezTo>
                <a:cubicBezTo>
                  <a:pt x="238" y="170"/>
                  <a:pt x="260" y="149"/>
                  <a:pt x="260" y="122"/>
                </a:cubicBezTo>
                <a:cubicBezTo>
                  <a:pt x="260" y="98"/>
                  <a:pt x="242" y="78"/>
                  <a:pt x="218" y="74"/>
                </a:cubicBezTo>
                <a:close/>
              </a:path>
            </a:pathLst>
          </a:custGeom>
          <a:solidFill>
            <a:schemeClr val="tx1">
              <a:lumMod val="95000"/>
            </a:schemeClr>
          </a:solidFill>
          <a:ln>
            <a:noFill/>
          </a:ln>
        </p:spPr>
        <p:txBody>
          <a:bodyPr vert="horz" wrap="square" lIns="91427" tIns="45713" rIns="91427" bIns="45713" numCol="1" anchor="t" anchorCtr="0" compatLnSpc="1">
            <a:prstTxWarp prst="textNoShape">
              <a:avLst/>
            </a:prstTxWarp>
          </a:bodyPr>
          <a:lstStyle/>
          <a:p>
            <a:endParaRPr lang="en-US">
              <a:solidFill>
                <a:srgbClr val="FFFFFF"/>
              </a:solidFill>
            </a:endParaRPr>
          </a:p>
        </p:txBody>
      </p:sp>
    </p:spTree>
    <p:extLst>
      <p:ext uri="{BB962C8B-B14F-4D97-AF65-F5344CB8AC3E}">
        <p14:creationId xmlns:p14="http://schemas.microsoft.com/office/powerpoint/2010/main" val="193592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PowerShell++</a:t>
            </a:r>
          </a:p>
        </p:txBody>
      </p:sp>
      <p:graphicFrame>
        <p:nvGraphicFramePr>
          <p:cNvPr id="8" name="Diagram 7"/>
          <p:cNvGraphicFramePr/>
          <p:nvPr>
            <p:extLst>
              <p:ext uri="{D42A27DB-BD31-4B8C-83A1-F6EECF244321}">
                <p14:modId xmlns:p14="http://schemas.microsoft.com/office/powerpoint/2010/main" val="745875958"/>
              </p:ext>
            </p:extLst>
          </p:nvPr>
        </p:nvGraphicFramePr>
        <p:xfrm>
          <a:off x="538227" y="1775147"/>
          <a:ext cx="5384800" cy="4495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9" name="Group 8"/>
          <p:cNvGrpSpPr/>
          <p:nvPr/>
        </p:nvGrpSpPr>
        <p:grpSpPr>
          <a:xfrm>
            <a:off x="7765260" y="1775117"/>
            <a:ext cx="718190" cy="718190"/>
            <a:chOff x="3005103" y="1851"/>
            <a:chExt cx="732591" cy="732591"/>
          </a:xfrm>
          <a:solidFill>
            <a:srgbClr val="0072C6"/>
          </a:solidFill>
          <a:scene3d>
            <a:camera prst="orthographicFront"/>
            <a:lightRig rig="threePt" dir="t">
              <a:rot lat="0" lon="0" rev="7500000"/>
            </a:lightRig>
          </a:scene3d>
        </p:grpSpPr>
        <p:sp>
          <p:nvSpPr>
            <p:cNvPr id="34" name="Oval 33"/>
            <p:cNvSpPr/>
            <p:nvPr/>
          </p:nvSpPr>
          <p:spPr>
            <a:xfrm>
              <a:off x="3005103" y="1851"/>
              <a:ext cx="732591" cy="732591"/>
            </a:xfrm>
            <a:prstGeom prst="ellipse">
              <a:avLst/>
            </a:prstGeom>
            <a:grpFill/>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35" name="Oval 4"/>
            <p:cNvSpPr/>
            <p:nvPr/>
          </p:nvSpPr>
          <p:spPr>
            <a:xfrm>
              <a:off x="3112388" y="109136"/>
              <a:ext cx="518021" cy="518021"/>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8715" tIns="8715" rIns="8715" bIns="8715" numCol="1" spcCol="1270" anchor="ctr" anchorCtr="0">
              <a:noAutofit/>
            </a:bodyPr>
            <a:lstStyle/>
            <a:p>
              <a:pPr algn="ctr" defTabSz="305020">
                <a:lnSpc>
                  <a:spcPct val="90000"/>
                </a:lnSpc>
                <a:spcBef>
                  <a:spcPct val="0"/>
                </a:spcBef>
                <a:spcAft>
                  <a:spcPct val="35000"/>
                </a:spcAft>
              </a:pPr>
              <a:r>
                <a:rPr lang="en-US" sz="686" dirty="0"/>
                <a:t>PowerShell</a:t>
              </a:r>
            </a:p>
          </p:txBody>
        </p:sp>
      </p:grpSp>
      <p:grpSp>
        <p:nvGrpSpPr>
          <p:cNvPr id="10" name="Group 9"/>
          <p:cNvGrpSpPr/>
          <p:nvPr/>
        </p:nvGrpSpPr>
        <p:grpSpPr>
          <a:xfrm>
            <a:off x="7916080" y="2551625"/>
            <a:ext cx="416550" cy="416550"/>
            <a:chOff x="3158947" y="793929"/>
            <a:chExt cx="424903" cy="424903"/>
          </a:xfrm>
          <a:solidFill>
            <a:schemeClr val="tx1"/>
          </a:solidFill>
          <a:scene3d>
            <a:camera prst="orthographicFront"/>
            <a:lightRig rig="threePt" dir="t">
              <a:rot lat="0" lon="0" rev="7500000"/>
            </a:lightRig>
          </a:scene3d>
        </p:grpSpPr>
        <p:sp>
          <p:nvSpPr>
            <p:cNvPr id="32" name="Plus 31"/>
            <p:cNvSpPr/>
            <p:nvPr/>
          </p:nvSpPr>
          <p:spPr>
            <a:xfrm>
              <a:off x="3158947" y="793929"/>
              <a:ext cx="424903" cy="424903"/>
            </a:xfrm>
            <a:prstGeom prst="mathPlus">
              <a:avLst/>
            </a:prstGeom>
            <a:grpFill/>
            <a:sp3d z="-70000" extrusionH="63500" prstMaterial="matte">
              <a:bevelT w="25400" h="6350" prst="relaxedInset"/>
              <a:contourClr>
                <a:schemeClr val="bg1"/>
              </a:contourClr>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33" name="Plus 6"/>
            <p:cNvSpPr/>
            <p:nvPr/>
          </p:nvSpPr>
          <p:spPr>
            <a:xfrm>
              <a:off x="3215268" y="956412"/>
              <a:ext cx="312261" cy="99937"/>
            </a:xfrm>
            <a:prstGeom prst="rect">
              <a:avLst/>
            </a:prstGeom>
            <a:grpFill/>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261446">
                <a:lnSpc>
                  <a:spcPct val="90000"/>
                </a:lnSpc>
                <a:spcBef>
                  <a:spcPct val="0"/>
                </a:spcBef>
                <a:spcAft>
                  <a:spcPct val="35000"/>
                </a:spcAft>
              </a:pPr>
              <a:endParaRPr lang="en-US" sz="588" dirty="0"/>
            </a:p>
          </p:txBody>
        </p:sp>
      </p:grpSp>
      <p:grpSp>
        <p:nvGrpSpPr>
          <p:cNvPr id="11" name="Group 10"/>
          <p:cNvGrpSpPr/>
          <p:nvPr/>
        </p:nvGrpSpPr>
        <p:grpSpPr>
          <a:xfrm>
            <a:off x="7765260" y="3026493"/>
            <a:ext cx="718190" cy="718190"/>
            <a:chOff x="3005103" y="1278319"/>
            <a:chExt cx="732591" cy="732591"/>
          </a:xfrm>
          <a:solidFill>
            <a:srgbClr val="0072C6"/>
          </a:solidFill>
          <a:scene3d>
            <a:camera prst="orthographicFront"/>
            <a:lightRig rig="threePt" dir="t">
              <a:rot lat="0" lon="0" rev="7500000"/>
            </a:lightRig>
          </a:scene3d>
        </p:grpSpPr>
        <p:sp>
          <p:nvSpPr>
            <p:cNvPr id="30" name="Oval 29"/>
            <p:cNvSpPr/>
            <p:nvPr/>
          </p:nvSpPr>
          <p:spPr>
            <a:xfrm>
              <a:off x="3005103" y="1278319"/>
              <a:ext cx="732591" cy="732591"/>
            </a:xfrm>
            <a:prstGeom prst="ellipse">
              <a:avLst/>
            </a:prstGeom>
            <a:grpFill/>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31" name="Oval 8"/>
            <p:cNvSpPr/>
            <p:nvPr/>
          </p:nvSpPr>
          <p:spPr>
            <a:xfrm>
              <a:off x="3061510" y="1385604"/>
              <a:ext cx="625306" cy="518021"/>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8715" tIns="8715" rIns="8715" bIns="8715" numCol="1" spcCol="1270" anchor="ctr" anchorCtr="0">
              <a:noAutofit/>
            </a:bodyPr>
            <a:lstStyle/>
            <a:p>
              <a:pPr algn="ctr" defTabSz="305020">
                <a:lnSpc>
                  <a:spcPct val="90000"/>
                </a:lnSpc>
                <a:spcBef>
                  <a:spcPct val="0"/>
                </a:spcBef>
                <a:spcAft>
                  <a:spcPct val="35000"/>
                </a:spcAft>
              </a:pPr>
              <a:r>
                <a:rPr lang="en-US" sz="686" dirty="0"/>
                <a:t>Centralized, secure store</a:t>
              </a:r>
            </a:p>
          </p:txBody>
        </p:sp>
      </p:grpSp>
      <p:grpSp>
        <p:nvGrpSpPr>
          <p:cNvPr id="12" name="Group 11"/>
          <p:cNvGrpSpPr/>
          <p:nvPr/>
        </p:nvGrpSpPr>
        <p:grpSpPr>
          <a:xfrm>
            <a:off x="7916080" y="3803000"/>
            <a:ext cx="416550" cy="416550"/>
            <a:chOff x="3158947" y="2070397"/>
            <a:chExt cx="424903" cy="424903"/>
          </a:xfrm>
          <a:solidFill>
            <a:schemeClr val="tx1"/>
          </a:solidFill>
          <a:scene3d>
            <a:camera prst="orthographicFront"/>
            <a:lightRig rig="threePt" dir="t">
              <a:rot lat="0" lon="0" rev="7500000"/>
            </a:lightRig>
          </a:scene3d>
        </p:grpSpPr>
        <p:sp>
          <p:nvSpPr>
            <p:cNvPr id="28" name="Plus 27"/>
            <p:cNvSpPr/>
            <p:nvPr/>
          </p:nvSpPr>
          <p:spPr>
            <a:xfrm>
              <a:off x="3158947" y="2070397"/>
              <a:ext cx="424903" cy="424903"/>
            </a:xfrm>
            <a:prstGeom prst="mathPlus">
              <a:avLst/>
            </a:prstGeom>
            <a:grpFill/>
            <a:sp3d z="-70000" extrusionH="63500" prstMaterial="matte">
              <a:bevelT w="25400" h="6350" prst="relaxedInset"/>
              <a:contourClr>
                <a:schemeClr val="bg1"/>
              </a:contourClr>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29" name="Plus 10"/>
            <p:cNvSpPr/>
            <p:nvPr/>
          </p:nvSpPr>
          <p:spPr>
            <a:xfrm>
              <a:off x="3215268" y="2232880"/>
              <a:ext cx="312261" cy="99937"/>
            </a:xfrm>
            <a:prstGeom prst="rect">
              <a:avLst/>
            </a:prstGeom>
            <a:grpFill/>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261446">
                <a:lnSpc>
                  <a:spcPct val="90000"/>
                </a:lnSpc>
                <a:spcBef>
                  <a:spcPct val="0"/>
                </a:spcBef>
                <a:spcAft>
                  <a:spcPct val="35000"/>
                </a:spcAft>
              </a:pPr>
              <a:endParaRPr lang="en-US" sz="588" dirty="0"/>
            </a:p>
          </p:txBody>
        </p:sp>
      </p:grpSp>
      <p:grpSp>
        <p:nvGrpSpPr>
          <p:cNvPr id="13" name="Group 12"/>
          <p:cNvGrpSpPr/>
          <p:nvPr/>
        </p:nvGrpSpPr>
        <p:grpSpPr>
          <a:xfrm>
            <a:off x="7765260" y="4277867"/>
            <a:ext cx="718190" cy="718190"/>
            <a:chOff x="3005103" y="2554786"/>
            <a:chExt cx="732591" cy="732591"/>
          </a:xfrm>
          <a:solidFill>
            <a:srgbClr val="0072C6"/>
          </a:solidFill>
          <a:scene3d>
            <a:camera prst="orthographicFront"/>
            <a:lightRig rig="threePt" dir="t">
              <a:rot lat="0" lon="0" rev="7500000"/>
            </a:lightRig>
          </a:scene3d>
        </p:grpSpPr>
        <p:sp>
          <p:nvSpPr>
            <p:cNvPr id="26" name="Oval 25"/>
            <p:cNvSpPr/>
            <p:nvPr/>
          </p:nvSpPr>
          <p:spPr>
            <a:xfrm>
              <a:off x="3005103" y="2554786"/>
              <a:ext cx="732591" cy="732591"/>
            </a:xfrm>
            <a:prstGeom prst="ellipse">
              <a:avLst/>
            </a:prstGeom>
            <a:grpFill/>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7" name="Oval 12"/>
            <p:cNvSpPr/>
            <p:nvPr/>
          </p:nvSpPr>
          <p:spPr>
            <a:xfrm>
              <a:off x="3069990" y="2662071"/>
              <a:ext cx="625306" cy="518021"/>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8715" tIns="8715" rIns="8715" bIns="8715" numCol="1" spcCol="1270" anchor="ctr" anchorCtr="0">
              <a:noAutofit/>
            </a:bodyPr>
            <a:lstStyle/>
            <a:p>
              <a:pPr algn="ctr" defTabSz="305020">
                <a:lnSpc>
                  <a:spcPct val="90000"/>
                </a:lnSpc>
                <a:spcBef>
                  <a:spcPct val="0"/>
                </a:spcBef>
                <a:spcAft>
                  <a:spcPct val="35000"/>
                </a:spcAft>
              </a:pPr>
              <a:r>
                <a:rPr lang="en-US" sz="686" dirty="0"/>
                <a:t>Highly Available, Scalable, Manageable</a:t>
              </a:r>
            </a:p>
          </p:txBody>
        </p:sp>
      </p:grpSp>
      <p:grpSp>
        <p:nvGrpSpPr>
          <p:cNvPr id="14" name="Group 13"/>
          <p:cNvGrpSpPr/>
          <p:nvPr/>
        </p:nvGrpSpPr>
        <p:grpSpPr>
          <a:xfrm>
            <a:off x="7916080" y="5054375"/>
            <a:ext cx="416550" cy="416550"/>
            <a:chOff x="3158947" y="3346864"/>
            <a:chExt cx="424903" cy="424903"/>
          </a:xfrm>
          <a:solidFill>
            <a:schemeClr val="tx1"/>
          </a:solidFill>
          <a:scene3d>
            <a:camera prst="orthographicFront"/>
            <a:lightRig rig="threePt" dir="t">
              <a:rot lat="0" lon="0" rev="7500000"/>
            </a:lightRig>
          </a:scene3d>
        </p:grpSpPr>
        <p:sp>
          <p:nvSpPr>
            <p:cNvPr id="24" name="Plus 23"/>
            <p:cNvSpPr/>
            <p:nvPr/>
          </p:nvSpPr>
          <p:spPr>
            <a:xfrm>
              <a:off x="3158947" y="3346864"/>
              <a:ext cx="424903" cy="424903"/>
            </a:xfrm>
            <a:prstGeom prst="mathPlus">
              <a:avLst/>
            </a:prstGeom>
            <a:grpFill/>
            <a:sp3d z="-70000" extrusionH="63500" prstMaterial="matte">
              <a:bevelT w="25400" h="6350" prst="relaxedInset"/>
              <a:contourClr>
                <a:schemeClr val="bg1"/>
              </a:contourClr>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25" name="Plus 14"/>
            <p:cNvSpPr/>
            <p:nvPr/>
          </p:nvSpPr>
          <p:spPr>
            <a:xfrm>
              <a:off x="3215268" y="3509347"/>
              <a:ext cx="312261" cy="99937"/>
            </a:xfrm>
            <a:prstGeom prst="rect">
              <a:avLst/>
            </a:prstGeom>
            <a:grpFill/>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261446">
                <a:lnSpc>
                  <a:spcPct val="90000"/>
                </a:lnSpc>
                <a:spcBef>
                  <a:spcPct val="0"/>
                </a:spcBef>
                <a:spcAft>
                  <a:spcPct val="35000"/>
                </a:spcAft>
              </a:pPr>
              <a:endParaRPr lang="en-US" sz="588" dirty="0"/>
            </a:p>
          </p:txBody>
        </p:sp>
      </p:grpSp>
      <p:grpSp>
        <p:nvGrpSpPr>
          <p:cNvPr id="15" name="Group 14"/>
          <p:cNvGrpSpPr/>
          <p:nvPr/>
        </p:nvGrpSpPr>
        <p:grpSpPr>
          <a:xfrm>
            <a:off x="7765260" y="5529242"/>
            <a:ext cx="718190" cy="718190"/>
            <a:chOff x="3005103" y="3831254"/>
            <a:chExt cx="732591" cy="732591"/>
          </a:xfrm>
          <a:solidFill>
            <a:srgbClr val="0072C6"/>
          </a:solidFill>
          <a:scene3d>
            <a:camera prst="orthographicFront"/>
            <a:lightRig rig="threePt" dir="t">
              <a:rot lat="0" lon="0" rev="7500000"/>
            </a:lightRig>
          </a:scene3d>
        </p:grpSpPr>
        <p:sp>
          <p:nvSpPr>
            <p:cNvPr id="22" name="Oval 21"/>
            <p:cNvSpPr/>
            <p:nvPr/>
          </p:nvSpPr>
          <p:spPr>
            <a:xfrm>
              <a:off x="3005103" y="3831254"/>
              <a:ext cx="732591" cy="732591"/>
            </a:xfrm>
            <a:prstGeom prst="ellipse">
              <a:avLst/>
            </a:prstGeom>
            <a:grpFill/>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23" name="Oval 16"/>
            <p:cNvSpPr/>
            <p:nvPr/>
          </p:nvSpPr>
          <p:spPr>
            <a:xfrm>
              <a:off x="3112388" y="3938539"/>
              <a:ext cx="518021" cy="518021"/>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8715" tIns="8715" rIns="8715" bIns="8715" numCol="1" spcCol="1270" anchor="ctr" anchorCtr="0">
              <a:noAutofit/>
            </a:bodyPr>
            <a:lstStyle/>
            <a:p>
              <a:pPr algn="ctr" defTabSz="305020">
                <a:lnSpc>
                  <a:spcPct val="90000"/>
                </a:lnSpc>
                <a:spcBef>
                  <a:spcPct val="0"/>
                </a:spcBef>
                <a:spcAft>
                  <a:spcPct val="35000"/>
                </a:spcAft>
              </a:pPr>
              <a:r>
                <a:rPr lang="en-US" sz="686" dirty="0"/>
                <a:t>Historical Analysis</a:t>
              </a:r>
            </a:p>
          </p:txBody>
        </p:sp>
      </p:grpSp>
      <p:grpSp>
        <p:nvGrpSpPr>
          <p:cNvPr id="16" name="Group 15"/>
          <p:cNvGrpSpPr/>
          <p:nvPr/>
        </p:nvGrpSpPr>
        <p:grpSpPr>
          <a:xfrm>
            <a:off x="8591179" y="3877691"/>
            <a:ext cx="228384" cy="267167"/>
            <a:chOff x="3847583" y="2146586"/>
            <a:chExt cx="232964" cy="272524"/>
          </a:xfrm>
          <a:solidFill>
            <a:schemeClr val="tx1"/>
          </a:solidFill>
          <a:scene3d>
            <a:camera prst="orthographicFront"/>
            <a:lightRig rig="threePt" dir="t">
              <a:rot lat="0" lon="0" rev="7500000"/>
            </a:lightRig>
          </a:scene3d>
        </p:grpSpPr>
        <p:sp>
          <p:nvSpPr>
            <p:cNvPr id="20" name="Right Arrow 19"/>
            <p:cNvSpPr/>
            <p:nvPr/>
          </p:nvSpPr>
          <p:spPr>
            <a:xfrm>
              <a:off x="3847583" y="2146586"/>
              <a:ext cx="232964" cy="272524"/>
            </a:xfrm>
            <a:prstGeom prst="rightArrow">
              <a:avLst>
                <a:gd name="adj1" fmla="val 60000"/>
                <a:gd name="adj2" fmla="val 50000"/>
              </a:avLst>
            </a:prstGeom>
            <a:grpFill/>
            <a:sp3d z="-70000" extrusionH="63500" prstMaterial="matte">
              <a:bevelT w="25400" h="6350" prst="relaxedInset"/>
              <a:contourClr>
                <a:schemeClr val="bg1"/>
              </a:contourClr>
            </a:sp3d>
          </p:spPr>
          <p:style>
            <a:lnRef idx="0">
              <a:schemeClr val="accent1">
                <a:tint val="60000"/>
                <a:hueOff val="0"/>
                <a:satOff val="0"/>
                <a:lumOff val="0"/>
                <a:alphaOff val="0"/>
              </a:schemeClr>
            </a:lnRef>
            <a:fillRef idx="1">
              <a:schemeClr val="accent1">
                <a:tint val="60000"/>
                <a:hueOff val="0"/>
                <a:satOff val="0"/>
                <a:lumOff val="0"/>
                <a:alphaOff val="0"/>
              </a:schemeClr>
            </a:fillRef>
            <a:effectRef idx="2">
              <a:schemeClr val="accent1">
                <a:tint val="60000"/>
                <a:hueOff val="0"/>
                <a:satOff val="0"/>
                <a:lumOff val="0"/>
                <a:alphaOff val="0"/>
              </a:schemeClr>
            </a:effectRef>
            <a:fontRef idx="minor">
              <a:schemeClr val="lt1"/>
            </a:fontRef>
          </p:style>
        </p:sp>
        <p:sp>
          <p:nvSpPr>
            <p:cNvPr id="21" name="Right Arrow 18"/>
            <p:cNvSpPr/>
            <p:nvPr/>
          </p:nvSpPr>
          <p:spPr>
            <a:xfrm>
              <a:off x="3847583" y="2201091"/>
              <a:ext cx="163075" cy="163514"/>
            </a:xfrm>
            <a:prstGeom prst="rect">
              <a:avLst/>
            </a:prstGeom>
            <a:grpFill/>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261446">
                <a:lnSpc>
                  <a:spcPct val="90000"/>
                </a:lnSpc>
                <a:spcBef>
                  <a:spcPct val="0"/>
                </a:spcBef>
                <a:spcAft>
                  <a:spcPct val="35000"/>
                </a:spcAft>
              </a:pPr>
              <a:endParaRPr lang="en-US" sz="588" dirty="0"/>
            </a:p>
          </p:txBody>
        </p:sp>
      </p:grpSp>
      <p:grpSp>
        <p:nvGrpSpPr>
          <p:cNvPr id="17" name="Group 16"/>
          <p:cNvGrpSpPr/>
          <p:nvPr/>
        </p:nvGrpSpPr>
        <p:grpSpPr>
          <a:xfrm>
            <a:off x="8914364" y="3293085"/>
            <a:ext cx="1436381" cy="1436381"/>
            <a:chOff x="4177249" y="1550257"/>
            <a:chExt cx="1465183" cy="1465183"/>
          </a:xfrm>
          <a:solidFill>
            <a:srgbClr val="0072C6"/>
          </a:solidFill>
          <a:scene3d>
            <a:camera prst="orthographicFront"/>
            <a:lightRig rig="threePt" dir="t">
              <a:rot lat="0" lon="0" rev="7500000"/>
            </a:lightRig>
          </a:scene3d>
        </p:grpSpPr>
        <p:sp>
          <p:nvSpPr>
            <p:cNvPr id="18" name="Oval 17"/>
            <p:cNvSpPr/>
            <p:nvPr/>
          </p:nvSpPr>
          <p:spPr>
            <a:xfrm>
              <a:off x="4177249" y="1550257"/>
              <a:ext cx="1465183" cy="1465183"/>
            </a:xfrm>
            <a:prstGeom prst="ellipse">
              <a:avLst/>
            </a:prstGeom>
            <a:grpFill/>
            <a:sp3d prstMaterial="plastic">
              <a:bevelT w="127000" h="25400" prst="relaxedInset"/>
            </a:sp3d>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9" name="Oval 20"/>
            <p:cNvSpPr/>
            <p:nvPr/>
          </p:nvSpPr>
          <p:spPr>
            <a:xfrm>
              <a:off x="4391820" y="1764828"/>
              <a:ext cx="1036041" cy="1036041"/>
            </a:xfrm>
            <a:prstGeom prst="rect">
              <a:avLst/>
            </a:prstGeom>
            <a:grpFill/>
            <a:sp3d/>
          </p:spPr>
          <p:style>
            <a:lnRef idx="0">
              <a:scrgbClr r="0" g="0" b="0"/>
            </a:lnRef>
            <a:fillRef idx="0">
              <a:scrgbClr r="0" g="0" b="0"/>
            </a:fillRef>
            <a:effectRef idx="0">
              <a:scrgbClr r="0" g="0" b="0"/>
            </a:effectRef>
            <a:fontRef idx="minor">
              <a:schemeClr val="lt1"/>
            </a:fontRef>
          </p:style>
          <p:txBody>
            <a:bodyPr spcFirstLastPara="0" vert="horz" wrap="square" lIns="16185" tIns="16185" rIns="16185" bIns="16185" numCol="1" spcCol="1270" anchor="ctr" anchorCtr="0">
              <a:noAutofit/>
            </a:bodyPr>
            <a:lstStyle/>
            <a:p>
              <a:pPr algn="ctr" defTabSz="566466">
                <a:lnSpc>
                  <a:spcPct val="90000"/>
                </a:lnSpc>
                <a:spcBef>
                  <a:spcPct val="0"/>
                </a:spcBef>
                <a:spcAft>
                  <a:spcPct val="35000"/>
                </a:spcAft>
              </a:pPr>
              <a:r>
                <a:rPr lang="en-US" sz="1274" dirty="0"/>
                <a:t>Microsoft Azure Automation</a:t>
              </a:r>
            </a:p>
          </p:txBody>
        </p:sp>
      </p:grpSp>
    </p:spTree>
    <p:extLst>
      <p:ext uri="{BB962C8B-B14F-4D97-AF65-F5344CB8AC3E}">
        <p14:creationId xmlns:p14="http://schemas.microsoft.com/office/powerpoint/2010/main" val="386083540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032055" y="3198881"/>
            <a:ext cx="7911351" cy="1540722"/>
          </a:xfrm>
          <a:prstGeom prst="rect">
            <a:avLst/>
          </a:prstGeom>
          <a:solidFill>
            <a:srgbClr val="1D438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43805" tIns="60939" rIns="121880" bIns="60939" numCol="1" rtlCol="0" anchor="ctr" anchorCtr="0" compatLnSpc="1">
            <a:prstTxWarp prst="textNoShape">
              <a:avLst/>
            </a:prstTxWarp>
          </a:bodyPr>
          <a:lstStyle/>
          <a:p>
            <a:pPr defTabSz="1218952"/>
            <a:r>
              <a:rPr lang="en-US" sz="2614" dirty="0">
                <a:solidFill>
                  <a:srgbClr val="FFFFFF"/>
                </a:solidFill>
              </a:rPr>
              <a:t>Scale instantly, as your needs change</a:t>
            </a:r>
          </a:p>
          <a:p>
            <a:pPr defTabSz="1218952"/>
            <a:r>
              <a:rPr lang="en-US" sz="2614" dirty="0">
                <a:solidFill>
                  <a:srgbClr val="FFFFFF"/>
                </a:solidFill>
              </a:rPr>
              <a:t>Get new features frequently &amp; automatically</a:t>
            </a:r>
          </a:p>
        </p:txBody>
      </p:sp>
      <p:sp>
        <p:nvSpPr>
          <p:cNvPr id="6" name="Rectangle 5"/>
          <p:cNvSpPr/>
          <p:nvPr/>
        </p:nvSpPr>
        <p:spPr bwMode="auto">
          <a:xfrm>
            <a:off x="3052287" y="1383874"/>
            <a:ext cx="7911352" cy="1556345"/>
          </a:xfrm>
          <a:prstGeom prst="rect">
            <a:avLst/>
          </a:prstGeom>
          <a:solidFill>
            <a:srgbClr val="1D438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43805" tIns="60939" rIns="121880" bIns="60939" numCol="1" rtlCol="0" anchor="ctr" anchorCtr="0" compatLnSpc="1">
            <a:prstTxWarp prst="textNoShape">
              <a:avLst/>
            </a:prstTxWarp>
          </a:bodyPr>
          <a:lstStyle/>
          <a:p>
            <a:pPr defTabSz="1218952"/>
            <a:r>
              <a:rPr lang="en-US" sz="2614" dirty="0">
                <a:solidFill>
                  <a:srgbClr val="FFFFFF"/>
                </a:solidFill>
              </a:rPr>
              <a:t>Automate with no installation required</a:t>
            </a:r>
          </a:p>
          <a:p>
            <a:pPr defTabSz="1218952"/>
            <a:r>
              <a:rPr lang="en-US" sz="2614" dirty="0">
                <a:solidFill>
                  <a:srgbClr val="FFFFFF"/>
                </a:solidFill>
              </a:rPr>
              <a:t>No infrastructure to maintain</a:t>
            </a:r>
          </a:p>
          <a:p>
            <a:pPr defTabSz="1218952"/>
            <a:r>
              <a:rPr lang="en-US" sz="2614" dirty="0">
                <a:solidFill>
                  <a:srgbClr val="FFFFFF"/>
                </a:solidFill>
              </a:rPr>
              <a:t>Free tier lets you ‘try before you buy’</a:t>
            </a:r>
          </a:p>
        </p:txBody>
      </p:sp>
      <p:sp>
        <p:nvSpPr>
          <p:cNvPr id="8" name="Rectangle 7"/>
          <p:cNvSpPr/>
          <p:nvPr/>
        </p:nvSpPr>
        <p:spPr bwMode="auto">
          <a:xfrm>
            <a:off x="690116" y="1383874"/>
            <a:ext cx="1906892" cy="1531553"/>
          </a:xfrm>
          <a:prstGeom prst="rect">
            <a:avLst/>
          </a:prstGeom>
          <a:solidFill>
            <a:srgbClr val="0171B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21880" tIns="60939" rIns="121880" bIns="60939" numCol="1" rtlCol="0" anchor="b" anchorCtr="0" compatLnSpc="1">
            <a:prstTxWarp prst="textNoShape">
              <a:avLst/>
            </a:prstTxWarp>
          </a:bodyPr>
          <a:lstStyle/>
          <a:p>
            <a:pPr algn="r" defTabSz="1218361" fontAlgn="base">
              <a:lnSpc>
                <a:spcPct val="90000"/>
              </a:lnSpc>
              <a:spcBef>
                <a:spcPct val="0"/>
              </a:spcBef>
              <a:spcAft>
                <a:spcPct val="0"/>
              </a:spcAft>
            </a:pPr>
            <a:r>
              <a:rPr lang="en-US" sz="2090" dirty="0">
                <a:solidFill>
                  <a:srgbClr val="FFFFFF"/>
                </a:solidFill>
              </a:rPr>
              <a:t>Simplicity</a:t>
            </a:r>
            <a:endParaRPr lang="en-US" sz="2090" spc="-67" dirty="0">
              <a:solidFill>
                <a:srgbClr val="FFFFFF"/>
              </a:solidFill>
            </a:endParaRPr>
          </a:p>
        </p:txBody>
      </p:sp>
      <p:grpSp>
        <p:nvGrpSpPr>
          <p:cNvPr id="10" name="Group 9"/>
          <p:cNvGrpSpPr/>
          <p:nvPr/>
        </p:nvGrpSpPr>
        <p:grpSpPr>
          <a:xfrm>
            <a:off x="669884" y="3198880"/>
            <a:ext cx="1906892" cy="1526642"/>
            <a:chOff x="1128499" y="3294566"/>
            <a:chExt cx="1434280" cy="1434280"/>
          </a:xfrm>
        </p:grpSpPr>
        <p:sp>
          <p:nvSpPr>
            <p:cNvPr id="11" name="Rectangle 10"/>
            <p:cNvSpPr/>
            <p:nvPr/>
          </p:nvSpPr>
          <p:spPr bwMode="auto">
            <a:xfrm>
              <a:off x="1128499" y="3294566"/>
              <a:ext cx="1434280" cy="1434280"/>
            </a:xfrm>
            <a:prstGeom prst="rect">
              <a:avLst/>
            </a:prstGeom>
            <a:solidFill>
              <a:srgbClr val="0171B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21880" tIns="60939" rIns="121880" bIns="60939" numCol="1" rtlCol="0" anchor="b" anchorCtr="0" compatLnSpc="1">
              <a:prstTxWarp prst="textNoShape">
                <a:avLst/>
              </a:prstTxWarp>
            </a:bodyPr>
            <a:lstStyle/>
            <a:p>
              <a:pPr algn="r" defTabSz="1218361" fontAlgn="base">
                <a:lnSpc>
                  <a:spcPct val="90000"/>
                </a:lnSpc>
                <a:spcBef>
                  <a:spcPct val="0"/>
                </a:spcBef>
                <a:spcAft>
                  <a:spcPct val="0"/>
                </a:spcAft>
              </a:pPr>
              <a:r>
                <a:rPr lang="en-US" sz="2090" spc="-67" dirty="0">
                  <a:solidFill>
                    <a:srgbClr val="FFFFFF"/>
                  </a:solidFill>
                </a:rPr>
                <a:t>Velocity</a:t>
              </a:r>
            </a:p>
          </p:txBody>
        </p:sp>
        <p:sp>
          <p:nvSpPr>
            <p:cNvPr id="12" name="Freeform 11"/>
            <p:cNvSpPr>
              <a:spLocks noEditPoints="1"/>
            </p:cNvSpPr>
            <p:nvPr/>
          </p:nvSpPr>
          <p:spPr bwMode="black">
            <a:xfrm>
              <a:off x="1476722" y="3535325"/>
              <a:ext cx="737835" cy="755544"/>
            </a:xfrm>
            <a:custGeom>
              <a:avLst/>
              <a:gdLst>
                <a:gd name="T0" fmla="*/ 213 w 709"/>
                <a:gd name="T1" fmla="*/ 522 h 709"/>
                <a:gd name="T2" fmla="*/ 213 w 709"/>
                <a:gd name="T3" fmla="*/ 709 h 709"/>
                <a:gd name="T4" fmla="*/ 0 w 709"/>
                <a:gd name="T5" fmla="*/ 709 h 709"/>
                <a:gd name="T6" fmla="*/ 0 w 709"/>
                <a:gd name="T7" fmla="*/ 496 h 709"/>
                <a:gd name="T8" fmla="*/ 88 w 709"/>
                <a:gd name="T9" fmla="*/ 496 h 709"/>
                <a:gd name="T10" fmla="*/ 67 w 709"/>
                <a:gd name="T11" fmla="*/ 522 h 709"/>
                <a:gd name="T12" fmla="*/ 213 w 709"/>
                <a:gd name="T13" fmla="*/ 522 h 709"/>
                <a:gd name="T14" fmla="*/ 619 w 709"/>
                <a:gd name="T15" fmla="*/ 496 h 709"/>
                <a:gd name="T16" fmla="*/ 643 w 709"/>
                <a:gd name="T17" fmla="*/ 522 h 709"/>
                <a:gd name="T18" fmla="*/ 496 w 709"/>
                <a:gd name="T19" fmla="*/ 522 h 709"/>
                <a:gd name="T20" fmla="*/ 496 w 709"/>
                <a:gd name="T21" fmla="*/ 709 h 709"/>
                <a:gd name="T22" fmla="*/ 709 w 709"/>
                <a:gd name="T23" fmla="*/ 709 h 709"/>
                <a:gd name="T24" fmla="*/ 709 w 709"/>
                <a:gd name="T25" fmla="*/ 496 h 709"/>
                <a:gd name="T26" fmla="*/ 619 w 709"/>
                <a:gd name="T27" fmla="*/ 496 h 709"/>
                <a:gd name="T28" fmla="*/ 355 w 709"/>
                <a:gd name="T29" fmla="*/ 182 h 709"/>
                <a:gd name="T30" fmla="*/ 381 w 709"/>
                <a:gd name="T31" fmla="*/ 213 h 709"/>
                <a:gd name="T32" fmla="*/ 461 w 709"/>
                <a:gd name="T33" fmla="*/ 213 h 709"/>
                <a:gd name="T34" fmla="*/ 461 w 709"/>
                <a:gd name="T35" fmla="*/ 0 h 709"/>
                <a:gd name="T36" fmla="*/ 248 w 709"/>
                <a:gd name="T37" fmla="*/ 0 h 709"/>
                <a:gd name="T38" fmla="*/ 248 w 709"/>
                <a:gd name="T39" fmla="*/ 213 h 709"/>
                <a:gd name="T40" fmla="*/ 329 w 709"/>
                <a:gd name="T41" fmla="*/ 213 h 709"/>
                <a:gd name="T42" fmla="*/ 355 w 709"/>
                <a:gd name="T43" fmla="*/ 182 h 709"/>
                <a:gd name="T44" fmla="*/ 123 w 709"/>
                <a:gd name="T45" fmla="*/ 248 h 709"/>
                <a:gd name="T46" fmla="*/ 123 w 709"/>
                <a:gd name="T47" fmla="*/ 454 h 709"/>
                <a:gd name="T48" fmla="*/ 298 w 709"/>
                <a:gd name="T49" fmla="*/ 248 h 709"/>
                <a:gd name="T50" fmla="*/ 123 w 709"/>
                <a:gd name="T51" fmla="*/ 248 h 709"/>
                <a:gd name="T52" fmla="*/ 355 w 709"/>
                <a:gd name="T53" fmla="*/ 225 h 709"/>
                <a:gd name="T54" fmla="*/ 128 w 709"/>
                <a:gd name="T55" fmla="*/ 494 h 709"/>
                <a:gd name="T56" fmla="*/ 248 w 709"/>
                <a:gd name="T57" fmla="*/ 494 h 709"/>
                <a:gd name="T58" fmla="*/ 248 w 709"/>
                <a:gd name="T59" fmla="*/ 709 h 709"/>
                <a:gd name="T60" fmla="*/ 461 w 709"/>
                <a:gd name="T61" fmla="*/ 709 h 709"/>
                <a:gd name="T62" fmla="*/ 461 w 709"/>
                <a:gd name="T63" fmla="*/ 494 h 709"/>
                <a:gd name="T64" fmla="*/ 581 w 709"/>
                <a:gd name="T65" fmla="*/ 494 h 709"/>
                <a:gd name="T66" fmla="*/ 355 w 709"/>
                <a:gd name="T67" fmla="*/ 225 h 709"/>
                <a:gd name="T68" fmla="*/ 584 w 709"/>
                <a:gd name="T69" fmla="*/ 248 h 709"/>
                <a:gd name="T70" fmla="*/ 411 w 709"/>
                <a:gd name="T71" fmla="*/ 248 h 709"/>
                <a:gd name="T72" fmla="*/ 584 w 709"/>
                <a:gd name="T73" fmla="*/ 454 h 709"/>
                <a:gd name="T74" fmla="*/ 584 w 709"/>
                <a:gd name="T75" fmla="*/ 24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09" h="709">
                  <a:moveTo>
                    <a:pt x="213" y="522"/>
                  </a:moveTo>
                  <a:lnTo>
                    <a:pt x="213" y="709"/>
                  </a:lnTo>
                  <a:lnTo>
                    <a:pt x="0" y="709"/>
                  </a:lnTo>
                  <a:lnTo>
                    <a:pt x="0" y="496"/>
                  </a:lnTo>
                  <a:lnTo>
                    <a:pt x="88" y="496"/>
                  </a:lnTo>
                  <a:lnTo>
                    <a:pt x="67" y="522"/>
                  </a:lnTo>
                  <a:lnTo>
                    <a:pt x="213" y="522"/>
                  </a:lnTo>
                  <a:close/>
                  <a:moveTo>
                    <a:pt x="619" y="496"/>
                  </a:moveTo>
                  <a:lnTo>
                    <a:pt x="643" y="522"/>
                  </a:lnTo>
                  <a:lnTo>
                    <a:pt x="496" y="522"/>
                  </a:lnTo>
                  <a:lnTo>
                    <a:pt x="496" y="709"/>
                  </a:lnTo>
                  <a:lnTo>
                    <a:pt x="709" y="709"/>
                  </a:lnTo>
                  <a:lnTo>
                    <a:pt x="709" y="496"/>
                  </a:lnTo>
                  <a:lnTo>
                    <a:pt x="619" y="496"/>
                  </a:lnTo>
                  <a:close/>
                  <a:moveTo>
                    <a:pt x="355" y="182"/>
                  </a:moveTo>
                  <a:lnTo>
                    <a:pt x="381" y="213"/>
                  </a:lnTo>
                  <a:lnTo>
                    <a:pt x="461" y="213"/>
                  </a:lnTo>
                  <a:lnTo>
                    <a:pt x="461" y="0"/>
                  </a:lnTo>
                  <a:lnTo>
                    <a:pt x="248" y="0"/>
                  </a:lnTo>
                  <a:lnTo>
                    <a:pt x="248" y="213"/>
                  </a:lnTo>
                  <a:lnTo>
                    <a:pt x="329" y="213"/>
                  </a:lnTo>
                  <a:lnTo>
                    <a:pt x="355" y="182"/>
                  </a:lnTo>
                  <a:close/>
                  <a:moveTo>
                    <a:pt x="123" y="248"/>
                  </a:moveTo>
                  <a:lnTo>
                    <a:pt x="123" y="454"/>
                  </a:lnTo>
                  <a:lnTo>
                    <a:pt x="298" y="248"/>
                  </a:lnTo>
                  <a:lnTo>
                    <a:pt x="123" y="248"/>
                  </a:lnTo>
                  <a:close/>
                  <a:moveTo>
                    <a:pt x="355" y="225"/>
                  </a:moveTo>
                  <a:lnTo>
                    <a:pt x="128" y="494"/>
                  </a:lnTo>
                  <a:lnTo>
                    <a:pt x="248" y="494"/>
                  </a:lnTo>
                  <a:lnTo>
                    <a:pt x="248" y="709"/>
                  </a:lnTo>
                  <a:lnTo>
                    <a:pt x="461" y="709"/>
                  </a:lnTo>
                  <a:lnTo>
                    <a:pt x="461" y="494"/>
                  </a:lnTo>
                  <a:lnTo>
                    <a:pt x="581" y="494"/>
                  </a:lnTo>
                  <a:lnTo>
                    <a:pt x="355" y="225"/>
                  </a:lnTo>
                  <a:close/>
                  <a:moveTo>
                    <a:pt x="584" y="248"/>
                  </a:moveTo>
                  <a:lnTo>
                    <a:pt x="411" y="248"/>
                  </a:lnTo>
                  <a:lnTo>
                    <a:pt x="584" y="454"/>
                  </a:lnTo>
                  <a:lnTo>
                    <a:pt x="584" y="248"/>
                  </a:lnTo>
                  <a:close/>
                </a:path>
              </a:pathLst>
            </a:custGeom>
            <a:solidFill>
              <a:srgbClr val="FFFFFF"/>
            </a:solidFill>
            <a:ln>
              <a:noFill/>
            </a:ln>
          </p:spPr>
          <p:txBody>
            <a:bodyPr vert="horz" wrap="square" lIns="109725" tIns="54863" rIns="109725" bIns="54863" numCol="1" anchor="t" anchorCtr="0" compatLnSpc="1">
              <a:prstTxWarp prst="textNoShape">
                <a:avLst/>
              </a:prstTxWarp>
            </a:bodyPr>
            <a:lstStyle/>
            <a:p>
              <a:endParaRPr lang="en-US" sz="2133"/>
            </a:p>
          </p:txBody>
        </p:sp>
      </p:grpSp>
      <p:sp>
        <p:nvSpPr>
          <p:cNvPr id="13" name="Rectangle 12"/>
          <p:cNvSpPr/>
          <p:nvPr/>
        </p:nvSpPr>
        <p:spPr bwMode="auto">
          <a:xfrm>
            <a:off x="3030942" y="4995866"/>
            <a:ext cx="7911352" cy="1320741"/>
          </a:xfrm>
          <a:prstGeom prst="rect">
            <a:avLst/>
          </a:prstGeom>
          <a:solidFill>
            <a:srgbClr val="1D438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243805" tIns="60939" rIns="121880" bIns="60939" numCol="1" rtlCol="0" anchor="ctr" anchorCtr="0" compatLnSpc="1">
            <a:prstTxWarp prst="textNoShape">
              <a:avLst/>
            </a:prstTxWarp>
          </a:bodyPr>
          <a:lstStyle/>
          <a:p>
            <a:pPr defTabSz="1218952"/>
            <a:r>
              <a:rPr lang="en-US" sz="2614" dirty="0">
                <a:solidFill>
                  <a:srgbClr val="FFFFFF"/>
                </a:solidFill>
              </a:rPr>
              <a:t>Multiple regions, for policy compliance &amp; DR</a:t>
            </a:r>
          </a:p>
          <a:p>
            <a:pPr defTabSz="1218952"/>
            <a:r>
              <a:rPr lang="en-US" sz="2614" dirty="0">
                <a:solidFill>
                  <a:srgbClr val="FFFFFF"/>
                </a:solidFill>
              </a:rPr>
              <a:t>Integrate ‘behind the firewall’ on-premises</a:t>
            </a:r>
          </a:p>
        </p:txBody>
      </p:sp>
      <p:sp>
        <p:nvSpPr>
          <p:cNvPr id="15" name="Rectangle 14"/>
          <p:cNvSpPr/>
          <p:nvPr/>
        </p:nvSpPr>
        <p:spPr bwMode="auto">
          <a:xfrm>
            <a:off x="668772" y="4995865"/>
            <a:ext cx="1906892" cy="1320742"/>
          </a:xfrm>
          <a:prstGeom prst="rect">
            <a:avLst/>
          </a:prstGeom>
          <a:solidFill>
            <a:srgbClr val="0171B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21880" tIns="60939" rIns="121880" bIns="60939" numCol="1" rtlCol="0" anchor="b" anchorCtr="0" compatLnSpc="1">
            <a:prstTxWarp prst="textNoShape">
              <a:avLst/>
            </a:prstTxWarp>
          </a:bodyPr>
          <a:lstStyle/>
          <a:p>
            <a:pPr algn="r" defTabSz="1218361" fontAlgn="base">
              <a:lnSpc>
                <a:spcPct val="90000"/>
              </a:lnSpc>
              <a:spcBef>
                <a:spcPct val="0"/>
              </a:spcBef>
              <a:spcAft>
                <a:spcPct val="0"/>
              </a:spcAft>
            </a:pPr>
            <a:r>
              <a:rPr lang="en-US" sz="2090" dirty="0">
                <a:solidFill>
                  <a:srgbClr val="FFFFFF"/>
                </a:solidFill>
              </a:rPr>
              <a:t>Ubiquity</a:t>
            </a:r>
            <a:endParaRPr lang="en-US" sz="2090" spc="-67" dirty="0">
              <a:solidFill>
                <a:srgbClr val="FFFFFF"/>
              </a:solidFill>
            </a:endParaRPr>
          </a:p>
        </p:txBody>
      </p:sp>
      <p:sp>
        <p:nvSpPr>
          <p:cNvPr id="14" name="Title 3"/>
          <p:cNvSpPr>
            <a:spLocks noGrp="1"/>
          </p:cNvSpPr>
          <p:nvPr>
            <p:ph type="title"/>
          </p:nvPr>
        </p:nvSpPr>
        <p:spPr/>
        <p:txBody>
          <a:bodyPr/>
          <a:lstStyle/>
          <a:p>
            <a:r>
              <a:rPr lang="en-US" dirty="0"/>
              <a:t>PowerShell, as a service</a:t>
            </a:r>
          </a:p>
        </p:txBody>
      </p:sp>
      <p:pic>
        <p:nvPicPr>
          <p:cNvPr id="17" name="Picture 35" descr="C:\Users\sakuu\Documents\Ballmer WPC\AI\Vacation.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1165714" y="1367856"/>
            <a:ext cx="1012330" cy="113031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5192404"/>
            <a:ext cx="1522357" cy="770714"/>
          </a:xfrm>
          <a:prstGeom prst="rect">
            <a:avLst/>
          </a:prstGeom>
        </p:spPr>
      </p:pic>
    </p:spTree>
    <p:extLst>
      <p:ext uri="{BB962C8B-B14F-4D97-AF65-F5344CB8AC3E}">
        <p14:creationId xmlns:p14="http://schemas.microsoft.com/office/powerpoint/2010/main" val="2991401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a:spLocks noGrp="1"/>
          </p:cNvSpPr>
          <p:nvPr>
            <p:ph type="title"/>
          </p:nvPr>
        </p:nvSpPr>
        <p:spPr>
          <a:xfrm>
            <a:off x="646111" y="253212"/>
            <a:ext cx="10118871" cy="661188"/>
          </a:xfrm>
        </p:spPr>
        <p:txBody>
          <a:bodyPr/>
          <a:lstStyle/>
          <a:p>
            <a:r>
              <a:rPr lang="en-US" sz="4313" dirty="0"/>
              <a:t>Automation Features</a:t>
            </a:r>
          </a:p>
        </p:txBody>
      </p:sp>
      <p:sp>
        <p:nvSpPr>
          <p:cNvPr id="3" name="Text Placeholder 4"/>
          <p:cNvSpPr>
            <a:spLocks noGrp="1"/>
          </p:cNvSpPr>
          <p:nvPr>
            <p:ph type="body" sz="quarter" idx="11"/>
          </p:nvPr>
        </p:nvSpPr>
        <p:spPr>
          <a:xfrm>
            <a:off x="179662" y="1098321"/>
            <a:ext cx="5378490" cy="5189693"/>
          </a:xfrm>
        </p:spPr>
        <p:txBody>
          <a:bodyPr>
            <a:normAutofit fontScale="92500" lnSpcReduction="10000"/>
          </a:bodyPr>
          <a:lstStyle/>
          <a:p>
            <a:pPr lvl="0"/>
            <a:r>
              <a:rPr lang="en-US" sz="2200" b="1" dirty="0">
                <a:solidFill>
                  <a:schemeClr val="tx1"/>
                </a:solidFill>
              </a:rPr>
              <a:t>Runbook Gallery</a:t>
            </a:r>
          </a:p>
          <a:p>
            <a:pPr lvl="0"/>
            <a:endParaRPr lang="en-US" sz="2200" b="1" dirty="0">
              <a:solidFill>
                <a:schemeClr val="tx1"/>
              </a:solidFill>
            </a:endParaRPr>
          </a:p>
          <a:p>
            <a:pPr lvl="0"/>
            <a:r>
              <a:rPr lang="en-US" sz="2200" b="1" dirty="0">
                <a:solidFill>
                  <a:schemeClr val="tx1"/>
                </a:solidFill>
              </a:rPr>
              <a:t>Module Gallery</a:t>
            </a:r>
            <a:endParaRPr lang="en-US" sz="2200" b="1" dirty="0"/>
          </a:p>
          <a:p>
            <a:pPr marL="28012" lvl="1"/>
            <a:endParaRPr lang="en-US" sz="2200" b="1" dirty="0"/>
          </a:p>
          <a:p>
            <a:pPr marL="28012" lvl="1"/>
            <a:r>
              <a:rPr lang="en-US" sz="2200" b="1" dirty="0"/>
              <a:t>PowerShell script runbooks</a:t>
            </a:r>
          </a:p>
          <a:p>
            <a:pPr marL="28012" lvl="1"/>
            <a:endParaRPr lang="en-US" sz="2200" b="1" dirty="0"/>
          </a:p>
          <a:p>
            <a:pPr lvl="0"/>
            <a:r>
              <a:rPr lang="en-US" sz="2200" b="1" dirty="0">
                <a:solidFill>
                  <a:schemeClr val="tx1"/>
                </a:solidFill>
              </a:rPr>
              <a:t>PowerShell v5 support</a:t>
            </a:r>
          </a:p>
          <a:p>
            <a:pPr marL="342900" lvl="0" indent="-342900">
              <a:buFont typeface="Arial" panose="020B0604020202020204" pitchFamily="34" charset="0"/>
              <a:buChar char="•"/>
            </a:pPr>
            <a:r>
              <a:rPr lang="en-US" sz="1700" dirty="0">
                <a:solidFill>
                  <a:schemeClr val="tx1"/>
                </a:solidFill>
              </a:rPr>
              <a:t>Side by side module versioning</a:t>
            </a:r>
          </a:p>
          <a:p>
            <a:pPr marL="342900" lvl="0" indent="-342900">
              <a:buFont typeface="Arial" panose="020B0604020202020204" pitchFamily="34" charset="0"/>
              <a:buChar char="•"/>
            </a:pPr>
            <a:r>
              <a:rPr lang="en-US" sz="1700" dirty="0">
                <a:solidFill>
                  <a:schemeClr val="tx1"/>
                </a:solidFill>
              </a:rPr>
              <a:t>PowerShell classes</a:t>
            </a:r>
          </a:p>
          <a:p>
            <a:pPr marL="342900" lvl="0" indent="-342900">
              <a:buFont typeface="Arial" panose="020B0604020202020204" pitchFamily="34" charset="0"/>
              <a:buChar char="•"/>
            </a:pPr>
            <a:r>
              <a:rPr lang="en-US" sz="1700" dirty="0">
                <a:solidFill>
                  <a:schemeClr val="tx1"/>
                </a:solidFill>
              </a:rPr>
              <a:t>PSWF improvements</a:t>
            </a:r>
          </a:p>
          <a:p>
            <a:pPr marL="342900" lvl="0" indent="-342900">
              <a:buFont typeface="Arial" panose="020B0604020202020204" pitchFamily="34" charset="0"/>
              <a:buChar char="•"/>
            </a:pPr>
            <a:r>
              <a:rPr lang="en-US" sz="1700" dirty="0">
                <a:solidFill>
                  <a:schemeClr val="tx1"/>
                </a:solidFill>
              </a:rPr>
              <a:t>New cmdlets (Convert-String)</a:t>
            </a:r>
          </a:p>
          <a:p>
            <a:pPr marL="342900" lvl="0" indent="-342900">
              <a:buFont typeface="Arial" panose="020B0604020202020204" pitchFamily="34" charset="0"/>
              <a:buChar char="•"/>
            </a:pPr>
            <a:r>
              <a:rPr lang="en-US" sz="1700" dirty="0">
                <a:solidFill>
                  <a:schemeClr val="tx1"/>
                </a:solidFill>
              </a:rPr>
              <a:t>PS DSC improvements (</a:t>
            </a:r>
            <a:r>
              <a:rPr lang="en-US" sz="1700" dirty="0" err="1">
                <a:solidFill>
                  <a:schemeClr val="tx1"/>
                </a:solidFill>
              </a:rPr>
              <a:t>PSRunAsCredential</a:t>
            </a:r>
            <a:r>
              <a:rPr lang="en-US" sz="1700" dirty="0">
                <a:solidFill>
                  <a:schemeClr val="tx1"/>
                </a:solidFill>
              </a:rPr>
              <a:t>)</a:t>
            </a:r>
          </a:p>
          <a:p>
            <a:pPr marL="28012" lvl="1"/>
            <a:endParaRPr lang="en-US" sz="2400" b="1" dirty="0"/>
          </a:p>
          <a:p>
            <a:pPr marL="28012" lvl="1"/>
            <a:r>
              <a:rPr lang="en-US" sz="2200" b="1" dirty="0"/>
              <a:t>PowerShell ISE Add-On</a:t>
            </a:r>
          </a:p>
          <a:p>
            <a:pPr marL="28012" lvl="1"/>
            <a:endParaRPr lang="en-US" sz="2200" b="1" dirty="0"/>
          </a:p>
          <a:p>
            <a:pPr lvl="0"/>
            <a:r>
              <a:rPr lang="en-US" sz="2200" b="1" dirty="0">
                <a:solidFill>
                  <a:schemeClr val="tx1"/>
                </a:solidFill>
              </a:rPr>
              <a:t>Hybrid Worker</a:t>
            </a:r>
          </a:p>
          <a:p>
            <a:pPr marL="336145" indent="-336145">
              <a:buFont typeface="Arial" panose="020B0604020202020204" pitchFamily="34" charset="0"/>
              <a:buChar char="•"/>
            </a:pPr>
            <a:endParaRPr lang="en-US" sz="2200" dirty="0">
              <a:solidFill>
                <a:schemeClr val="tx1"/>
              </a:solidFill>
            </a:endParaRPr>
          </a:p>
          <a:p>
            <a:r>
              <a:rPr lang="en-US" sz="2200" b="1" dirty="0">
                <a:solidFill>
                  <a:schemeClr val="tx1"/>
                </a:solidFill>
              </a:rPr>
              <a:t>Graphical Authoring </a:t>
            </a:r>
          </a:p>
          <a:p>
            <a:pPr marL="28012" lvl="1"/>
            <a:endParaRPr lang="en-US" sz="1500" dirty="0"/>
          </a:p>
        </p:txBody>
      </p:sp>
      <p:sp>
        <p:nvSpPr>
          <p:cNvPr id="4" name="Rectangle 3"/>
          <p:cNvSpPr/>
          <p:nvPr/>
        </p:nvSpPr>
        <p:spPr>
          <a:xfrm>
            <a:off x="6095999" y="1295342"/>
            <a:ext cx="5915161" cy="5478423"/>
          </a:xfrm>
          <a:prstGeom prst="rect">
            <a:avLst/>
          </a:prstGeom>
        </p:spPr>
        <p:txBody>
          <a:bodyPr wrap="square">
            <a:spAutoFit/>
          </a:bodyPr>
          <a:lstStyle/>
          <a:p>
            <a:pPr marL="0" lvl="1"/>
            <a:r>
              <a:rPr lang="en-US" sz="2000" b="1" dirty="0"/>
              <a:t>Azure Automation DSC</a:t>
            </a:r>
          </a:p>
          <a:p>
            <a:pPr marL="0" lvl="1"/>
            <a:endParaRPr lang="en-US" sz="2000" b="1" dirty="0"/>
          </a:p>
          <a:p>
            <a:pPr marL="0" lvl="1"/>
            <a:r>
              <a:rPr lang="en-US" sz="2000" b="1" dirty="0"/>
              <a:t>Source Control support</a:t>
            </a:r>
          </a:p>
          <a:p>
            <a:endParaRPr lang="en-US" sz="2000" b="1" dirty="0"/>
          </a:p>
          <a:p>
            <a:pPr marL="0" lvl="1"/>
            <a:r>
              <a:rPr lang="en-US" sz="2000" b="1" dirty="0"/>
              <a:t>OMS Log Analytics &amp; Azure Alerts integration</a:t>
            </a:r>
          </a:p>
          <a:p>
            <a:pPr marL="342900" lvl="1" indent="-342900">
              <a:buFont typeface="Arial" panose="020B0604020202020204" pitchFamily="34" charset="0"/>
              <a:buChar char="•"/>
            </a:pPr>
            <a:r>
              <a:rPr lang="en-US" sz="1400" dirty="0"/>
              <a:t>Enable automation runbooks to be triggered from OMS Log Analytics or Azure alerts</a:t>
            </a:r>
            <a:endParaRPr lang="en-US" sz="1400" b="1" dirty="0"/>
          </a:p>
          <a:p>
            <a:pPr marL="0" lvl="1"/>
            <a:endParaRPr lang="en-US" b="1" dirty="0"/>
          </a:p>
          <a:p>
            <a:pPr marL="0" lvl="1"/>
            <a:r>
              <a:rPr lang="en-US" sz="2000" b="1" dirty="0"/>
              <a:t>Diagnostic Logs</a:t>
            </a:r>
          </a:p>
          <a:p>
            <a:pPr marL="342900" lvl="1" indent="-342900">
              <a:buFont typeface="Arial" panose="020B0604020202020204" pitchFamily="34" charset="0"/>
              <a:buChar char="•"/>
            </a:pPr>
            <a:r>
              <a:rPr lang="en-US" sz="1400" dirty="0"/>
              <a:t>Job Stream/Operational Logs -&gt; Customer’s Storage Account</a:t>
            </a:r>
          </a:p>
          <a:p>
            <a:pPr marL="0" lvl="1"/>
            <a:endParaRPr lang="en-US" b="1" dirty="0"/>
          </a:p>
          <a:p>
            <a:pPr marL="0" lvl="1"/>
            <a:r>
              <a:rPr lang="en-US" sz="2000" b="1" dirty="0" err="1"/>
              <a:t>AzureRM</a:t>
            </a:r>
            <a:r>
              <a:rPr lang="en-US" sz="2000" b="1" dirty="0"/>
              <a:t> modules shipping in the service</a:t>
            </a:r>
          </a:p>
          <a:p>
            <a:pPr marL="0" lvl="1"/>
            <a:endParaRPr lang="en-US" sz="2000" b="1" dirty="0"/>
          </a:p>
          <a:p>
            <a:pPr marL="0" lvl="1"/>
            <a:r>
              <a:rPr lang="en-US" sz="2000" b="1" dirty="0"/>
              <a:t>Automation UX goes GA in the new Azure portal</a:t>
            </a:r>
          </a:p>
          <a:p>
            <a:pPr marL="0" lvl="1"/>
            <a:endParaRPr lang="en-US" sz="2000" b="1" dirty="0"/>
          </a:p>
          <a:p>
            <a:pPr marL="0" lvl="1"/>
            <a:r>
              <a:rPr lang="en-US" sz="2000" b="1" dirty="0"/>
              <a:t>Hybrid worker “run as”, </a:t>
            </a:r>
            <a:r>
              <a:rPr lang="en-US" sz="2000" b="1" dirty="0" err="1"/>
              <a:t>webhook</a:t>
            </a:r>
            <a:r>
              <a:rPr lang="en-US" sz="2000" b="1" dirty="0"/>
              <a:t> support</a:t>
            </a:r>
          </a:p>
          <a:p>
            <a:endParaRPr lang="en-US" sz="1600" b="1" dirty="0"/>
          </a:p>
          <a:p>
            <a:endParaRPr lang="en-US" sz="1600" dirty="0"/>
          </a:p>
        </p:txBody>
      </p:sp>
      <p:cxnSp>
        <p:nvCxnSpPr>
          <p:cNvPr id="5" name="Straight Connector 4"/>
          <p:cNvCxnSpPr/>
          <p:nvPr/>
        </p:nvCxnSpPr>
        <p:spPr>
          <a:xfrm>
            <a:off x="5827075" y="1189494"/>
            <a:ext cx="0" cy="519767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341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Browse Runbook Gallery</a:t>
            </a:r>
          </a:p>
        </p:txBody>
      </p:sp>
      <p:pic>
        <p:nvPicPr>
          <p:cNvPr id="5" name="Content Placeholder 4">
            <a:hlinkClick r:id="rId3" action="ppaction://hlinkfile"/>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15520" y="219597"/>
            <a:ext cx="10476294" cy="6547685"/>
          </a:xfrm>
        </p:spPr>
      </p:pic>
    </p:spTree>
    <p:extLst>
      <p:ext uri="{BB962C8B-B14F-4D97-AF65-F5344CB8AC3E}">
        <p14:creationId xmlns:p14="http://schemas.microsoft.com/office/powerpoint/2010/main" val="172654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 Module from Gallery</a:t>
            </a:r>
          </a:p>
        </p:txBody>
      </p:sp>
      <p:pic>
        <p:nvPicPr>
          <p:cNvPr id="5" name="Content Placeholder 4">
            <a:hlinkClick r:id="rId3" action="ppaction://hlinkfile"/>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46111" y="188260"/>
            <a:ext cx="10123562" cy="6327227"/>
          </a:xfrm>
        </p:spPr>
      </p:pic>
    </p:spTree>
    <p:extLst>
      <p:ext uri="{BB962C8B-B14F-4D97-AF65-F5344CB8AC3E}">
        <p14:creationId xmlns:p14="http://schemas.microsoft.com/office/powerpoint/2010/main" val="387279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PowerShell ISE Add-On</a:t>
            </a:r>
          </a:p>
        </p:txBody>
      </p:sp>
      <p:pic>
        <p:nvPicPr>
          <p:cNvPr id="4" name="Content Placeholder 3">
            <a:hlinkClick r:id="rId3" action="ppaction://hlinkfile"/>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30307" y="309281"/>
            <a:ext cx="10160316" cy="6350199"/>
          </a:xfrm>
        </p:spPr>
      </p:pic>
    </p:spTree>
    <p:extLst>
      <p:ext uri="{BB962C8B-B14F-4D97-AF65-F5344CB8AC3E}">
        <p14:creationId xmlns:p14="http://schemas.microsoft.com/office/powerpoint/2010/main" val="1015887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 Control</a:t>
            </a:r>
          </a:p>
        </p:txBody>
      </p:sp>
      <p:sp>
        <p:nvSpPr>
          <p:cNvPr id="3" name="Content Placeholder 2"/>
          <p:cNvSpPr>
            <a:spLocks noGrp="1"/>
          </p:cNvSpPr>
          <p:nvPr>
            <p:ph idx="1"/>
          </p:nvPr>
        </p:nvSpPr>
        <p:spPr>
          <a:xfrm>
            <a:off x="1103312" y="2052918"/>
            <a:ext cx="8946541" cy="2533150"/>
          </a:xfrm>
        </p:spPr>
        <p:txBody>
          <a:bodyPr>
            <a:noAutofit/>
          </a:bodyPr>
          <a:lstStyle/>
          <a:p>
            <a:r>
              <a:rPr lang="en-US" sz="2400" dirty="0"/>
              <a:t>Uses GitHub</a:t>
            </a:r>
          </a:p>
          <a:p>
            <a:pPr lvl="1"/>
            <a:r>
              <a:rPr lang="en-US" sz="2400" dirty="0"/>
              <a:t>Need GitHub account: </a:t>
            </a:r>
            <a:r>
              <a:rPr lang="en-US" sz="2400" dirty="0">
                <a:hlinkClick r:id="rId3" action="ppaction://hlinkfile"/>
              </a:rPr>
              <a:t>Demo</a:t>
            </a:r>
            <a:endParaRPr lang="en-US" sz="2400" dirty="0"/>
          </a:p>
          <a:p>
            <a:pPr lvl="1"/>
            <a:r>
              <a:rPr lang="en-US" sz="2400" dirty="0"/>
              <a:t>Need GitHub Project: </a:t>
            </a:r>
            <a:r>
              <a:rPr lang="en-US" sz="2400" dirty="0">
                <a:hlinkClick r:id="rId4" action="ppaction://hlinkfile"/>
              </a:rPr>
              <a:t>Demo</a:t>
            </a:r>
            <a:endParaRPr lang="en-US" sz="2400" dirty="0"/>
          </a:p>
          <a:p>
            <a:r>
              <a:rPr lang="en-US" sz="2400" dirty="0"/>
              <a:t>Tie into Automation Source Control: </a:t>
            </a:r>
            <a:r>
              <a:rPr lang="en-US" sz="2400" dirty="0">
                <a:hlinkClick r:id="rId5" action="ppaction://hlinkfile"/>
              </a:rPr>
              <a:t>Demo</a:t>
            </a:r>
            <a:endParaRPr lang="en-US" sz="2400" dirty="0"/>
          </a:p>
          <a:p>
            <a:r>
              <a:rPr lang="en-US" sz="2400" dirty="0"/>
              <a:t>Later adding Visual Studio Online</a:t>
            </a:r>
          </a:p>
        </p:txBody>
      </p:sp>
    </p:spTree>
    <p:extLst>
      <p:ext uri="{BB962C8B-B14F-4D97-AF65-F5344CB8AC3E}">
        <p14:creationId xmlns:p14="http://schemas.microsoft.com/office/powerpoint/2010/main" val="259332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Downsides to only using Runbooks</a:t>
            </a:r>
          </a:p>
        </p:txBody>
      </p:sp>
      <p:sp>
        <p:nvSpPr>
          <p:cNvPr id="3" name="Text Placeholder 2"/>
          <p:cNvSpPr>
            <a:spLocks noGrp="1"/>
          </p:cNvSpPr>
          <p:nvPr>
            <p:ph type="body" sz="quarter" idx="10"/>
          </p:nvPr>
        </p:nvSpPr>
        <p:spPr>
          <a:xfrm>
            <a:off x="294802" y="1315232"/>
            <a:ext cx="10815784" cy="5436297"/>
          </a:xfrm>
        </p:spPr>
        <p:txBody>
          <a:bodyPr>
            <a:normAutofit fontScale="92500" lnSpcReduction="20000"/>
          </a:bodyPr>
          <a:lstStyle/>
          <a:p>
            <a:pPr marL="457200" indent="-457200">
              <a:buFont typeface="Arial" panose="020B0604020202020204" pitchFamily="34" charset="0"/>
              <a:buChar char="•"/>
            </a:pPr>
            <a:r>
              <a:rPr lang="en-US" sz="3200" dirty="0">
                <a:solidFill>
                  <a:schemeClr val="tx1"/>
                </a:solidFill>
              </a:rPr>
              <a:t>Have to write TEST, SET, REPORT logic</a:t>
            </a:r>
          </a:p>
          <a:p>
            <a:pPr marL="457200" indent="-457200">
              <a:buFont typeface="Arial" panose="020B0604020202020204" pitchFamily="34" charset="0"/>
              <a:buChar char="•"/>
            </a:pPr>
            <a:r>
              <a:rPr lang="en-US" sz="3200" dirty="0">
                <a:solidFill>
                  <a:schemeClr val="tx1"/>
                </a:solidFill>
              </a:rPr>
              <a:t>Have to schedule execution to happen continually</a:t>
            </a:r>
          </a:p>
          <a:p>
            <a:pPr marL="457200" indent="-457200">
              <a:buFont typeface="Arial" panose="020B0604020202020204" pitchFamily="34" charset="0"/>
              <a:buChar char="•"/>
            </a:pPr>
            <a:r>
              <a:rPr lang="en-US" sz="3200" dirty="0">
                <a:solidFill>
                  <a:schemeClr val="tx1"/>
                </a:solidFill>
              </a:rPr>
              <a:t>Have to open inbound ports on all machines to manage</a:t>
            </a:r>
          </a:p>
          <a:p>
            <a:pPr marL="457200" indent="-457200">
              <a:buFont typeface="Arial" panose="020B0604020202020204" pitchFamily="34" charset="0"/>
              <a:buChar char="•"/>
            </a:pPr>
            <a:r>
              <a:rPr lang="en-US" sz="3200" dirty="0">
                <a:solidFill>
                  <a:schemeClr val="tx1"/>
                </a:solidFill>
              </a:rPr>
              <a:t>Have to give Automation inbound access to all machines to manage</a:t>
            </a:r>
          </a:p>
          <a:p>
            <a:pPr marL="457200" indent="-457200">
              <a:buFont typeface="Arial" panose="020B0604020202020204" pitchFamily="34" charset="0"/>
              <a:buChar char="•"/>
            </a:pPr>
            <a:r>
              <a:rPr lang="en-US" sz="3200" dirty="0">
                <a:solidFill>
                  <a:schemeClr val="tx1"/>
                </a:solidFill>
              </a:rPr>
              <a:t>Can’t easily </a:t>
            </a:r>
            <a:r>
              <a:rPr lang="en-US" sz="3200" dirty="0" err="1">
                <a:solidFill>
                  <a:schemeClr val="tx1"/>
                </a:solidFill>
              </a:rPr>
              <a:t>grok</a:t>
            </a:r>
            <a:r>
              <a:rPr lang="en-US" sz="3200" dirty="0">
                <a:solidFill>
                  <a:schemeClr val="tx1"/>
                </a:solidFill>
              </a:rPr>
              <a:t> configuration requirements just by skimming</a:t>
            </a:r>
          </a:p>
          <a:p>
            <a:pPr marL="457200" indent="-457200">
              <a:buFont typeface="Arial" panose="020B0604020202020204" pitchFamily="34" charset="0"/>
              <a:buChar char="•"/>
            </a:pPr>
            <a:r>
              <a:rPr lang="en-US" sz="3200" dirty="0">
                <a:solidFill>
                  <a:schemeClr val="tx1"/>
                </a:solidFill>
              </a:rPr>
              <a:t>Can’t easily </a:t>
            </a:r>
            <a:r>
              <a:rPr lang="en-US" sz="3200" dirty="0" err="1">
                <a:solidFill>
                  <a:schemeClr val="tx1"/>
                </a:solidFill>
              </a:rPr>
              <a:t>grok</a:t>
            </a:r>
            <a:r>
              <a:rPr lang="en-US" sz="3200" dirty="0">
                <a:solidFill>
                  <a:schemeClr val="tx1"/>
                </a:solidFill>
              </a:rPr>
              <a:t> changes to configuration requirements by diffing different versions over time</a:t>
            </a:r>
          </a:p>
          <a:p>
            <a:pPr marL="457200" indent="-457200">
              <a:buFont typeface="Arial" panose="020B0604020202020204" pitchFamily="34" charset="0"/>
              <a:buChar char="•"/>
            </a:pPr>
            <a:r>
              <a:rPr lang="en-US" sz="3200" dirty="0">
                <a:solidFill>
                  <a:schemeClr val="tx1"/>
                </a:solidFill>
              </a:rPr>
              <a:t>Have to write imperative PowerShell even though really just trying to define a declarative “desired state”</a:t>
            </a:r>
          </a:p>
          <a:p>
            <a:pPr marL="457200" indent="-457200">
              <a:buFont typeface="Arial" panose="020B0604020202020204" pitchFamily="34" charset="0"/>
              <a:buChar char="•"/>
            </a:pPr>
            <a:endParaRPr lang="en-US" sz="3200" dirty="0">
              <a:solidFill>
                <a:schemeClr val="tx1"/>
              </a:solidFill>
            </a:endParaRPr>
          </a:p>
        </p:txBody>
      </p:sp>
    </p:spTree>
    <p:extLst>
      <p:ext uri="{BB962C8B-B14F-4D97-AF65-F5344CB8AC3E}">
        <p14:creationId xmlns:p14="http://schemas.microsoft.com/office/powerpoint/2010/main" val="2867309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9699" y="1392702"/>
            <a:ext cx="8825658" cy="2392907"/>
          </a:xfrm>
        </p:spPr>
        <p:txBody>
          <a:bodyPr/>
          <a:lstStyle/>
          <a:p>
            <a:r>
              <a:rPr lang="en-US" sz="6600" dirty="0"/>
              <a:t>Azure Automation DSC</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78702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600" dirty="0"/>
              <a:t>PowerShell Desired State Configuration: Overview</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75977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70066" y="1189813"/>
            <a:ext cx="11651870" cy="3119963"/>
          </a:xfrm>
          <a:prstGeom prst="rect">
            <a:avLst/>
          </a:prstGeom>
        </p:spPr>
        <p:txBody>
          <a:bodyPr/>
          <a:lstStyle/>
          <a:p>
            <a:pPr marL="571390" indent="-571390">
              <a:spcAft>
                <a:spcPts val="1200"/>
              </a:spcAft>
              <a:buFont typeface="Arial" panose="020B0604020202020204" pitchFamily="34" charset="0"/>
              <a:buChar char="•"/>
            </a:pPr>
            <a:r>
              <a:rPr lang="en-US" sz="4311" dirty="0"/>
              <a:t> </a:t>
            </a:r>
            <a:r>
              <a:rPr lang="en-US" sz="3600" dirty="0"/>
              <a:t>Simplifies configuration</a:t>
            </a:r>
          </a:p>
          <a:p>
            <a:pPr marL="571390" indent="-571390">
              <a:spcAft>
                <a:spcPts val="1200"/>
              </a:spcAft>
              <a:buFont typeface="Arial" panose="020B0604020202020204" pitchFamily="34" charset="0"/>
              <a:buChar char="•"/>
            </a:pPr>
            <a:r>
              <a:rPr lang="en-US" sz="3600" dirty="0"/>
              <a:t> Prevents configuration drift</a:t>
            </a:r>
          </a:p>
          <a:p>
            <a:pPr marL="571390" indent="-571390">
              <a:spcAft>
                <a:spcPts val="1200"/>
              </a:spcAft>
              <a:buFont typeface="Arial" panose="020B0604020202020204" pitchFamily="34" charset="0"/>
              <a:buChar char="•"/>
            </a:pPr>
            <a:r>
              <a:rPr lang="en-US" sz="3600" dirty="0"/>
              <a:t> Flexible deployment options</a:t>
            </a:r>
          </a:p>
          <a:p>
            <a:pPr marL="571390" indent="-571390">
              <a:spcAft>
                <a:spcPts val="1200"/>
              </a:spcAft>
              <a:buFont typeface="Arial" panose="020B0604020202020204" pitchFamily="34" charset="0"/>
              <a:buChar char="•"/>
            </a:pPr>
            <a:r>
              <a:rPr lang="en-US" sz="3600" dirty="0"/>
              <a:t> Enables continuous deployment</a:t>
            </a:r>
          </a:p>
        </p:txBody>
      </p:sp>
      <p:sp>
        <p:nvSpPr>
          <p:cNvPr id="2" name="Title 1"/>
          <p:cNvSpPr>
            <a:spLocks noGrp="1"/>
          </p:cNvSpPr>
          <p:nvPr>
            <p:ph type="title"/>
          </p:nvPr>
        </p:nvSpPr>
        <p:spPr>
          <a:xfrm>
            <a:off x="449654" y="324745"/>
            <a:ext cx="11082990" cy="1325375"/>
          </a:xfrm>
        </p:spPr>
        <p:txBody>
          <a:bodyPr>
            <a:normAutofit/>
          </a:bodyPr>
          <a:lstStyle/>
          <a:p>
            <a:r>
              <a:rPr lang="en-US" dirty="0"/>
              <a:t>PS DSC configuration management</a:t>
            </a:r>
          </a:p>
        </p:txBody>
      </p:sp>
      <p:graphicFrame>
        <p:nvGraphicFramePr>
          <p:cNvPr id="4" name="Diagram 3"/>
          <p:cNvGraphicFramePr/>
          <p:nvPr>
            <p:extLst/>
          </p:nvPr>
        </p:nvGraphicFramePr>
        <p:xfrm>
          <a:off x="1091671" y="2906161"/>
          <a:ext cx="10571681" cy="44814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824374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283" y="229510"/>
            <a:ext cx="11145850" cy="664607"/>
          </a:xfrm>
        </p:spPr>
        <p:txBody>
          <a:bodyPr>
            <a:noAutofit/>
          </a:bodyPr>
          <a:lstStyle/>
          <a:p>
            <a:r>
              <a:rPr lang="en-US" sz="4000" dirty="0"/>
              <a:t>Configuration and Continuous Deployment</a:t>
            </a:r>
          </a:p>
        </p:txBody>
      </p:sp>
      <p:graphicFrame>
        <p:nvGraphicFramePr>
          <p:cNvPr id="6" name="Table 5"/>
          <p:cNvGraphicFramePr>
            <a:graphicFrameLocks noGrp="1"/>
          </p:cNvGraphicFramePr>
          <p:nvPr>
            <p:extLst>
              <p:ext uri="{D42A27DB-BD31-4B8C-83A1-F6EECF244321}">
                <p14:modId xmlns:p14="http://schemas.microsoft.com/office/powerpoint/2010/main" val="3142027636"/>
              </p:ext>
            </p:extLst>
          </p:nvPr>
        </p:nvGraphicFramePr>
        <p:xfrm>
          <a:off x="694809" y="1136211"/>
          <a:ext cx="10715773" cy="5577756"/>
        </p:xfrm>
        <a:graphic>
          <a:graphicData uri="http://schemas.openxmlformats.org/drawingml/2006/table">
            <a:tbl>
              <a:tblPr firstRow="1" bandRow="1">
                <a:tableStyleId>{35758FB7-9AC5-4552-8A53-C91805E547FA}</a:tableStyleId>
              </a:tblPr>
              <a:tblGrid>
                <a:gridCol w="2282202">
                  <a:extLst>
                    <a:ext uri="{9D8B030D-6E8A-4147-A177-3AD203B41FA5}">
                      <a16:colId xmlns:a16="http://schemas.microsoft.com/office/drawing/2014/main" val="20000"/>
                    </a:ext>
                  </a:extLst>
                </a:gridCol>
                <a:gridCol w="2890790">
                  <a:extLst>
                    <a:ext uri="{9D8B030D-6E8A-4147-A177-3AD203B41FA5}">
                      <a16:colId xmlns:a16="http://schemas.microsoft.com/office/drawing/2014/main" val="20001"/>
                    </a:ext>
                  </a:extLst>
                </a:gridCol>
                <a:gridCol w="5542781">
                  <a:extLst>
                    <a:ext uri="{9D8B030D-6E8A-4147-A177-3AD203B41FA5}">
                      <a16:colId xmlns:a16="http://schemas.microsoft.com/office/drawing/2014/main" val="20002"/>
                    </a:ext>
                  </a:extLst>
                </a:gridCol>
              </a:tblGrid>
              <a:tr h="1137242">
                <a:tc rowSpan="2">
                  <a:txBody>
                    <a:bodyPr/>
                    <a:lstStyle/>
                    <a:p>
                      <a:r>
                        <a:rPr lang="en-US" sz="2800" dirty="0"/>
                        <a:t>Intent</a:t>
                      </a:r>
                      <a:endParaRPr lang="en-US" sz="2800" b="0" dirty="0">
                        <a:solidFill>
                          <a:schemeClr val="bg1"/>
                        </a:solidFill>
                      </a:endParaRPr>
                    </a:p>
                  </a:txBody>
                  <a:tcPr marL="91414" marR="91414" marT="45706" marB="45706"/>
                </a:tc>
                <a:tc>
                  <a:txBody>
                    <a:bodyPr/>
                    <a:lstStyle/>
                    <a:p>
                      <a:r>
                        <a:rPr lang="en-US" sz="2400" dirty="0"/>
                        <a:t>Environment</a:t>
                      </a:r>
                    </a:p>
                    <a:p>
                      <a:r>
                        <a:rPr lang="en-US" sz="2400" dirty="0"/>
                        <a:t>Configuration</a:t>
                      </a:r>
                    </a:p>
                    <a:p>
                      <a:r>
                        <a:rPr lang="en-US" sz="1400" dirty="0"/>
                        <a:t>(Dev</a:t>
                      </a:r>
                      <a:r>
                        <a:rPr lang="en-US" sz="1400" baseline="0" dirty="0"/>
                        <a:t> -&gt; Test -&gt; Production)</a:t>
                      </a:r>
                      <a:endParaRPr lang="en-US" sz="1400" b="0" dirty="0">
                        <a:solidFill>
                          <a:schemeClr val="bg1"/>
                        </a:solidFill>
                      </a:endParaRPr>
                    </a:p>
                  </a:txBody>
                  <a:tcPr marL="91414" marR="91414" marT="45706" marB="45706"/>
                </a:tc>
                <a:tc>
                  <a:txBody>
                    <a:bodyPr/>
                    <a:lstStyle/>
                    <a:p>
                      <a:r>
                        <a:rPr lang="en-US" sz="1800" kern="1200" dirty="0"/>
                        <a:t>$</a:t>
                      </a:r>
                      <a:r>
                        <a:rPr lang="en-US" sz="1800" kern="1200" dirty="0" err="1"/>
                        <a:t>SiteName</a:t>
                      </a:r>
                      <a:r>
                        <a:rPr lang="en-US" sz="1800" kern="1200" baseline="0" dirty="0"/>
                        <a:t> = “</a:t>
                      </a:r>
                      <a:r>
                        <a:rPr lang="en-US" sz="1800" kern="1200" baseline="0" dirty="0" err="1"/>
                        <a:t>TestWebApp</a:t>
                      </a:r>
                      <a:r>
                        <a:rPr lang="en-US" sz="1800" kern="1200" baseline="0" dirty="0"/>
                        <a:t>”</a:t>
                      </a:r>
                    </a:p>
                    <a:p>
                      <a:r>
                        <a:rPr lang="en-US" sz="1800" kern="1200" baseline="0" dirty="0"/>
                        <a:t>$</a:t>
                      </a:r>
                      <a:r>
                        <a:rPr lang="en-US" sz="1800" kern="1200" baseline="0" dirty="0" err="1"/>
                        <a:t>SitePath</a:t>
                      </a:r>
                      <a:r>
                        <a:rPr lang="en-US" sz="1800" kern="1200" baseline="0" dirty="0"/>
                        <a:t>   = “d:\</a:t>
                      </a:r>
                      <a:r>
                        <a:rPr lang="en-US" sz="1800" kern="1200" baseline="0" dirty="0" err="1"/>
                        <a:t>inetpub</a:t>
                      </a:r>
                      <a:r>
                        <a:rPr lang="en-US" sz="1800" kern="1200" baseline="0" dirty="0"/>
                        <a:t>\</a:t>
                      </a:r>
                      <a:r>
                        <a:rPr lang="en-US" sz="1800" kern="1200" baseline="0" dirty="0" err="1"/>
                        <a:t>testsite</a:t>
                      </a:r>
                      <a:r>
                        <a:rPr lang="en-US" sz="1800" kern="1200" baseline="0" dirty="0"/>
                        <a:t>” </a:t>
                      </a:r>
                    </a:p>
                    <a:p>
                      <a:r>
                        <a:rPr lang="en-US" sz="1800" kern="1200" baseline="0" dirty="0"/>
                        <a:t>Servers       = 3</a:t>
                      </a:r>
                      <a:endParaRPr lang="en-US" sz="1800" kern="1200" dirty="0"/>
                    </a:p>
                    <a:p>
                      <a:r>
                        <a:rPr lang="en-US" sz="1600" kern="1200" dirty="0"/>
                        <a:t>…</a:t>
                      </a:r>
                      <a:endParaRPr lang="en-US" sz="1600" b="0" kern="1200" dirty="0">
                        <a:solidFill>
                          <a:schemeClr val="bg1"/>
                        </a:solidFill>
                        <a:latin typeface="+mn-lt"/>
                        <a:ea typeface="+mn-ea"/>
                        <a:cs typeface="+mn-cs"/>
                      </a:endParaRPr>
                    </a:p>
                  </a:txBody>
                  <a:tcPr marL="91414" marR="91414" marT="45706" marB="45706"/>
                </a:tc>
                <a:extLst>
                  <a:ext uri="{0D108BD9-81ED-4DB2-BD59-A6C34878D82A}">
                    <a16:rowId xmlns:a16="http://schemas.microsoft.com/office/drawing/2014/main" val="10000"/>
                  </a:ext>
                </a:extLst>
              </a:tr>
              <a:tr h="1675097">
                <a:tc vMerge="1">
                  <a:txBody>
                    <a:bodyPr/>
                    <a:lstStyle/>
                    <a:p>
                      <a:endParaRPr lang="en-US" dirty="0"/>
                    </a:p>
                  </a:txBody>
                  <a:tcPr/>
                </a:tc>
                <a:tc>
                  <a:txBody>
                    <a:bodyPr/>
                    <a:lstStyle/>
                    <a:p>
                      <a:r>
                        <a:rPr lang="en-US" sz="2400" dirty="0"/>
                        <a:t>Structural</a:t>
                      </a:r>
                      <a:r>
                        <a:rPr lang="en-US" sz="2400" baseline="0" dirty="0"/>
                        <a:t> Configuration</a:t>
                      </a:r>
                      <a:endParaRPr lang="en-US" sz="2400" dirty="0">
                        <a:solidFill>
                          <a:schemeClr val="bg1"/>
                        </a:solidFill>
                      </a:endParaRPr>
                    </a:p>
                  </a:txBody>
                  <a:tcPr marL="91414" marR="91414" marT="45706" marB="45706"/>
                </a:tc>
                <a:tc>
                  <a:txBody>
                    <a:bodyPr/>
                    <a:lstStyle/>
                    <a:p>
                      <a:r>
                        <a:rPr lang="en-US" sz="1800" dirty="0"/>
                        <a:t>Website IIS</a:t>
                      </a:r>
                      <a:r>
                        <a:rPr lang="en-US" sz="1800" baseline="0" dirty="0"/>
                        <a:t> </a:t>
                      </a:r>
                      <a:r>
                        <a:rPr lang="en-US" sz="1800" dirty="0"/>
                        <a:t>{</a:t>
                      </a:r>
                    </a:p>
                    <a:p>
                      <a:r>
                        <a:rPr lang="en-US" sz="1800" dirty="0"/>
                        <a:t>       Ensure = "Present“</a:t>
                      </a:r>
                    </a:p>
                    <a:p>
                      <a:r>
                        <a:rPr lang="en-US" sz="1800" dirty="0"/>
                        <a:t>       Name  = </a:t>
                      </a:r>
                      <a:r>
                        <a:rPr lang="en-US" sz="1800" kern="1200" dirty="0"/>
                        <a:t>$</a:t>
                      </a:r>
                      <a:r>
                        <a:rPr lang="en-US" sz="1800" kern="1200" dirty="0" err="1"/>
                        <a:t>SiteName</a:t>
                      </a:r>
                      <a:r>
                        <a:rPr lang="en-US" sz="1800" kern="1200" baseline="0" dirty="0"/>
                        <a:t> </a:t>
                      </a:r>
                      <a:endParaRPr lang="en-US" sz="1800" dirty="0"/>
                    </a:p>
                    <a:p>
                      <a:r>
                        <a:rPr lang="en-US" sz="1800" dirty="0"/>
                        <a:t>       Path    = </a:t>
                      </a:r>
                      <a:r>
                        <a:rPr lang="en-US" sz="1800" kern="1200" baseline="0" dirty="0"/>
                        <a:t>$</a:t>
                      </a:r>
                      <a:r>
                        <a:rPr lang="en-US" sz="1800" kern="1200" baseline="0" dirty="0" err="1"/>
                        <a:t>SitePath</a:t>
                      </a:r>
                      <a:r>
                        <a:rPr lang="en-US" sz="1800" kern="1200" baseline="0" dirty="0"/>
                        <a:t> </a:t>
                      </a:r>
                      <a:endParaRPr lang="en-US" sz="1800" dirty="0"/>
                    </a:p>
                    <a:p>
                      <a:r>
                        <a:rPr lang="en-US" sz="1800" dirty="0"/>
                        <a:t>}</a:t>
                      </a:r>
                    </a:p>
                    <a:p>
                      <a:r>
                        <a:rPr lang="en-US" sz="1600" dirty="0"/>
                        <a:t>…</a:t>
                      </a:r>
                      <a:endParaRPr lang="en-US" sz="1600" dirty="0">
                        <a:solidFill>
                          <a:schemeClr val="bg1"/>
                        </a:solidFill>
                      </a:endParaRPr>
                    </a:p>
                  </a:txBody>
                  <a:tcPr marL="91414" marR="91414" marT="45706" marB="45706"/>
                </a:tc>
                <a:extLst>
                  <a:ext uri="{0D108BD9-81ED-4DB2-BD59-A6C34878D82A}">
                    <a16:rowId xmlns:a16="http://schemas.microsoft.com/office/drawing/2014/main" val="10001"/>
                  </a:ext>
                </a:extLst>
              </a:tr>
              <a:tr h="2661164">
                <a:tc>
                  <a:txBody>
                    <a:bodyPr/>
                    <a:lstStyle/>
                    <a:p>
                      <a:r>
                        <a:rPr lang="en-US" sz="2800" dirty="0"/>
                        <a:t>Make It So</a:t>
                      </a:r>
                      <a:endParaRPr lang="en-US" sz="2800" dirty="0">
                        <a:solidFill>
                          <a:schemeClr val="bg1"/>
                        </a:solidFill>
                      </a:endParaRPr>
                    </a:p>
                  </a:txBody>
                  <a:tcPr marL="91414" marR="91414" marT="45706" marB="45706"/>
                </a:tc>
                <a:tc>
                  <a:txBody>
                    <a:bodyPr/>
                    <a:lstStyle/>
                    <a:p>
                      <a:r>
                        <a:rPr lang="en-US" sz="2400" dirty="0"/>
                        <a:t>Idempotent</a:t>
                      </a:r>
                      <a:r>
                        <a:rPr lang="en-US" sz="2400" baseline="0" dirty="0"/>
                        <a:t> Automation</a:t>
                      </a:r>
                      <a:endParaRPr lang="en-US" sz="2400" dirty="0">
                        <a:solidFill>
                          <a:schemeClr val="bg1"/>
                        </a:solidFill>
                      </a:endParaRPr>
                    </a:p>
                  </a:txBody>
                  <a:tcPr marL="91414" marR="91414" marT="45706" marB="45706"/>
                </a:tc>
                <a:tc>
                  <a:txBody>
                    <a:bodyPr/>
                    <a:lstStyle/>
                    <a:p>
                      <a:r>
                        <a:rPr lang="en-US" sz="1600" dirty="0" err="1"/>
                        <a:t>foreach</a:t>
                      </a:r>
                      <a:r>
                        <a:rPr lang="en-US" sz="1600" dirty="0"/>
                        <a:t> -parallel ($</a:t>
                      </a:r>
                      <a:r>
                        <a:rPr lang="en-US" sz="1600" dirty="0" err="1"/>
                        <a:t>featureName</a:t>
                      </a:r>
                      <a:r>
                        <a:rPr lang="en-US" sz="1600" dirty="0"/>
                        <a:t> in $Name)</a:t>
                      </a:r>
                    </a:p>
                    <a:p>
                      <a:r>
                        <a:rPr lang="en-US" sz="1600" dirty="0"/>
                        <a:t>{</a:t>
                      </a:r>
                    </a:p>
                    <a:p>
                      <a:r>
                        <a:rPr lang="en-US" sz="1600" dirty="0"/>
                        <a:t>    $feature = Get-</a:t>
                      </a:r>
                      <a:r>
                        <a:rPr lang="en-US" sz="1600" dirty="0" err="1"/>
                        <a:t>WindowsFeature</a:t>
                      </a:r>
                      <a:r>
                        <a:rPr lang="en-US" sz="1600" dirty="0"/>
                        <a:t> -Name $</a:t>
                      </a:r>
                      <a:r>
                        <a:rPr lang="en-US" sz="1600" dirty="0" err="1"/>
                        <a:t>featureName</a:t>
                      </a:r>
                      <a:endParaRPr lang="en-US" sz="1600" dirty="0"/>
                    </a:p>
                    <a:p>
                      <a:r>
                        <a:rPr lang="en-US" sz="1600" dirty="0"/>
                        <a:t>    if(($Ensure -</a:t>
                      </a:r>
                      <a:r>
                        <a:rPr lang="en-US" sz="1600" dirty="0" err="1"/>
                        <a:t>eq</a:t>
                      </a:r>
                      <a:r>
                        <a:rPr lang="en-US" sz="1600" dirty="0"/>
                        <a:t> "Present") -and (!$</a:t>
                      </a:r>
                      <a:r>
                        <a:rPr lang="en-US" sz="1600" dirty="0" err="1"/>
                        <a:t>feature.Installed</a:t>
                      </a:r>
                      <a:r>
                        <a:rPr lang="en-US" sz="1600" dirty="0"/>
                        <a:t>))</a:t>
                      </a:r>
                    </a:p>
                    <a:p>
                      <a:r>
                        <a:rPr lang="en-US" sz="1600" dirty="0"/>
                        <a:t>    {</a:t>
                      </a:r>
                    </a:p>
                    <a:p>
                      <a:r>
                        <a:rPr lang="en-US" sz="1600" dirty="0"/>
                        <a:t>        Install-</a:t>
                      </a:r>
                      <a:r>
                        <a:rPr lang="en-US" sz="1600" dirty="0" err="1"/>
                        <a:t>WindowsFeature</a:t>
                      </a:r>
                      <a:r>
                        <a:rPr lang="en-US" sz="1600" dirty="0"/>
                        <a:t> -Name $</a:t>
                      </a:r>
                      <a:r>
                        <a:rPr lang="en-US" sz="1600" dirty="0" err="1"/>
                        <a:t>featureName</a:t>
                      </a:r>
                      <a:endParaRPr lang="en-US" sz="1600" dirty="0"/>
                    </a:p>
                    <a:p>
                      <a:r>
                        <a:rPr lang="en-US" sz="1600" dirty="0"/>
                        <a:t>    }</a:t>
                      </a:r>
                    </a:p>
                    <a:p>
                      <a:r>
                        <a:rPr lang="en-US" sz="1400" dirty="0"/>
                        <a:t>    ….</a:t>
                      </a:r>
                    </a:p>
                    <a:p>
                      <a:r>
                        <a:rPr lang="en-US" sz="1600" dirty="0"/>
                        <a:t>}</a:t>
                      </a:r>
                    </a:p>
                    <a:p>
                      <a:r>
                        <a:rPr lang="en-US" sz="1400" dirty="0"/>
                        <a:t>…</a:t>
                      </a:r>
                      <a:endParaRPr lang="en-US" sz="1400" dirty="0">
                        <a:solidFill>
                          <a:schemeClr val="bg1"/>
                        </a:solidFill>
                      </a:endParaRPr>
                    </a:p>
                  </a:txBody>
                  <a:tcPr marL="91414" marR="91414" marT="45706" marB="45706"/>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267422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894" y="201371"/>
            <a:ext cx="11536804" cy="1325375"/>
          </a:xfrm>
        </p:spPr>
        <p:txBody>
          <a:bodyPr>
            <a:normAutofit/>
          </a:bodyPr>
          <a:lstStyle/>
          <a:p>
            <a:r>
              <a:rPr lang="en-US" dirty="0"/>
              <a:t>PowerShell DSC Lifecycle</a:t>
            </a:r>
          </a:p>
        </p:txBody>
      </p:sp>
      <p:sp>
        <p:nvSpPr>
          <p:cNvPr id="6" name="TextBox 5"/>
          <p:cNvSpPr txBox="1"/>
          <p:nvPr/>
        </p:nvSpPr>
        <p:spPr>
          <a:xfrm>
            <a:off x="385895" y="1458589"/>
            <a:ext cx="1721946" cy="369332"/>
          </a:xfrm>
          <a:prstGeom prst="rect">
            <a:avLst/>
          </a:prstGeom>
          <a:noFill/>
        </p:spPr>
        <p:txBody>
          <a:bodyPr wrap="none" rtlCol="0">
            <a:spAutoFit/>
          </a:bodyPr>
          <a:lstStyle/>
          <a:p>
            <a:r>
              <a:rPr lang="en-US" dirty="0"/>
              <a:t>Configuration</a:t>
            </a:r>
          </a:p>
        </p:txBody>
      </p:sp>
      <p:pic>
        <p:nvPicPr>
          <p:cNvPr id="9" name="Picture 8"/>
          <p:cNvPicPr>
            <a:picLocks noChangeAspect="1"/>
          </p:cNvPicPr>
          <p:nvPr/>
        </p:nvPicPr>
        <p:blipFill>
          <a:blip r:embed="rId4"/>
          <a:stretch>
            <a:fillRect/>
          </a:stretch>
        </p:blipFill>
        <p:spPr>
          <a:xfrm>
            <a:off x="385894" y="1990729"/>
            <a:ext cx="3066615" cy="3533274"/>
          </a:xfrm>
          <a:prstGeom prst="rect">
            <a:avLst/>
          </a:prstGeom>
          <a:ln>
            <a:noFill/>
          </a:ln>
          <a:effectLst>
            <a:outerShdw blurRad="190500" algn="tl" rotWithShape="0">
              <a:srgbClr val="000000">
                <a:alpha val="70000"/>
              </a:srgbClr>
            </a:outerShdw>
          </a:effectLst>
        </p:spPr>
      </p:pic>
      <p:cxnSp>
        <p:nvCxnSpPr>
          <p:cNvPr id="4" name="Straight Arrow Connector 3"/>
          <p:cNvCxnSpPr/>
          <p:nvPr/>
        </p:nvCxnSpPr>
        <p:spPr>
          <a:xfrm>
            <a:off x="3581757" y="3624917"/>
            <a:ext cx="1194538" cy="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7479530" y="3220545"/>
            <a:ext cx="1449436" cy="369332"/>
          </a:xfrm>
          <a:prstGeom prst="rect">
            <a:avLst/>
          </a:prstGeom>
          <a:noFill/>
        </p:spPr>
        <p:txBody>
          <a:bodyPr wrap="none" rtlCol="0">
            <a:spAutoFit/>
          </a:bodyPr>
          <a:lstStyle/>
          <a:p>
            <a:r>
              <a:rPr lang="en-US" dirty="0"/>
              <a:t>Applied To:</a:t>
            </a:r>
          </a:p>
        </p:txBody>
      </p:sp>
      <p:sp>
        <p:nvSpPr>
          <p:cNvPr id="14" name="Rectangle 13"/>
          <p:cNvSpPr/>
          <p:nvPr/>
        </p:nvSpPr>
        <p:spPr>
          <a:xfrm>
            <a:off x="5160267" y="2560046"/>
            <a:ext cx="1151001" cy="1095699"/>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865782" y="1458590"/>
            <a:ext cx="2808782" cy="369332"/>
          </a:xfrm>
          <a:prstGeom prst="rect">
            <a:avLst/>
          </a:prstGeom>
          <a:noFill/>
        </p:spPr>
        <p:txBody>
          <a:bodyPr wrap="none" rtlCol="0">
            <a:spAutoFit/>
          </a:bodyPr>
          <a:lstStyle/>
          <a:p>
            <a:r>
              <a:rPr lang="en-US" dirty="0"/>
              <a:t>.MOF </a:t>
            </a:r>
            <a:r>
              <a:rPr lang="en-US" dirty="0" err="1"/>
              <a:t>config</a:t>
            </a:r>
            <a:r>
              <a:rPr lang="en-US" dirty="0"/>
              <a:t> document</a:t>
            </a:r>
          </a:p>
        </p:txBody>
      </p:sp>
      <p:sp>
        <p:nvSpPr>
          <p:cNvPr id="16" name="Rectangle 15"/>
          <p:cNvSpPr/>
          <p:nvPr/>
        </p:nvSpPr>
        <p:spPr>
          <a:xfrm>
            <a:off x="5577525" y="2991773"/>
            <a:ext cx="1151001" cy="1095699"/>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075170" y="3417928"/>
            <a:ext cx="1151001" cy="1095699"/>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WebService</a:t>
            </a:r>
            <a:endParaRPr lang="en-US" sz="1200" dirty="0"/>
          </a:p>
        </p:txBody>
      </p:sp>
      <p:cxnSp>
        <p:nvCxnSpPr>
          <p:cNvPr id="18" name="Straight Arrow Connector 17"/>
          <p:cNvCxnSpPr/>
          <p:nvPr/>
        </p:nvCxnSpPr>
        <p:spPr>
          <a:xfrm>
            <a:off x="7518170" y="3621258"/>
            <a:ext cx="1194538" cy="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3580397" y="3233288"/>
            <a:ext cx="1298753" cy="369332"/>
          </a:xfrm>
          <a:prstGeom prst="rect">
            <a:avLst/>
          </a:prstGeom>
          <a:noFill/>
        </p:spPr>
        <p:txBody>
          <a:bodyPr wrap="none" rtlCol="0">
            <a:spAutoFit/>
          </a:bodyPr>
          <a:lstStyle/>
          <a:p>
            <a:r>
              <a:rPr lang="en-US" dirty="0"/>
              <a:t>Compiled</a:t>
            </a:r>
          </a:p>
        </p:txBody>
      </p:sp>
      <p:sp>
        <p:nvSpPr>
          <p:cNvPr id="20" name="TextBox 19"/>
          <p:cNvSpPr txBox="1"/>
          <p:nvPr/>
        </p:nvSpPr>
        <p:spPr>
          <a:xfrm>
            <a:off x="9243572" y="1458589"/>
            <a:ext cx="816249" cy="369332"/>
          </a:xfrm>
          <a:prstGeom prst="rect">
            <a:avLst/>
          </a:prstGeom>
          <a:noFill/>
        </p:spPr>
        <p:txBody>
          <a:bodyPr wrap="none" rtlCol="0">
            <a:spAutoFit/>
          </a:bodyPr>
          <a:lstStyle/>
          <a:p>
            <a:r>
              <a:rPr lang="en-US" dirty="0"/>
              <a:t>Node</a:t>
            </a:r>
          </a:p>
        </p:txBody>
      </p:sp>
      <p:pic>
        <p:nvPicPr>
          <p:cNvPr id="21" name="Picture 20"/>
          <p:cNvPicPr>
            <a:picLocks noChangeAspect="1"/>
          </p:cNvPicPr>
          <p:nvPr/>
        </p:nvPicPr>
        <p:blipFill>
          <a:blip r:embed="rId5"/>
          <a:stretch>
            <a:fillRect/>
          </a:stretch>
        </p:blipFill>
        <p:spPr>
          <a:xfrm>
            <a:off x="9249109" y="2303019"/>
            <a:ext cx="619037" cy="961888"/>
          </a:xfrm>
          <a:prstGeom prst="rect">
            <a:avLst/>
          </a:prstGeom>
        </p:spPr>
      </p:pic>
      <p:pic>
        <p:nvPicPr>
          <p:cNvPr id="22" name="Picture 21"/>
          <p:cNvPicPr>
            <a:picLocks noChangeAspect="1"/>
          </p:cNvPicPr>
          <p:nvPr/>
        </p:nvPicPr>
        <p:blipFill>
          <a:blip r:embed="rId5"/>
          <a:stretch>
            <a:fillRect/>
          </a:stretch>
        </p:blipFill>
        <p:spPr>
          <a:xfrm>
            <a:off x="10146465" y="2303019"/>
            <a:ext cx="619037" cy="961888"/>
          </a:xfrm>
          <a:prstGeom prst="rect">
            <a:avLst/>
          </a:prstGeom>
        </p:spPr>
      </p:pic>
      <p:pic>
        <p:nvPicPr>
          <p:cNvPr id="23" name="Picture 22"/>
          <p:cNvPicPr>
            <a:picLocks noChangeAspect="1"/>
          </p:cNvPicPr>
          <p:nvPr/>
        </p:nvPicPr>
        <p:blipFill>
          <a:blip r:embed="rId5"/>
          <a:stretch>
            <a:fillRect/>
          </a:stretch>
        </p:blipFill>
        <p:spPr>
          <a:xfrm>
            <a:off x="9249109" y="3586917"/>
            <a:ext cx="619037" cy="961888"/>
          </a:xfrm>
          <a:prstGeom prst="rect">
            <a:avLst/>
          </a:prstGeom>
        </p:spPr>
      </p:pic>
      <p:pic>
        <p:nvPicPr>
          <p:cNvPr id="24" name="Picture 23"/>
          <p:cNvPicPr>
            <a:picLocks noChangeAspect="1"/>
          </p:cNvPicPr>
          <p:nvPr/>
        </p:nvPicPr>
        <p:blipFill>
          <a:blip r:embed="rId5"/>
          <a:stretch>
            <a:fillRect/>
          </a:stretch>
        </p:blipFill>
        <p:spPr>
          <a:xfrm>
            <a:off x="10146464" y="3586917"/>
            <a:ext cx="619037" cy="961888"/>
          </a:xfrm>
          <a:prstGeom prst="rect">
            <a:avLst/>
          </a:prstGeom>
        </p:spPr>
      </p:pic>
      <p:pic>
        <p:nvPicPr>
          <p:cNvPr id="29" name="Picture 28"/>
          <p:cNvPicPr>
            <a:picLocks noChangeAspect="1"/>
          </p:cNvPicPr>
          <p:nvPr/>
        </p:nvPicPr>
        <p:blipFill>
          <a:blip r:embed="rId5"/>
          <a:stretch>
            <a:fillRect/>
          </a:stretch>
        </p:blipFill>
        <p:spPr>
          <a:xfrm>
            <a:off x="11159365" y="3635168"/>
            <a:ext cx="619037" cy="961888"/>
          </a:xfrm>
          <a:prstGeom prst="rect">
            <a:avLst/>
          </a:prstGeom>
        </p:spPr>
      </p:pic>
      <p:pic>
        <p:nvPicPr>
          <p:cNvPr id="30" name="Picture 29"/>
          <p:cNvPicPr>
            <a:picLocks noChangeAspect="1"/>
          </p:cNvPicPr>
          <p:nvPr/>
        </p:nvPicPr>
        <p:blipFill>
          <a:blip r:embed="rId5"/>
          <a:stretch>
            <a:fillRect/>
          </a:stretch>
        </p:blipFill>
        <p:spPr>
          <a:xfrm>
            <a:off x="11159364" y="2308441"/>
            <a:ext cx="619037" cy="961888"/>
          </a:xfrm>
          <a:prstGeom prst="rect">
            <a:avLst/>
          </a:prstGeom>
        </p:spPr>
      </p:pic>
      <p:sp>
        <p:nvSpPr>
          <p:cNvPr id="31" name="TextBox 30"/>
          <p:cNvSpPr txBox="1"/>
          <p:nvPr/>
        </p:nvSpPr>
        <p:spPr>
          <a:xfrm>
            <a:off x="7669203" y="3653922"/>
            <a:ext cx="962123" cy="523220"/>
          </a:xfrm>
          <a:prstGeom prst="rect">
            <a:avLst/>
          </a:prstGeom>
          <a:noFill/>
        </p:spPr>
        <p:txBody>
          <a:bodyPr wrap="none" rtlCol="0">
            <a:spAutoFit/>
          </a:bodyPr>
          <a:lstStyle/>
          <a:p>
            <a:r>
              <a:rPr lang="en-US" sz="1400" dirty="0"/>
              <a:t>Via Push </a:t>
            </a:r>
          </a:p>
          <a:p>
            <a:r>
              <a:rPr lang="en-US" sz="1400" dirty="0"/>
              <a:t>or Pull</a:t>
            </a:r>
          </a:p>
        </p:txBody>
      </p:sp>
    </p:spTree>
    <p:custDataLst>
      <p:tags r:id="rId1"/>
    </p:custDataLst>
    <p:extLst>
      <p:ext uri="{BB962C8B-B14F-4D97-AF65-F5344CB8AC3E}">
        <p14:creationId xmlns:p14="http://schemas.microsoft.com/office/powerpoint/2010/main" val="3373526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PowerShell DSC</a:t>
            </a:r>
          </a:p>
        </p:txBody>
      </p:sp>
      <p:pic>
        <p:nvPicPr>
          <p:cNvPr id="5" name="Content Placeholder 4"/>
          <p:cNvPicPr>
            <a:picLocks noGrp="1" noChangeAspect="1"/>
          </p:cNvPicPr>
          <p:nvPr>
            <p:ph idx="1"/>
          </p:nvPr>
        </p:nvPicPr>
        <p:blipFill>
          <a:blip r:embed="rId3"/>
          <a:stretch>
            <a:fillRect/>
          </a:stretch>
        </p:blipFill>
        <p:spPr>
          <a:xfrm>
            <a:off x="1815353" y="1263358"/>
            <a:ext cx="8180462" cy="5112789"/>
          </a:xfrm>
          <a:prstGeom prst="rect">
            <a:avLst/>
          </a:prstGeom>
        </p:spPr>
      </p:pic>
    </p:spTree>
    <p:extLst>
      <p:ext uri="{BB962C8B-B14F-4D97-AF65-F5344CB8AC3E}">
        <p14:creationId xmlns:p14="http://schemas.microsoft.com/office/powerpoint/2010/main" val="3154233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9662570" cy="3329581"/>
          </a:xfrm>
        </p:spPr>
        <p:txBody>
          <a:bodyPr/>
          <a:lstStyle/>
          <a:p>
            <a:r>
              <a:rPr lang="en-US" dirty="0"/>
              <a:t>Can PowerShell DSC be used at enterprise scale?</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86286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894" y="201371"/>
            <a:ext cx="11536804" cy="1325375"/>
          </a:xfrm>
        </p:spPr>
        <p:txBody>
          <a:bodyPr>
            <a:normAutofit fontScale="90000"/>
          </a:bodyPr>
          <a:lstStyle/>
          <a:p>
            <a:r>
              <a:rPr lang="en-US" dirty="0"/>
              <a:t>Using PS DSC requires management of lots of items</a:t>
            </a:r>
          </a:p>
        </p:txBody>
      </p:sp>
      <p:sp>
        <p:nvSpPr>
          <p:cNvPr id="6" name="TextBox 5"/>
          <p:cNvSpPr txBox="1"/>
          <p:nvPr/>
        </p:nvSpPr>
        <p:spPr>
          <a:xfrm>
            <a:off x="385895" y="1458589"/>
            <a:ext cx="1721946" cy="369332"/>
          </a:xfrm>
          <a:prstGeom prst="rect">
            <a:avLst/>
          </a:prstGeom>
          <a:noFill/>
        </p:spPr>
        <p:txBody>
          <a:bodyPr wrap="none" rtlCol="0">
            <a:spAutoFit/>
          </a:bodyPr>
          <a:lstStyle/>
          <a:p>
            <a:r>
              <a:rPr lang="en-US" dirty="0"/>
              <a:t>Configuration</a:t>
            </a:r>
          </a:p>
        </p:txBody>
      </p:sp>
      <p:pic>
        <p:nvPicPr>
          <p:cNvPr id="9" name="Picture 8"/>
          <p:cNvPicPr>
            <a:picLocks noChangeAspect="1"/>
          </p:cNvPicPr>
          <p:nvPr/>
        </p:nvPicPr>
        <p:blipFill>
          <a:blip r:embed="rId4"/>
          <a:stretch>
            <a:fillRect/>
          </a:stretch>
        </p:blipFill>
        <p:spPr>
          <a:xfrm>
            <a:off x="385894" y="1990729"/>
            <a:ext cx="3066615" cy="3533274"/>
          </a:xfrm>
          <a:prstGeom prst="rect">
            <a:avLst/>
          </a:prstGeom>
          <a:ln>
            <a:noFill/>
          </a:ln>
          <a:effectLst>
            <a:outerShdw blurRad="190500" algn="tl" rotWithShape="0">
              <a:srgbClr val="000000">
                <a:alpha val="70000"/>
              </a:srgbClr>
            </a:outerShdw>
          </a:effectLst>
        </p:spPr>
      </p:pic>
      <p:cxnSp>
        <p:nvCxnSpPr>
          <p:cNvPr id="4" name="Straight Arrow Connector 3"/>
          <p:cNvCxnSpPr/>
          <p:nvPr/>
        </p:nvCxnSpPr>
        <p:spPr>
          <a:xfrm>
            <a:off x="3581757" y="3624917"/>
            <a:ext cx="1194538" cy="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7479530" y="3220545"/>
            <a:ext cx="1449436" cy="369332"/>
          </a:xfrm>
          <a:prstGeom prst="rect">
            <a:avLst/>
          </a:prstGeom>
          <a:noFill/>
        </p:spPr>
        <p:txBody>
          <a:bodyPr wrap="none" rtlCol="0">
            <a:spAutoFit/>
          </a:bodyPr>
          <a:lstStyle/>
          <a:p>
            <a:r>
              <a:rPr lang="en-US" dirty="0"/>
              <a:t>Applied To:</a:t>
            </a:r>
          </a:p>
        </p:txBody>
      </p:sp>
      <p:sp>
        <p:nvSpPr>
          <p:cNvPr id="14" name="Rectangle 13"/>
          <p:cNvSpPr/>
          <p:nvPr/>
        </p:nvSpPr>
        <p:spPr>
          <a:xfrm>
            <a:off x="5160267" y="2560046"/>
            <a:ext cx="1151001" cy="1095699"/>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865782" y="1458590"/>
            <a:ext cx="2972289" cy="646331"/>
          </a:xfrm>
          <a:prstGeom prst="rect">
            <a:avLst/>
          </a:prstGeom>
          <a:noFill/>
        </p:spPr>
        <p:txBody>
          <a:bodyPr wrap="none" rtlCol="0">
            <a:spAutoFit/>
          </a:bodyPr>
          <a:lstStyle/>
          <a:p>
            <a:r>
              <a:rPr lang="en-US" dirty="0"/>
              <a:t>Node Configurations </a:t>
            </a:r>
          </a:p>
          <a:p>
            <a:r>
              <a:rPr lang="en-US" dirty="0"/>
              <a:t>(.MOF </a:t>
            </a:r>
            <a:r>
              <a:rPr lang="en-US" dirty="0" err="1"/>
              <a:t>config</a:t>
            </a:r>
            <a:r>
              <a:rPr lang="en-US" dirty="0"/>
              <a:t> document)</a:t>
            </a:r>
          </a:p>
        </p:txBody>
      </p:sp>
      <p:sp>
        <p:nvSpPr>
          <p:cNvPr id="16" name="Rectangle 15"/>
          <p:cNvSpPr/>
          <p:nvPr/>
        </p:nvSpPr>
        <p:spPr>
          <a:xfrm>
            <a:off x="5577525" y="2991773"/>
            <a:ext cx="1151001" cy="1095699"/>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075170" y="3417928"/>
            <a:ext cx="1151001" cy="1095699"/>
          </a:xfrm>
          <a:prstGeom prst="rec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WebService</a:t>
            </a:r>
            <a:endParaRPr lang="en-US" sz="1200" dirty="0"/>
          </a:p>
        </p:txBody>
      </p:sp>
      <p:cxnSp>
        <p:nvCxnSpPr>
          <p:cNvPr id="18" name="Straight Arrow Connector 17"/>
          <p:cNvCxnSpPr/>
          <p:nvPr/>
        </p:nvCxnSpPr>
        <p:spPr>
          <a:xfrm>
            <a:off x="7518170" y="3621258"/>
            <a:ext cx="1194538" cy="81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3580397" y="3233288"/>
            <a:ext cx="1298753" cy="369332"/>
          </a:xfrm>
          <a:prstGeom prst="rect">
            <a:avLst/>
          </a:prstGeom>
          <a:noFill/>
        </p:spPr>
        <p:txBody>
          <a:bodyPr wrap="none" rtlCol="0">
            <a:spAutoFit/>
          </a:bodyPr>
          <a:lstStyle/>
          <a:p>
            <a:r>
              <a:rPr lang="en-US" dirty="0"/>
              <a:t>Compiled</a:t>
            </a:r>
          </a:p>
        </p:txBody>
      </p:sp>
      <p:sp>
        <p:nvSpPr>
          <p:cNvPr id="20" name="TextBox 19"/>
          <p:cNvSpPr txBox="1"/>
          <p:nvPr/>
        </p:nvSpPr>
        <p:spPr>
          <a:xfrm>
            <a:off x="9243572" y="1458589"/>
            <a:ext cx="906017" cy="369332"/>
          </a:xfrm>
          <a:prstGeom prst="rect">
            <a:avLst/>
          </a:prstGeom>
          <a:noFill/>
        </p:spPr>
        <p:txBody>
          <a:bodyPr wrap="none" rtlCol="0">
            <a:spAutoFit/>
          </a:bodyPr>
          <a:lstStyle/>
          <a:p>
            <a:r>
              <a:rPr lang="en-US" dirty="0"/>
              <a:t>Nodes</a:t>
            </a:r>
          </a:p>
        </p:txBody>
      </p:sp>
      <p:pic>
        <p:nvPicPr>
          <p:cNvPr id="21" name="Picture 20"/>
          <p:cNvPicPr>
            <a:picLocks noChangeAspect="1"/>
          </p:cNvPicPr>
          <p:nvPr/>
        </p:nvPicPr>
        <p:blipFill>
          <a:blip r:embed="rId5"/>
          <a:stretch>
            <a:fillRect/>
          </a:stretch>
        </p:blipFill>
        <p:spPr>
          <a:xfrm>
            <a:off x="9249109" y="2303019"/>
            <a:ext cx="619037" cy="961888"/>
          </a:xfrm>
          <a:prstGeom prst="rect">
            <a:avLst/>
          </a:prstGeom>
        </p:spPr>
      </p:pic>
      <p:pic>
        <p:nvPicPr>
          <p:cNvPr id="22" name="Picture 21"/>
          <p:cNvPicPr>
            <a:picLocks noChangeAspect="1"/>
          </p:cNvPicPr>
          <p:nvPr/>
        </p:nvPicPr>
        <p:blipFill>
          <a:blip r:embed="rId5"/>
          <a:stretch>
            <a:fillRect/>
          </a:stretch>
        </p:blipFill>
        <p:spPr>
          <a:xfrm>
            <a:off x="10146465" y="2303019"/>
            <a:ext cx="619037" cy="961888"/>
          </a:xfrm>
          <a:prstGeom prst="rect">
            <a:avLst/>
          </a:prstGeom>
        </p:spPr>
      </p:pic>
      <p:pic>
        <p:nvPicPr>
          <p:cNvPr id="23" name="Picture 22"/>
          <p:cNvPicPr>
            <a:picLocks noChangeAspect="1"/>
          </p:cNvPicPr>
          <p:nvPr/>
        </p:nvPicPr>
        <p:blipFill>
          <a:blip r:embed="rId5"/>
          <a:stretch>
            <a:fillRect/>
          </a:stretch>
        </p:blipFill>
        <p:spPr>
          <a:xfrm>
            <a:off x="9249109" y="3586917"/>
            <a:ext cx="619037" cy="961888"/>
          </a:xfrm>
          <a:prstGeom prst="rect">
            <a:avLst/>
          </a:prstGeom>
        </p:spPr>
      </p:pic>
      <p:pic>
        <p:nvPicPr>
          <p:cNvPr id="24" name="Picture 23"/>
          <p:cNvPicPr>
            <a:picLocks noChangeAspect="1"/>
          </p:cNvPicPr>
          <p:nvPr/>
        </p:nvPicPr>
        <p:blipFill>
          <a:blip r:embed="rId5"/>
          <a:stretch>
            <a:fillRect/>
          </a:stretch>
        </p:blipFill>
        <p:spPr>
          <a:xfrm>
            <a:off x="10146464" y="3586917"/>
            <a:ext cx="619037" cy="961888"/>
          </a:xfrm>
          <a:prstGeom prst="rect">
            <a:avLst/>
          </a:prstGeom>
        </p:spPr>
      </p:pic>
      <p:sp>
        <p:nvSpPr>
          <p:cNvPr id="26" name="TextBox 25"/>
          <p:cNvSpPr txBox="1"/>
          <p:nvPr/>
        </p:nvSpPr>
        <p:spPr>
          <a:xfrm>
            <a:off x="385894" y="5686862"/>
            <a:ext cx="1677062" cy="369332"/>
          </a:xfrm>
          <a:prstGeom prst="rect">
            <a:avLst/>
          </a:prstGeom>
          <a:noFill/>
        </p:spPr>
        <p:txBody>
          <a:bodyPr wrap="none" rtlCol="0">
            <a:spAutoFit/>
          </a:bodyPr>
          <a:lstStyle/>
          <a:p>
            <a:r>
              <a:rPr lang="en-US" dirty="0"/>
              <a:t>1…N of these</a:t>
            </a:r>
          </a:p>
        </p:txBody>
      </p:sp>
      <p:sp>
        <p:nvSpPr>
          <p:cNvPr id="27" name="TextBox 26"/>
          <p:cNvSpPr txBox="1"/>
          <p:nvPr/>
        </p:nvSpPr>
        <p:spPr>
          <a:xfrm>
            <a:off x="5308538" y="5409903"/>
            <a:ext cx="2274270" cy="1279774"/>
          </a:xfrm>
          <a:prstGeom prst="rect">
            <a:avLst/>
          </a:prstGeom>
          <a:noFill/>
        </p:spPr>
        <p:txBody>
          <a:bodyPr wrap="square" rtlCol="0">
            <a:spAutoFit/>
          </a:bodyPr>
          <a:lstStyle/>
          <a:p>
            <a:r>
              <a:rPr lang="en-US" dirty="0"/>
              <a:t>1…N of these per</a:t>
            </a:r>
          </a:p>
          <a:p>
            <a:r>
              <a:rPr lang="en-US" dirty="0"/>
              <a:t>configuration</a:t>
            </a:r>
          </a:p>
          <a:p>
            <a:endParaRPr lang="en-US" sz="1372" dirty="0"/>
          </a:p>
          <a:p>
            <a:r>
              <a:rPr lang="en-US" sz="1372" dirty="0"/>
              <a:t>(+ checksum files for each)</a:t>
            </a:r>
          </a:p>
        </p:txBody>
      </p:sp>
      <p:sp>
        <p:nvSpPr>
          <p:cNvPr id="28" name="TextBox 27"/>
          <p:cNvSpPr txBox="1"/>
          <p:nvPr/>
        </p:nvSpPr>
        <p:spPr>
          <a:xfrm>
            <a:off x="9085345" y="5409904"/>
            <a:ext cx="2348720" cy="646331"/>
          </a:xfrm>
          <a:prstGeom prst="rect">
            <a:avLst/>
          </a:prstGeom>
          <a:noFill/>
        </p:spPr>
        <p:txBody>
          <a:bodyPr wrap="none" rtlCol="0">
            <a:spAutoFit/>
          </a:bodyPr>
          <a:lstStyle/>
          <a:p>
            <a:r>
              <a:rPr lang="en-US" dirty="0"/>
              <a:t>1…N of these per</a:t>
            </a:r>
          </a:p>
          <a:p>
            <a:r>
              <a:rPr lang="en-US" dirty="0"/>
              <a:t>node configuration</a:t>
            </a:r>
          </a:p>
        </p:txBody>
      </p:sp>
      <p:pic>
        <p:nvPicPr>
          <p:cNvPr id="29" name="Picture 28"/>
          <p:cNvPicPr>
            <a:picLocks noChangeAspect="1"/>
          </p:cNvPicPr>
          <p:nvPr/>
        </p:nvPicPr>
        <p:blipFill>
          <a:blip r:embed="rId5"/>
          <a:stretch>
            <a:fillRect/>
          </a:stretch>
        </p:blipFill>
        <p:spPr>
          <a:xfrm>
            <a:off x="11159365" y="3635168"/>
            <a:ext cx="619037" cy="961888"/>
          </a:xfrm>
          <a:prstGeom prst="rect">
            <a:avLst/>
          </a:prstGeom>
        </p:spPr>
      </p:pic>
      <p:pic>
        <p:nvPicPr>
          <p:cNvPr id="30" name="Picture 29"/>
          <p:cNvPicPr>
            <a:picLocks noChangeAspect="1"/>
          </p:cNvPicPr>
          <p:nvPr/>
        </p:nvPicPr>
        <p:blipFill>
          <a:blip r:embed="rId5"/>
          <a:stretch>
            <a:fillRect/>
          </a:stretch>
        </p:blipFill>
        <p:spPr>
          <a:xfrm>
            <a:off x="11159364" y="2308441"/>
            <a:ext cx="619037" cy="961888"/>
          </a:xfrm>
          <a:prstGeom prst="rect">
            <a:avLst/>
          </a:prstGeom>
        </p:spPr>
      </p:pic>
      <p:sp>
        <p:nvSpPr>
          <p:cNvPr id="31" name="TextBox 30"/>
          <p:cNvSpPr txBox="1"/>
          <p:nvPr/>
        </p:nvSpPr>
        <p:spPr>
          <a:xfrm>
            <a:off x="7669203" y="3653922"/>
            <a:ext cx="962123" cy="523220"/>
          </a:xfrm>
          <a:prstGeom prst="rect">
            <a:avLst/>
          </a:prstGeom>
          <a:noFill/>
        </p:spPr>
        <p:txBody>
          <a:bodyPr wrap="none" rtlCol="0">
            <a:spAutoFit/>
          </a:bodyPr>
          <a:lstStyle/>
          <a:p>
            <a:r>
              <a:rPr lang="en-US" sz="1400" dirty="0"/>
              <a:t>Via Push </a:t>
            </a:r>
          </a:p>
          <a:p>
            <a:r>
              <a:rPr lang="en-US" sz="1400" dirty="0"/>
              <a:t>or Pull</a:t>
            </a:r>
          </a:p>
        </p:txBody>
      </p:sp>
    </p:spTree>
    <p:custDataLst>
      <p:tags r:id="rId1"/>
    </p:custDataLst>
    <p:extLst>
      <p:ext uri="{BB962C8B-B14F-4D97-AF65-F5344CB8AC3E}">
        <p14:creationId xmlns:p14="http://schemas.microsoft.com/office/powerpoint/2010/main" val="517527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69239" y="245684"/>
            <a:ext cx="9404723" cy="1400530"/>
          </a:xfrm>
        </p:spPr>
        <p:txBody>
          <a:bodyPr/>
          <a:lstStyle/>
          <a:p>
            <a:r>
              <a:rPr lang="en-US" dirty="0"/>
              <a:t>Not manageable at scale</a:t>
            </a:r>
          </a:p>
        </p:txBody>
      </p:sp>
      <p:sp>
        <p:nvSpPr>
          <p:cNvPr id="6" name="Text Placeholder 5"/>
          <p:cNvSpPr>
            <a:spLocks noGrp="1"/>
          </p:cNvSpPr>
          <p:nvPr>
            <p:ph type="body" sz="quarter" idx="10"/>
          </p:nvPr>
        </p:nvSpPr>
        <p:spPr>
          <a:xfrm>
            <a:off x="269239" y="1189177"/>
            <a:ext cx="11922761" cy="5292280"/>
          </a:xfrm>
        </p:spPr>
        <p:txBody>
          <a:bodyPr>
            <a:normAutofit fontScale="92500" lnSpcReduction="20000"/>
          </a:bodyPr>
          <a:lstStyle/>
          <a:p>
            <a:pPr lvl="0">
              <a:buClr>
                <a:srgbClr val="FFFFFF"/>
              </a:buClr>
            </a:pPr>
            <a:r>
              <a:rPr lang="en-US" sz="2745" dirty="0">
                <a:gradFill>
                  <a:gsLst>
                    <a:gs pos="20354">
                      <a:srgbClr val="47D8FF"/>
                    </a:gs>
                    <a:gs pos="40000">
                      <a:srgbClr val="47D8FF"/>
                    </a:gs>
                  </a:gsLst>
                  <a:lin ang="5400000" scaled="0"/>
                </a:gradFill>
              </a:rPr>
              <a:t>How do I limit access?</a:t>
            </a:r>
          </a:p>
          <a:p>
            <a:pPr lvl="1"/>
            <a:r>
              <a:rPr lang="en-US" dirty="0"/>
              <a:t>Which users can create / edit which configurations? Which users can compile which configurations (to create node configurations), and apply these node configurations to nodes?</a:t>
            </a:r>
          </a:p>
          <a:p>
            <a:pPr lvl="1"/>
            <a:r>
              <a:rPr lang="en-US" dirty="0"/>
              <a:t>What nodes map to what node configurations? How do I prevent malicious nodes from accessing others?</a:t>
            </a:r>
          </a:p>
          <a:p>
            <a:pPr lvl="1"/>
            <a:endParaRPr lang="en-US" dirty="0"/>
          </a:p>
          <a:p>
            <a:pPr lvl="0">
              <a:buClr>
                <a:srgbClr val="FFFFFF"/>
              </a:buClr>
            </a:pPr>
            <a:r>
              <a:rPr lang="en-US" sz="2745" dirty="0">
                <a:gradFill>
                  <a:gsLst>
                    <a:gs pos="20354">
                      <a:srgbClr val="47D8FF"/>
                    </a:gs>
                    <a:gs pos="40000">
                      <a:srgbClr val="47D8FF"/>
                    </a:gs>
                  </a:gsLst>
                  <a:lin ang="5400000" scaled="0"/>
                </a:gradFill>
              </a:rPr>
              <a:t>How do I track change / compliance across my environments?</a:t>
            </a:r>
          </a:p>
          <a:p>
            <a:pPr lvl="1"/>
            <a:r>
              <a:rPr lang="en-US" dirty="0"/>
              <a:t>Who edited what configurations when? Who compiled what configurations, to generate which node configurations, when?</a:t>
            </a:r>
          </a:p>
          <a:p>
            <a:pPr lvl="1"/>
            <a:r>
              <a:rPr lang="en-US" dirty="0"/>
              <a:t>What nodes are compliant or not, pending changes, or failed to become compliant? What specifically is each not compliant with? What services and roles are overall in compliance or not?</a:t>
            </a:r>
          </a:p>
          <a:p>
            <a:pPr lvl="1"/>
            <a:endParaRPr lang="en-US" dirty="0"/>
          </a:p>
          <a:p>
            <a:pPr lvl="0">
              <a:buClr>
                <a:srgbClr val="FFFFFF"/>
              </a:buClr>
            </a:pPr>
            <a:r>
              <a:rPr lang="en-US" sz="2745" dirty="0">
                <a:gradFill>
                  <a:gsLst>
                    <a:gs pos="20354">
                      <a:srgbClr val="47D8FF"/>
                    </a:gs>
                    <a:gs pos="40000">
                      <a:srgbClr val="47D8FF"/>
                    </a:gs>
                  </a:gsLst>
                  <a:lin ang="5400000" scaled="0"/>
                </a:gradFill>
              </a:rPr>
              <a:t>How do I orchestrate configuration changes without impacting uptime?</a:t>
            </a:r>
            <a:endParaRPr lang="en-US" sz="2745" dirty="0"/>
          </a:p>
          <a:p>
            <a:pPr lvl="1"/>
            <a:r>
              <a:rPr lang="en-US" dirty="0"/>
              <a:t>How do I make sure to only cause configuration changes during maintenance windows?</a:t>
            </a:r>
          </a:p>
          <a:p>
            <a:pPr lvl="1"/>
            <a:r>
              <a:rPr lang="en-US" dirty="0"/>
              <a:t>How do I manage configuration changes across upgrade domains within a service?</a:t>
            </a:r>
          </a:p>
          <a:p>
            <a:pPr lvl="1"/>
            <a:r>
              <a:rPr lang="en-US" dirty="0"/>
              <a:t>How do I manage configuration change dependencies across nodes in a service?</a:t>
            </a:r>
          </a:p>
        </p:txBody>
      </p:sp>
    </p:spTree>
    <p:extLst>
      <p:ext uri="{BB962C8B-B14F-4D97-AF65-F5344CB8AC3E}">
        <p14:creationId xmlns:p14="http://schemas.microsoft.com/office/powerpoint/2010/main" val="67923752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70067" y="320157"/>
            <a:ext cx="9403389" cy="1400331"/>
          </a:xfrm>
        </p:spPr>
        <p:txBody>
          <a:bodyPr/>
          <a:lstStyle/>
          <a:p>
            <a:r>
              <a:rPr lang="en-US" dirty="0"/>
              <a:t>Azure Automation DSC</a:t>
            </a:r>
          </a:p>
        </p:txBody>
      </p:sp>
      <p:sp>
        <p:nvSpPr>
          <p:cNvPr id="6" name="Text Placeholder 5"/>
          <p:cNvSpPr>
            <a:spLocks noGrp="1"/>
          </p:cNvSpPr>
          <p:nvPr>
            <p:ph type="body" sz="quarter" idx="10"/>
          </p:nvPr>
        </p:nvSpPr>
        <p:spPr>
          <a:xfrm>
            <a:off x="270065" y="1189495"/>
            <a:ext cx="7887397" cy="5543346"/>
          </a:xfrm>
        </p:spPr>
        <p:txBody>
          <a:bodyPr>
            <a:normAutofit fontScale="92500" lnSpcReduction="20000"/>
          </a:bodyPr>
          <a:lstStyle/>
          <a:p>
            <a:pPr lvl="0">
              <a:buClr>
                <a:srgbClr val="FFFFFF"/>
              </a:buClr>
            </a:pPr>
            <a:r>
              <a:rPr lang="en-US" sz="2745" dirty="0">
                <a:gradFill>
                  <a:gsLst>
                    <a:gs pos="20354">
                      <a:srgbClr val="47D8FF"/>
                    </a:gs>
                    <a:gs pos="40000">
                      <a:srgbClr val="47D8FF"/>
                    </a:gs>
                  </a:gsLst>
                  <a:lin ang="5400000" scaled="0"/>
                </a:gradFill>
              </a:rPr>
              <a:t>PS DSC pull / reporting service hosted in the cloud</a:t>
            </a:r>
          </a:p>
          <a:p>
            <a:pPr lvl="1"/>
            <a:r>
              <a:rPr lang="en-US" dirty="0"/>
              <a:t>Manage physical hosts and VMs in any cloud or on-premises</a:t>
            </a:r>
          </a:p>
          <a:p>
            <a:pPr lvl="1"/>
            <a:r>
              <a:rPr lang="en-US" dirty="0"/>
              <a:t>Windows or Linux</a:t>
            </a:r>
          </a:p>
          <a:p>
            <a:pPr lvl="1"/>
            <a:endParaRPr lang="en-US" dirty="0"/>
          </a:p>
          <a:p>
            <a:pPr>
              <a:buClr>
                <a:srgbClr val="FFFFFF"/>
              </a:buClr>
            </a:pPr>
            <a:r>
              <a:rPr lang="en-US" sz="2745" dirty="0">
                <a:gradFill>
                  <a:gsLst>
                    <a:gs pos="20354">
                      <a:srgbClr val="47D8FF"/>
                    </a:gs>
                    <a:gs pos="40000">
                      <a:srgbClr val="47D8FF"/>
                    </a:gs>
                  </a:gsLst>
                  <a:lin ang="5400000" scaled="0"/>
                </a:gradFill>
              </a:rPr>
              <a:t>Part of the Azure Automation service</a:t>
            </a:r>
          </a:p>
          <a:p>
            <a:pPr>
              <a:buClr>
                <a:srgbClr val="FFFFFF"/>
              </a:buClr>
            </a:pPr>
            <a:endParaRPr lang="en-US" sz="2745" dirty="0">
              <a:gradFill>
                <a:gsLst>
                  <a:gs pos="20354">
                    <a:srgbClr val="47D8FF"/>
                  </a:gs>
                  <a:gs pos="40000">
                    <a:srgbClr val="47D8FF"/>
                  </a:gs>
                </a:gsLst>
                <a:lin ang="5400000" scaled="0"/>
              </a:gradFill>
            </a:endParaRPr>
          </a:p>
          <a:p>
            <a:pPr>
              <a:buClr>
                <a:srgbClr val="FFFFFF"/>
              </a:buClr>
            </a:pPr>
            <a:r>
              <a:rPr lang="en-US" sz="2745" dirty="0"/>
              <a:t>PS DSC configuration, node configuration, node, and resource management</a:t>
            </a:r>
          </a:p>
          <a:p>
            <a:pPr lvl="1"/>
            <a:r>
              <a:rPr lang="en-US" sz="1700" dirty="0"/>
              <a:t>Import</a:t>
            </a:r>
          </a:p>
          <a:p>
            <a:pPr lvl="1"/>
            <a:r>
              <a:rPr lang="en-US" sz="1700" dirty="0"/>
              <a:t>Authoring</a:t>
            </a:r>
          </a:p>
          <a:p>
            <a:pPr lvl="1"/>
            <a:r>
              <a:rPr lang="en-US" sz="1700" dirty="0"/>
              <a:t>Compiling</a:t>
            </a:r>
          </a:p>
          <a:p>
            <a:pPr lvl="1"/>
            <a:r>
              <a:rPr lang="en-US" sz="1700" dirty="0"/>
              <a:t>Versioning</a:t>
            </a:r>
          </a:p>
          <a:p>
            <a:pPr lvl="1"/>
            <a:r>
              <a:rPr lang="en-US" sz="1700" dirty="0"/>
              <a:t>Distribution to nodes</a:t>
            </a:r>
          </a:p>
          <a:p>
            <a:pPr lvl="1"/>
            <a:r>
              <a:rPr lang="en-US" sz="1700" dirty="0"/>
              <a:t>Reporting</a:t>
            </a:r>
          </a:p>
          <a:p>
            <a:pPr lvl="1"/>
            <a:r>
              <a:rPr lang="en-US" sz="1700" dirty="0"/>
              <a:t>Easy node onboarding</a:t>
            </a:r>
          </a:p>
        </p:txBody>
      </p:sp>
      <p:pic>
        <p:nvPicPr>
          <p:cNvPr id="4" name="Picture 1" descr="image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7091" y="2123058"/>
            <a:ext cx="3322285" cy="35203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542150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p:cNvCxnSpPr/>
          <p:nvPr/>
        </p:nvCxnSpPr>
        <p:spPr>
          <a:xfrm>
            <a:off x="6853436" y="3442472"/>
            <a:ext cx="2145775" cy="467722"/>
          </a:xfrm>
          <a:prstGeom prst="line">
            <a:avLst/>
          </a:prstGeom>
          <a:ln w="19050">
            <a:solidFill>
              <a:srgbClr val="002060"/>
            </a:solidFill>
            <a:prstDash val="dash"/>
          </a:ln>
        </p:spPr>
        <p:style>
          <a:lnRef idx="1">
            <a:schemeClr val="accent1"/>
          </a:lnRef>
          <a:fillRef idx="0">
            <a:schemeClr val="accent1"/>
          </a:fillRef>
          <a:effectRef idx="0">
            <a:schemeClr val="accent1"/>
          </a:effectRef>
          <a:fontRef idx="minor">
            <a:schemeClr val="tx1"/>
          </a:fontRef>
        </p:style>
      </p:cxnSp>
      <p:sp>
        <p:nvSpPr>
          <p:cNvPr id="3" name="Cloud 2"/>
          <p:cNvSpPr/>
          <p:nvPr/>
        </p:nvSpPr>
        <p:spPr>
          <a:xfrm>
            <a:off x="19584" y="1311741"/>
            <a:ext cx="7042975" cy="5482238"/>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Azure Automation DSC</a:t>
            </a:r>
          </a:p>
        </p:txBody>
      </p:sp>
      <p:sp>
        <p:nvSpPr>
          <p:cNvPr id="4" name="Vertical Scroll 3"/>
          <p:cNvSpPr/>
          <p:nvPr/>
        </p:nvSpPr>
        <p:spPr>
          <a:xfrm>
            <a:off x="927690" y="2373170"/>
            <a:ext cx="2173950" cy="1768390"/>
          </a:xfrm>
          <a:prstGeom prst="verticalScroll">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Configuration</a:t>
            </a:r>
          </a:p>
          <a:p>
            <a:pPr algn="ctr"/>
            <a:r>
              <a:rPr lang="en-US" dirty="0"/>
              <a:t>(script)</a:t>
            </a:r>
          </a:p>
        </p:txBody>
      </p:sp>
      <p:sp>
        <p:nvSpPr>
          <p:cNvPr id="6" name="Flowchart: Multidocument 5"/>
          <p:cNvSpPr/>
          <p:nvPr/>
        </p:nvSpPr>
        <p:spPr>
          <a:xfrm>
            <a:off x="1022779" y="4374576"/>
            <a:ext cx="1732302" cy="1708241"/>
          </a:xfrm>
          <a:prstGeom prst="flowChartMultidocument">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DSC</a:t>
            </a:r>
          </a:p>
          <a:p>
            <a:pPr algn="ctr"/>
            <a:r>
              <a:rPr lang="en-US" dirty="0"/>
              <a:t>Resources</a:t>
            </a:r>
          </a:p>
        </p:txBody>
      </p:sp>
      <p:sp>
        <p:nvSpPr>
          <p:cNvPr id="7" name="TextBox 6"/>
          <p:cNvSpPr txBox="1"/>
          <p:nvPr/>
        </p:nvSpPr>
        <p:spPr>
          <a:xfrm>
            <a:off x="1475789" y="1928814"/>
            <a:ext cx="1279517" cy="369332"/>
          </a:xfrm>
          <a:prstGeom prst="rect">
            <a:avLst/>
          </a:prstGeom>
          <a:noFill/>
        </p:spPr>
        <p:txBody>
          <a:bodyPr wrap="none" rtlCol="0">
            <a:spAutoFit/>
          </a:bodyPr>
          <a:lstStyle/>
          <a:p>
            <a:r>
              <a:rPr lang="en-US" dirty="0">
                <a:solidFill>
                  <a:schemeClr val="accent2">
                    <a:lumMod val="75000"/>
                  </a:schemeClr>
                </a:solidFill>
                <a:effectLst>
                  <a:outerShdw blurRad="38100" dist="38100" dir="2700000" algn="tl">
                    <a:srgbClr val="000000">
                      <a:alpha val="43137"/>
                    </a:srgbClr>
                  </a:outerShdw>
                </a:effectLst>
              </a:rPr>
              <a:t>Authoring</a:t>
            </a:r>
          </a:p>
        </p:txBody>
      </p:sp>
      <p:pic>
        <p:nvPicPr>
          <p:cNvPr id="18" name="Picture 17"/>
          <p:cNvPicPr>
            <a:picLocks noChangeAspect="1"/>
          </p:cNvPicPr>
          <p:nvPr/>
        </p:nvPicPr>
        <p:blipFill>
          <a:blip r:embed="rId3"/>
          <a:stretch>
            <a:fillRect/>
          </a:stretch>
        </p:blipFill>
        <p:spPr>
          <a:xfrm>
            <a:off x="7030912" y="5071494"/>
            <a:ext cx="786432" cy="1076247"/>
          </a:xfrm>
          <a:prstGeom prst="rect">
            <a:avLst/>
          </a:prstGeom>
        </p:spPr>
      </p:pic>
      <p:pic>
        <p:nvPicPr>
          <p:cNvPr id="19" name="Picture 18"/>
          <p:cNvPicPr>
            <a:picLocks noChangeAspect="1"/>
          </p:cNvPicPr>
          <p:nvPr/>
        </p:nvPicPr>
        <p:blipFill>
          <a:blip r:embed="rId4"/>
          <a:stretch>
            <a:fillRect/>
          </a:stretch>
        </p:blipFill>
        <p:spPr>
          <a:xfrm>
            <a:off x="8620303" y="5071494"/>
            <a:ext cx="786432" cy="1076247"/>
          </a:xfrm>
          <a:prstGeom prst="rect">
            <a:avLst/>
          </a:prstGeom>
        </p:spPr>
      </p:pic>
      <p:pic>
        <p:nvPicPr>
          <p:cNvPr id="20" name="Picture 19"/>
          <p:cNvPicPr>
            <a:picLocks noChangeAspect="1"/>
          </p:cNvPicPr>
          <p:nvPr/>
        </p:nvPicPr>
        <p:blipFill>
          <a:blip r:embed="rId5"/>
          <a:stretch>
            <a:fillRect/>
          </a:stretch>
        </p:blipFill>
        <p:spPr>
          <a:xfrm>
            <a:off x="10209694" y="5041598"/>
            <a:ext cx="786432" cy="1136039"/>
          </a:xfrm>
          <a:prstGeom prst="rect">
            <a:avLst/>
          </a:prstGeom>
        </p:spPr>
      </p:pic>
      <p:sp>
        <p:nvSpPr>
          <p:cNvPr id="21" name="TextBox 20"/>
          <p:cNvSpPr txBox="1"/>
          <p:nvPr/>
        </p:nvSpPr>
        <p:spPr>
          <a:xfrm>
            <a:off x="6853436" y="6147741"/>
            <a:ext cx="1166897" cy="646331"/>
          </a:xfrm>
          <a:prstGeom prst="rect">
            <a:avLst/>
          </a:prstGeom>
          <a:noFill/>
        </p:spPr>
        <p:txBody>
          <a:bodyPr wrap="square" rtlCol="0">
            <a:spAutoFit/>
          </a:bodyPr>
          <a:lstStyle/>
          <a:p>
            <a:pPr algn="ctr"/>
            <a:r>
              <a:rPr lang="en-US" dirty="0"/>
              <a:t>Azure VM</a:t>
            </a:r>
          </a:p>
        </p:txBody>
      </p:sp>
      <p:sp>
        <p:nvSpPr>
          <p:cNvPr id="22" name="TextBox 21"/>
          <p:cNvSpPr txBox="1"/>
          <p:nvPr/>
        </p:nvSpPr>
        <p:spPr>
          <a:xfrm>
            <a:off x="8620303" y="6147741"/>
            <a:ext cx="1121283" cy="644437"/>
          </a:xfrm>
          <a:prstGeom prst="rect">
            <a:avLst/>
          </a:prstGeom>
          <a:noFill/>
        </p:spPr>
        <p:txBody>
          <a:bodyPr wrap="square" rtlCol="0">
            <a:spAutoFit/>
          </a:bodyPr>
          <a:lstStyle/>
          <a:p>
            <a:pPr algn="ctr"/>
            <a:r>
              <a:rPr lang="en-US" dirty="0"/>
              <a:t>Physical server</a:t>
            </a:r>
          </a:p>
        </p:txBody>
      </p:sp>
      <p:sp>
        <p:nvSpPr>
          <p:cNvPr id="23" name="TextBox 22"/>
          <p:cNvSpPr txBox="1"/>
          <p:nvPr/>
        </p:nvSpPr>
        <p:spPr>
          <a:xfrm>
            <a:off x="10157111" y="6147742"/>
            <a:ext cx="1290142" cy="646331"/>
          </a:xfrm>
          <a:prstGeom prst="rect">
            <a:avLst/>
          </a:prstGeom>
          <a:noFill/>
        </p:spPr>
        <p:txBody>
          <a:bodyPr wrap="square" rtlCol="0">
            <a:spAutoFit/>
          </a:bodyPr>
          <a:lstStyle/>
          <a:p>
            <a:pPr algn="ctr"/>
            <a:r>
              <a:rPr lang="en-US" dirty="0"/>
              <a:t>On-</a:t>
            </a:r>
            <a:r>
              <a:rPr lang="en-US" dirty="0" err="1"/>
              <a:t>prem</a:t>
            </a:r>
            <a:endParaRPr lang="en-US" dirty="0"/>
          </a:p>
          <a:p>
            <a:pPr algn="ctr"/>
            <a:r>
              <a:rPr lang="en-US" dirty="0"/>
              <a:t>VM</a:t>
            </a:r>
          </a:p>
        </p:txBody>
      </p:sp>
      <p:grpSp>
        <p:nvGrpSpPr>
          <p:cNvPr id="37" name="Group 36"/>
          <p:cNvGrpSpPr/>
          <p:nvPr/>
        </p:nvGrpSpPr>
        <p:grpSpPr>
          <a:xfrm>
            <a:off x="3900431" y="2013108"/>
            <a:ext cx="1676991" cy="1387245"/>
            <a:chOff x="4502685" y="2055031"/>
            <a:chExt cx="1677229" cy="1387442"/>
          </a:xfrm>
          <a:solidFill>
            <a:srgbClr val="0070C0"/>
          </a:solidFill>
        </p:grpSpPr>
        <p:sp>
          <p:nvSpPr>
            <p:cNvPr id="30" name="Flowchart: Document 29"/>
            <p:cNvSpPr/>
            <p:nvPr/>
          </p:nvSpPr>
          <p:spPr>
            <a:xfrm>
              <a:off x="4772221" y="2055031"/>
              <a:ext cx="1407693" cy="1130968"/>
            </a:xfrm>
            <a:prstGeom prst="flowChartDocument">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MOF</a:t>
              </a:r>
            </a:p>
          </p:txBody>
        </p:sp>
        <p:sp>
          <p:nvSpPr>
            <p:cNvPr id="31" name="Flowchart: Document 30"/>
            <p:cNvSpPr/>
            <p:nvPr/>
          </p:nvSpPr>
          <p:spPr>
            <a:xfrm>
              <a:off x="4618542" y="2175126"/>
              <a:ext cx="1407693" cy="1130968"/>
            </a:xfrm>
            <a:prstGeom prst="flowChartDocument">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MOF</a:t>
              </a:r>
            </a:p>
          </p:txBody>
        </p:sp>
        <p:sp>
          <p:nvSpPr>
            <p:cNvPr id="32" name="Flowchart: Document 31"/>
            <p:cNvSpPr/>
            <p:nvPr/>
          </p:nvSpPr>
          <p:spPr>
            <a:xfrm>
              <a:off x="4502685" y="2311505"/>
              <a:ext cx="1593419" cy="1130968"/>
            </a:xfrm>
            <a:prstGeom prst="flowChartDocument">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Node Configuration</a:t>
              </a:r>
            </a:p>
            <a:p>
              <a:pPr algn="ctr"/>
              <a:r>
                <a:rPr lang="en-US" sz="1600" dirty="0"/>
                <a:t>(MOF)</a:t>
              </a:r>
            </a:p>
          </p:txBody>
        </p:sp>
      </p:grpSp>
      <p:grpSp>
        <p:nvGrpSpPr>
          <p:cNvPr id="38" name="Group 37"/>
          <p:cNvGrpSpPr/>
          <p:nvPr/>
        </p:nvGrpSpPr>
        <p:grpSpPr>
          <a:xfrm>
            <a:off x="3902166" y="4344481"/>
            <a:ext cx="1676936" cy="1507256"/>
            <a:chOff x="4462462" y="3718394"/>
            <a:chExt cx="1677174" cy="1507470"/>
          </a:xfrm>
          <a:solidFill>
            <a:srgbClr val="0070C0"/>
          </a:solidFill>
        </p:grpSpPr>
        <p:sp>
          <p:nvSpPr>
            <p:cNvPr id="33" name="Flowchart: Magnetic Disk 32"/>
            <p:cNvSpPr/>
            <p:nvPr/>
          </p:nvSpPr>
          <p:spPr>
            <a:xfrm>
              <a:off x="4731943" y="3718394"/>
              <a:ext cx="1407693" cy="1239252"/>
            </a:xfrm>
            <a:prstGeom prst="flowChartMagneticDisk">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Zip</a:t>
              </a:r>
            </a:p>
          </p:txBody>
        </p:sp>
        <p:sp>
          <p:nvSpPr>
            <p:cNvPr id="34" name="Flowchart: Magnetic Disk 33"/>
            <p:cNvSpPr/>
            <p:nvPr/>
          </p:nvSpPr>
          <p:spPr>
            <a:xfrm>
              <a:off x="4588794" y="3846487"/>
              <a:ext cx="1407693" cy="1239252"/>
            </a:xfrm>
            <a:prstGeom prst="flowChartMagneticDisk">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Zip</a:t>
              </a:r>
            </a:p>
          </p:txBody>
        </p:sp>
        <p:sp>
          <p:nvSpPr>
            <p:cNvPr id="35" name="Flowchart: Magnetic Disk 34"/>
            <p:cNvSpPr/>
            <p:nvPr/>
          </p:nvSpPr>
          <p:spPr>
            <a:xfrm>
              <a:off x="4462462" y="3986612"/>
              <a:ext cx="1407693" cy="1239252"/>
            </a:xfrm>
            <a:prstGeom prst="flowChartMagneticDisk">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Zip</a:t>
              </a:r>
            </a:p>
          </p:txBody>
        </p:sp>
      </p:grpSp>
      <p:sp>
        <p:nvSpPr>
          <p:cNvPr id="45" name="Oval 44"/>
          <p:cNvSpPr/>
          <p:nvPr/>
        </p:nvSpPr>
        <p:spPr>
          <a:xfrm>
            <a:off x="8927032" y="3910195"/>
            <a:ext cx="144358" cy="14435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6" name="TextBox 45"/>
          <p:cNvSpPr txBox="1"/>
          <p:nvPr/>
        </p:nvSpPr>
        <p:spPr>
          <a:xfrm>
            <a:off x="9071390" y="3787632"/>
            <a:ext cx="1704313" cy="369332"/>
          </a:xfrm>
          <a:prstGeom prst="rect">
            <a:avLst/>
          </a:prstGeom>
          <a:noFill/>
        </p:spPr>
        <p:txBody>
          <a:bodyPr wrap="none" rtlCol="0">
            <a:spAutoFit/>
          </a:bodyPr>
          <a:lstStyle/>
          <a:p>
            <a:r>
              <a:rPr lang="en-US" dirty="0"/>
              <a:t>Rest Endpoint</a:t>
            </a:r>
          </a:p>
        </p:txBody>
      </p:sp>
      <p:cxnSp>
        <p:nvCxnSpPr>
          <p:cNvPr id="48" name="Straight Arrow Connector 47"/>
          <p:cNvCxnSpPr>
            <a:stCxn id="18" idx="0"/>
            <a:endCxn id="45" idx="3"/>
          </p:cNvCxnSpPr>
          <p:nvPr/>
        </p:nvCxnSpPr>
        <p:spPr>
          <a:xfrm flipV="1">
            <a:off x="7424130" y="4033413"/>
            <a:ext cx="1524043" cy="1038081"/>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p:cNvCxnSpPr>
            <a:stCxn id="19" idx="0"/>
            <a:endCxn id="45" idx="4"/>
          </p:cNvCxnSpPr>
          <p:nvPr/>
        </p:nvCxnSpPr>
        <p:spPr>
          <a:xfrm flipH="1" flipV="1">
            <a:off x="8999211" y="4054553"/>
            <a:ext cx="14309" cy="1016941"/>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p:cNvCxnSpPr>
            <a:stCxn id="20" idx="0"/>
            <a:endCxn id="45" idx="5"/>
          </p:cNvCxnSpPr>
          <p:nvPr/>
        </p:nvCxnSpPr>
        <p:spPr>
          <a:xfrm flipH="1" flipV="1">
            <a:off x="9050248" y="4033412"/>
            <a:ext cx="1552662" cy="1008186"/>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41" name="TextBox 40"/>
          <p:cNvSpPr txBox="1"/>
          <p:nvPr/>
        </p:nvSpPr>
        <p:spPr>
          <a:xfrm>
            <a:off x="4858852" y="1570333"/>
            <a:ext cx="1034257" cy="369332"/>
          </a:xfrm>
          <a:prstGeom prst="rect">
            <a:avLst/>
          </a:prstGeom>
          <a:noFill/>
        </p:spPr>
        <p:txBody>
          <a:bodyPr wrap="none" rtlCol="0">
            <a:spAutoFit/>
          </a:bodyPr>
          <a:lstStyle/>
          <a:p>
            <a:r>
              <a:rPr lang="en-US" dirty="0">
                <a:solidFill>
                  <a:schemeClr val="accent2">
                    <a:lumMod val="75000"/>
                  </a:schemeClr>
                </a:solidFill>
                <a:effectLst>
                  <a:outerShdw blurRad="38100" dist="38100" dir="2700000" algn="tl">
                    <a:srgbClr val="000000">
                      <a:alpha val="43137"/>
                    </a:srgbClr>
                  </a:outerShdw>
                </a:effectLst>
              </a:rPr>
              <a:t>Staging</a:t>
            </a:r>
          </a:p>
        </p:txBody>
      </p:sp>
      <p:cxnSp>
        <p:nvCxnSpPr>
          <p:cNvPr id="42" name="Straight Connector 41"/>
          <p:cNvCxnSpPr>
            <a:stCxn id="3" idx="3"/>
          </p:cNvCxnSpPr>
          <p:nvPr/>
        </p:nvCxnSpPr>
        <p:spPr>
          <a:xfrm>
            <a:off x="3541072" y="1625194"/>
            <a:ext cx="0" cy="5196396"/>
          </a:xfrm>
          <a:prstGeom prst="line">
            <a:avLst/>
          </a:prstGeom>
          <a:ln w="1905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Right Arrow 11"/>
          <p:cNvSpPr/>
          <p:nvPr/>
        </p:nvSpPr>
        <p:spPr>
          <a:xfrm>
            <a:off x="3018985" y="3489204"/>
            <a:ext cx="1151480" cy="841980"/>
          </a:xfrm>
          <a:prstGeom prst="rightArrow">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2581349" y="5609617"/>
            <a:ext cx="1956091" cy="845624"/>
          </a:xfrm>
          <a:prstGeom prst="rect">
            <a:avLst/>
          </a:prstGeom>
          <a:noFill/>
        </p:spPr>
        <p:txBody>
          <a:bodyPr wrap="none" rtlCol="0">
            <a:spAutoFit/>
          </a:bodyPr>
          <a:lstStyle/>
          <a:p>
            <a:pPr algn="ctr"/>
            <a:r>
              <a:rPr 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Azure</a:t>
            </a:r>
          </a:p>
          <a:p>
            <a:pPr algn="ctr"/>
            <a:r>
              <a:rPr 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Automation</a:t>
            </a:r>
          </a:p>
        </p:txBody>
      </p:sp>
      <p:sp>
        <p:nvSpPr>
          <p:cNvPr id="39" name="Flowchart: Card 38"/>
          <p:cNvSpPr/>
          <p:nvPr/>
        </p:nvSpPr>
        <p:spPr>
          <a:xfrm>
            <a:off x="5671134" y="3105351"/>
            <a:ext cx="1070287" cy="1141962"/>
          </a:xfrm>
          <a:prstGeom prst="flowChartPunchedCar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Reports</a:t>
            </a:r>
          </a:p>
        </p:txBody>
      </p:sp>
      <p:sp>
        <p:nvSpPr>
          <p:cNvPr id="40" name="Rectangle 39"/>
          <p:cNvSpPr/>
          <p:nvPr/>
        </p:nvSpPr>
        <p:spPr bwMode="auto">
          <a:xfrm>
            <a:off x="4123887" y="3518641"/>
            <a:ext cx="1114195" cy="182442"/>
          </a:xfrm>
          <a:prstGeom prst="rect">
            <a:avLst/>
          </a:prstGeom>
          <a:solidFill>
            <a:srgbClr val="0070C0"/>
          </a:solidFill>
          <a:ln>
            <a:solidFill>
              <a:srgbClr val="00206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pPr>
            <a:endParaRPr lang="en-US" sz="1372" dirty="0">
              <a:gradFill>
                <a:gsLst>
                  <a:gs pos="16814">
                    <a:srgbClr val="FFFFFF"/>
                  </a:gs>
                  <a:gs pos="46000">
                    <a:srgbClr val="FFFFFF"/>
                  </a:gs>
                </a:gsLst>
                <a:lin ang="5400000" scaled="0"/>
              </a:gradFill>
            </a:endParaRPr>
          </a:p>
        </p:txBody>
      </p:sp>
      <p:sp>
        <p:nvSpPr>
          <p:cNvPr id="36" name="Rectangle 35"/>
          <p:cNvSpPr/>
          <p:nvPr/>
        </p:nvSpPr>
        <p:spPr bwMode="auto">
          <a:xfrm>
            <a:off x="4078517" y="3437207"/>
            <a:ext cx="1114195" cy="182442"/>
          </a:xfrm>
          <a:prstGeom prst="rect">
            <a:avLst/>
          </a:prstGeom>
          <a:solidFill>
            <a:srgbClr val="0070C0"/>
          </a:solidFill>
          <a:ln>
            <a:solidFill>
              <a:srgbClr val="002060"/>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0" rIns="0" bIns="45720" numCol="1" rtlCol="0" anchor="ctr" anchorCtr="0" compatLnSpc="1">
            <a:prstTxWarp prst="textNoShape">
              <a:avLst/>
            </a:prstTxWarp>
          </a:bodyPr>
          <a:lstStyle/>
          <a:p>
            <a:pPr algn="ctr" defTabSz="914030" fontAlgn="base">
              <a:spcBef>
                <a:spcPct val="0"/>
              </a:spcBef>
              <a:spcAft>
                <a:spcPct val="0"/>
              </a:spcAft>
            </a:pPr>
            <a:r>
              <a:rPr lang="en-US" sz="1372" dirty="0">
                <a:gradFill>
                  <a:gsLst>
                    <a:gs pos="16814">
                      <a:srgbClr val="FFFFFF"/>
                    </a:gs>
                    <a:gs pos="46000">
                      <a:srgbClr val="FFFFFF"/>
                    </a:gs>
                  </a:gsLst>
                  <a:lin ang="5400000" scaled="0"/>
                </a:gradFill>
              </a:rPr>
              <a:t>checksum</a:t>
            </a:r>
          </a:p>
        </p:txBody>
      </p:sp>
    </p:spTree>
    <p:extLst>
      <p:ext uri="{BB962C8B-B14F-4D97-AF65-F5344CB8AC3E}">
        <p14:creationId xmlns:p14="http://schemas.microsoft.com/office/powerpoint/2010/main" val="3183876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070" y="331949"/>
            <a:ext cx="9404723" cy="1400530"/>
          </a:xfrm>
        </p:spPr>
        <p:txBody>
          <a:bodyPr/>
          <a:lstStyle/>
          <a:p>
            <a:r>
              <a:rPr lang="en-US" dirty="0"/>
              <a:t>Azure Automation DSC</a:t>
            </a:r>
          </a:p>
        </p:txBody>
      </p:sp>
      <p:sp>
        <p:nvSpPr>
          <p:cNvPr id="3" name="Content Placeholder 2"/>
          <p:cNvSpPr>
            <a:spLocks noGrp="1"/>
          </p:cNvSpPr>
          <p:nvPr>
            <p:ph idx="4294967295"/>
          </p:nvPr>
        </p:nvSpPr>
        <p:spPr>
          <a:xfrm>
            <a:off x="370844" y="1433652"/>
            <a:ext cx="5075605" cy="5233784"/>
          </a:xfrm>
        </p:spPr>
        <p:txBody>
          <a:bodyPr>
            <a:normAutofit/>
          </a:bodyPr>
          <a:lstStyle/>
          <a:p>
            <a:r>
              <a:rPr lang="en-US" dirty="0"/>
              <a:t>generally available</a:t>
            </a:r>
          </a:p>
          <a:p>
            <a:pPr lvl="1"/>
            <a:r>
              <a:rPr lang="en-US" dirty="0"/>
              <a:t>Free tier: Up to 5 managed DSC nodes per subscription</a:t>
            </a:r>
          </a:p>
          <a:p>
            <a:pPr lvl="1"/>
            <a:r>
              <a:rPr lang="en-US" dirty="0"/>
              <a:t>Basic tier: Unlimited managed DSC nodes, $6 / node / month, prorated daily</a:t>
            </a:r>
          </a:p>
          <a:p>
            <a:pPr marL="457112" lvl="1" indent="0">
              <a:buNone/>
            </a:pPr>
            <a:endParaRPr lang="en-US" dirty="0"/>
          </a:p>
          <a:p>
            <a:r>
              <a:rPr lang="en-US" dirty="0"/>
              <a:t>Features:</a:t>
            </a:r>
          </a:p>
          <a:p>
            <a:pPr lvl="1"/>
            <a:r>
              <a:rPr lang="en-US" dirty="0"/>
              <a:t>Reliability improvements</a:t>
            </a:r>
          </a:p>
          <a:p>
            <a:pPr lvl="1"/>
            <a:r>
              <a:rPr lang="en-US" dirty="0"/>
              <a:t>Improved reporting</a:t>
            </a:r>
          </a:p>
          <a:p>
            <a:pPr lvl="1"/>
            <a:r>
              <a:rPr lang="en-US" dirty="0"/>
              <a:t>Support for report-only endpoint</a:t>
            </a:r>
          </a:p>
          <a:p>
            <a:pPr lvl="1"/>
            <a:r>
              <a:rPr lang="en-US" dirty="0"/>
              <a:t>Azure VM Scale Sets support</a:t>
            </a:r>
          </a:p>
        </p:txBody>
      </p:sp>
      <p:pic>
        <p:nvPicPr>
          <p:cNvPr id="8" name="Picture 7"/>
          <p:cNvPicPr>
            <a:picLocks noChangeAspect="1"/>
          </p:cNvPicPr>
          <p:nvPr/>
        </p:nvPicPr>
        <p:blipFill rotWithShape="1">
          <a:blip r:embed="rId3"/>
          <a:srcRect t="1708"/>
          <a:stretch/>
        </p:blipFill>
        <p:spPr>
          <a:xfrm>
            <a:off x="5800994" y="2222493"/>
            <a:ext cx="5378549" cy="42355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p:cNvPicPr>
            <a:picLocks noChangeAspect="1"/>
          </p:cNvPicPr>
          <p:nvPr/>
        </p:nvPicPr>
        <p:blipFill rotWithShape="1">
          <a:blip r:embed="rId4"/>
          <a:srcRect t="31055"/>
          <a:stretch/>
        </p:blipFill>
        <p:spPr>
          <a:xfrm>
            <a:off x="8316465" y="4050543"/>
            <a:ext cx="3285730" cy="25868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rotWithShape="1">
          <a:blip r:embed="rId5"/>
          <a:srcRect r="17366"/>
          <a:stretch/>
        </p:blipFill>
        <p:spPr>
          <a:xfrm>
            <a:off x="5446449" y="1274711"/>
            <a:ext cx="5733095" cy="18955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11027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Automation Resource Tree</a:t>
            </a:r>
          </a:p>
        </p:txBody>
      </p:sp>
      <p:sp>
        <p:nvSpPr>
          <p:cNvPr id="3" name="Content Placeholder 2"/>
          <p:cNvSpPr>
            <a:spLocks noGrp="1"/>
          </p:cNvSpPr>
          <p:nvPr>
            <p:ph sz="half" idx="1"/>
          </p:nvPr>
        </p:nvSpPr>
        <p:spPr>
          <a:xfrm>
            <a:off x="838946" y="1815453"/>
            <a:ext cx="10514108" cy="4947656"/>
          </a:xfrm>
        </p:spPr>
        <p:txBody>
          <a:bodyPr>
            <a:normAutofit lnSpcReduction="10000"/>
          </a:bodyPr>
          <a:lstStyle/>
          <a:p>
            <a:r>
              <a:rPr lang="en-US" dirty="0"/>
              <a:t>Runbook</a:t>
            </a:r>
          </a:p>
          <a:p>
            <a:pPr lvl="1"/>
            <a:r>
              <a:rPr lang="en-US" dirty="0"/>
              <a:t>Job</a:t>
            </a:r>
          </a:p>
          <a:p>
            <a:r>
              <a:rPr lang="en-US" dirty="0"/>
              <a:t>Asset</a:t>
            </a:r>
          </a:p>
          <a:p>
            <a:pPr lvl="1"/>
            <a:r>
              <a:rPr lang="en-US" dirty="0"/>
              <a:t>Module</a:t>
            </a:r>
          </a:p>
          <a:p>
            <a:pPr lvl="2"/>
            <a:r>
              <a:rPr lang="en-US" b="1" dirty="0"/>
              <a:t>DSC Resource</a:t>
            </a:r>
          </a:p>
          <a:p>
            <a:pPr lvl="1"/>
            <a:r>
              <a:rPr lang="en-US" dirty="0"/>
              <a:t>Credential</a:t>
            </a:r>
          </a:p>
          <a:p>
            <a:pPr lvl="1"/>
            <a:r>
              <a:rPr lang="en-US" dirty="0"/>
              <a:t>Connection</a:t>
            </a:r>
          </a:p>
          <a:p>
            <a:pPr lvl="1"/>
            <a:r>
              <a:rPr lang="en-US" dirty="0"/>
              <a:t>Schedule</a:t>
            </a:r>
          </a:p>
          <a:p>
            <a:pPr lvl="1"/>
            <a:r>
              <a:rPr lang="en-US" dirty="0"/>
              <a:t>Variable</a:t>
            </a:r>
          </a:p>
          <a:p>
            <a:pPr lvl="1"/>
            <a:r>
              <a:rPr lang="en-US" dirty="0"/>
              <a:t>Certificate</a:t>
            </a:r>
            <a:endParaRPr lang="en-US" b="1" dirty="0"/>
          </a:p>
          <a:p>
            <a:r>
              <a:rPr lang="en-US" b="1" dirty="0"/>
              <a:t>DSC Configuration</a:t>
            </a:r>
          </a:p>
          <a:p>
            <a:pPr lvl="1"/>
            <a:r>
              <a:rPr lang="en-US" b="1" dirty="0"/>
              <a:t>Compilation job</a:t>
            </a:r>
          </a:p>
          <a:p>
            <a:pPr lvl="2"/>
            <a:r>
              <a:rPr lang="en-US" b="1" dirty="0"/>
              <a:t>Node Configuration</a:t>
            </a:r>
          </a:p>
          <a:p>
            <a:pPr lvl="3"/>
            <a:r>
              <a:rPr lang="en-US" b="1" dirty="0"/>
              <a:t>Nodes</a:t>
            </a:r>
          </a:p>
          <a:p>
            <a:pPr lvl="1"/>
            <a:endParaRPr lang="en-US" dirty="0"/>
          </a:p>
        </p:txBody>
      </p:sp>
      <p:sp>
        <p:nvSpPr>
          <p:cNvPr id="4" name="TextBox 3"/>
          <p:cNvSpPr txBox="1"/>
          <p:nvPr/>
        </p:nvSpPr>
        <p:spPr>
          <a:xfrm>
            <a:off x="838946" y="1277604"/>
            <a:ext cx="2324675" cy="369332"/>
          </a:xfrm>
          <a:prstGeom prst="rect">
            <a:avLst/>
          </a:prstGeom>
          <a:noFill/>
        </p:spPr>
        <p:txBody>
          <a:bodyPr wrap="none" rtlCol="0">
            <a:spAutoFit/>
          </a:bodyPr>
          <a:lstStyle/>
          <a:p>
            <a:r>
              <a:rPr lang="en-US" b="1" dirty="0"/>
              <a:t>Bold </a:t>
            </a:r>
            <a:r>
              <a:rPr lang="en-US" dirty="0"/>
              <a:t>= DSC support</a:t>
            </a:r>
            <a:endParaRPr lang="en-US" b="1" dirty="0"/>
          </a:p>
        </p:txBody>
      </p:sp>
    </p:spTree>
    <p:extLst>
      <p:ext uri="{BB962C8B-B14F-4D97-AF65-F5344CB8AC3E}">
        <p14:creationId xmlns:p14="http://schemas.microsoft.com/office/powerpoint/2010/main" val="3936176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Automation DSC</a:t>
            </a:r>
          </a:p>
        </p:txBody>
      </p:sp>
      <p:pic>
        <p:nvPicPr>
          <p:cNvPr id="4" name="Content Placeholder 3">
            <a:hlinkClick r:id="rId3" action="ppaction://hlinkfile"/>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66481" y="255493"/>
            <a:ext cx="8614801" cy="6461101"/>
          </a:xfrm>
        </p:spPr>
      </p:pic>
    </p:spTree>
    <p:extLst>
      <p:ext uri="{BB962C8B-B14F-4D97-AF65-F5344CB8AC3E}">
        <p14:creationId xmlns:p14="http://schemas.microsoft.com/office/powerpoint/2010/main" val="250281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new DSC Resources</a:t>
            </a:r>
          </a:p>
        </p:txBody>
      </p:sp>
      <p:pic>
        <p:nvPicPr>
          <p:cNvPr id="4" name="Content Placeholder 3">
            <a:hlinkClick r:id="rId2" action="ppaction://hlinkfile"/>
          </p:cNvPr>
          <p:cNvPicPr>
            <a:picLocks noGrp="1" noChangeAspect="1"/>
          </p:cNvPicPr>
          <p:nvPr>
            <p:ph idx="1"/>
          </p:nvPr>
        </p:nvPicPr>
        <p:blipFill>
          <a:blip r:embed="rId3"/>
          <a:stretch>
            <a:fillRect/>
          </a:stretch>
        </p:blipFill>
        <p:spPr>
          <a:xfrm>
            <a:off x="764883" y="580299"/>
            <a:ext cx="9030046" cy="5992203"/>
          </a:xfrm>
          <a:prstGeom prst="rect">
            <a:avLst/>
          </a:prstGeom>
        </p:spPr>
      </p:pic>
    </p:spTree>
    <p:extLst>
      <p:ext uri="{BB962C8B-B14F-4D97-AF65-F5344CB8AC3E}">
        <p14:creationId xmlns:p14="http://schemas.microsoft.com/office/powerpoint/2010/main" val="319097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69239" y="1189495"/>
            <a:ext cx="11653523" cy="5504603"/>
          </a:xfrm>
          <a:prstGeom prst="rect">
            <a:avLst/>
          </a:prstGeom>
        </p:spPr>
        <p:txBody>
          <a:bodyPr/>
          <a:lstStyle/>
          <a:p>
            <a:pPr>
              <a:spcAft>
                <a:spcPts val="1200"/>
              </a:spcAft>
            </a:pPr>
            <a:r>
              <a:rPr lang="en-US" sz="2800" dirty="0">
                <a:solidFill>
                  <a:schemeClr val="tx1"/>
                </a:solidFill>
              </a:rPr>
              <a:t>Use PS DSC to </a:t>
            </a:r>
            <a:r>
              <a:rPr lang="en-US" sz="2800" b="1" dirty="0">
                <a:solidFill>
                  <a:schemeClr val="tx1"/>
                </a:solidFill>
              </a:rPr>
              <a:t>declaratively configure </a:t>
            </a:r>
            <a:r>
              <a:rPr lang="en-US" sz="2800" dirty="0">
                <a:solidFill>
                  <a:schemeClr val="tx1"/>
                </a:solidFill>
              </a:rPr>
              <a:t>VMs / physical hosts</a:t>
            </a:r>
            <a:br>
              <a:rPr lang="en-US" sz="2800" dirty="0">
                <a:solidFill>
                  <a:schemeClr val="tx1"/>
                </a:solidFill>
              </a:rPr>
            </a:br>
            <a:endParaRPr lang="en-US" sz="2800" dirty="0">
              <a:solidFill>
                <a:schemeClr val="tx1"/>
              </a:solidFill>
            </a:endParaRPr>
          </a:p>
          <a:p>
            <a:pPr>
              <a:spcAft>
                <a:spcPts val="1200"/>
              </a:spcAft>
            </a:pPr>
            <a:r>
              <a:rPr lang="en-US" sz="2800" dirty="0">
                <a:solidFill>
                  <a:schemeClr val="tx1"/>
                </a:solidFill>
              </a:rPr>
              <a:t>Use runbooks to </a:t>
            </a:r>
            <a:r>
              <a:rPr lang="en-US" sz="2800" b="1" dirty="0">
                <a:solidFill>
                  <a:schemeClr val="tx1"/>
                </a:solidFill>
              </a:rPr>
              <a:t>orchestrate complex processes </a:t>
            </a:r>
            <a:r>
              <a:rPr lang="en-US" sz="2800" dirty="0">
                <a:solidFill>
                  <a:schemeClr val="tx1"/>
                </a:solidFill>
              </a:rPr>
              <a:t>across systems</a:t>
            </a:r>
            <a:br>
              <a:rPr lang="en-US" sz="2800" dirty="0">
                <a:solidFill>
                  <a:schemeClr val="tx1"/>
                </a:solidFill>
              </a:rPr>
            </a:br>
            <a:endParaRPr lang="en-US" sz="2800" b="1" dirty="0">
              <a:solidFill>
                <a:schemeClr val="tx1"/>
              </a:solidFill>
            </a:endParaRPr>
          </a:p>
          <a:p>
            <a:pPr>
              <a:spcAft>
                <a:spcPts val="1200"/>
              </a:spcAft>
            </a:pPr>
            <a:r>
              <a:rPr lang="en-US" sz="2400" dirty="0">
                <a:solidFill>
                  <a:schemeClr val="tx1"/>
                </a:solidFill>
              </a:rPr>
              <a:t>Use PS DSC within Azure Automation </a:t>
            </a:r>
            <a:r>
              <a:rPr lang="en-US" sz="2400" dirty="0" err="1">
                <a:solidFill>
                  <a:schemeClr val="tx1"/>
                </a:solidFill>
              </a:rPr>
              <a:t>runbooks</a:t>
            </a:r>
            <a:r>
              <a:rPr lang="en-US" sz="2400" dirty="0">
                <a:solidFill>
                  <a:schemeClr val="tx1"/>
                </a:solidFill>
              </a:rPr>
              <a:t> to </a:t>
            </a:r>
            <a:r>
              <a:rPr lang="en-US" sz="2400" b="1" dirty="0">
                <a:solidFill>
                  <a:schemeClr val="tx1"/>
                </a:solidFill>
              </a:rPr>
              <a:t>configure machines as part of larger processes</a:t>
            </a:r>
          </a:p>
          <a:p>
            <a:pPr lvl="1">
              <a:spcAft>
                <a:spcPts val="1200"/>
              </a:spcAft>
            </a:pPr>
            <a:r>
              <a:rPr lang="en-US" sz="1568" dirty="0"/>
              <a:t>Ex: The multi-step process of deploying new DSC configurations to production servers:</a:t>
            </a:r>
          </a:p>
          <a:p>
            <a:pPr marL="896386" lvl="2" indent="-336145">
              <a:spcAft>
                <a:spcPts val="1200"/>
              </a:spcAft>
              <a:buFont typeface="+mj-lt"/>
              <a:buAutoNum type="arabicPeriod"/>
            </a:pPr>
            <a:r>
              <a:rPr lang="en-US" sz="1568" dirty="0"/>
              <a:t>Monitor source control for new commits to DSC repository of an organization</a:t>
            </a:r>
          </a:p>
          <a:p>
            <a:pPr marL="896386" lvl="2" indent="-336145">
              <a:spcAft>
                <a:spcPts val="1200"/>
              </a:spcAft>
              <a:buFont typeface="+mj-lt"/>
              <a:buAutoNum type="arabicPeriod"/>
            </a:pPr>
            <a:r>
              <a:rPr lang="en-US" sz="1568" dirty="0"/>
              <a:t>When new commit, store the DSC in Azure Automation DSC, set up to be pulled by the stage environment VMs</a:t>
            </a:r>
          </a:p>
          <a:p>
            <a:pPr marL="896386" lvl="2" indent="-336145">
              <a:spcAft>
                <a:spcPts val="1200"/>
              </a:spcAft>
              <a:buFont typeface="+mj-lt"/>
              <a:buAutoNum type="arabicPeriod"/>
            </a:pPr>
            <a:r>
              <a:rPr lang="en-US" sz="1568" dirty="0"/>
              <a:t>Run test suite to confirm service in stage environment is functioning properly</a:t>
            </a:r>
          </a:p>
          <a:p>
            <a:pPr marL="896386" lvl="2" indent="-336145">
              <a:spcAft>
                <a:spcPts val="1200"/>
              </a:spcAft>
              <a:buFont typeface="+mj-lt"/>
              <a:buAutoNum type="arabicPeriod"/>
            </a:pPr>
            <a:r>
              <a:rPr lang="en-US" sz="1568" dirty="0"/>
              <a:t>If tests fail, alert developers</a:t>
            </a:r>
          </a:p>
          <a:p>
            <a:pPr marL="896386" lvl="2" indent="-336145">
              <a:spcAft>
                <a:spcPts val="1200"/>
              </a:spcAft>
              <a:buFont typeface="+mj-lt"/>
              <a:buAutoNum type="arabicPeriod"/>
            </a:pPr>
            <a:r>
              <a:rPr lang="en-US" sz="1568" dirty="0"/>
              <a:t>If tests pass, wait for maintenance window and then set up the DSC in Azure Automation to be pulled by production VMs, in a way that maintains service availability</a:t>
            </a:r>
          </a:p>
          <a:p>
            <a:pPr marL="896386" lvl="2" indent="-336145">
              <a:spcAft>
                <a:spcPts val="1200"/>
              </a:spcAft>
              <a:buFont typeface="+mj-lt"/>
              <a:buAutoNum type="arabicPeriod"/>
            </a:pPr>
            <a:endParaRPr lang="en-US" sz="1568" dirty="0"/>
          </a:p>
        </p:txBody>
      </p:sp>
      <p:sp>
        <p:nvSpPr>
          <p:cNvPr id="2" name="Title 1"/>
          <p:cNvSpPr>
            <a:spLocks noGrp="1"/>
          </p:cNvSpPr>
          <p:nvPr>
            <p:ph type="title"/>
          </p:nvPr>
        </p:nvSpPr>
        <p:spPr>
          <a:xfrm>
            <a:off x="269239" y="366454"/>
            <a:ext cx="10378447" cy="823041"/>
          </a:xfrm>
        </p:spPr>
        <p:txBody>
          <a:bodyPr>
            <a:normAutofit/>
          </a:bodyPr>
          <a:lstStyle/>
          <a:p>
            <a:r>
              <a:rPr lang="en-US" dirty="0">
                <a:solidFill>
                  <a:schemeClr val="tx1"/>
                </a:solidFill>
              </a:rPr>
              <a:t>DSC and Runbooks – better together</a:t>
            </a:r>
          </a:p>
        </p:txBody>
      </p:sp>
    </p:spTree>
    <p:custDataLst>
      <p:tags r:id="rId1"/>
    </p:custDataLst>
    <p:extLst>
      <p:ext uri="{BB962C8B-B14F-4D97-AF65-F5344CB8AC3E}">
        <p14:creationId xmlns:p14="http://schemas.microsoft.com/office/powerpoint/2010/main" val="8791208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239" y="366454"/>
            <a:ext cx="10378447" cy="823041"/>
          </a:xfrm>
        </p:spPr>
        <p:txBody>
          <a:bodyPr>
            <a:normAutofit fontScale="90000"/>
          </a:bodyPr>
          <a:lstStyle/>
          <a:p>
            <a:r>
              <a:rPr lang="en-US" dirty="0">
                <a:solidFill>
                  <a:schemeClr val="tx1"/>
                </a:solidFill>
              </a:rPr>
              <a:t>Azure Resource Manager templates vs DSC</a:t>
            </a:r>
          </a:p>
        </p:txBody>
      </p:sp>
      <p:sp>
        <p:nvSpPr>
          <p:cNvPr id="4" name="Text Placeholder 2"/>
          <p:cNvSpPr txBox="1">
            <a:spLocks/>
          </p:cNvSpPr>
          <p:nvPr/>
        </p:nvSpPr>
        <p:spPr>
          <a:xfrm>
            <a:off x="269239" y="1189495"/>
            <a:ext cx="11653523" cy="5504603"/>
          </a:xfrm>
          <a:prstGeom prst="rect">
            <a:avLst/>
          </a:prstGeom>
        </p:spPr>
        <p:txBody>
          <a:bodyPr vert="horz" lIns="91440" tIns="45720" rIns="91440" bIns="45720" rtlCol="0" anchor="t"/>
          <a:lstStyle>
            <a:defPPr>
              <a:defRPr lang="en-US"/>
            </a:defPPr>
            <a:lvl1pPr marL="0" algn="l" defTabSz="914400" rtl="0" eaLnBrk="1" latinLnBrk="0" hangingPunct="1">
              <a:defRPr sz="1100" b="0" i="0" kern="1200">
                <a:solidFill>
                  <a:schemeClr val="tx1">
                    <a:tint val="75000"/>
                    <a:alpha val="6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en-US" sz="2800" dirty="0">
                <a:solidFill>
                  <a:schemeClr val="tx1"/>
                </a:solidFill>
              </a:rPr>
              <a:t>Use PS DSC to </a:t>
            </a:r>
            <a:r>
              <a:rPr lang="en-US" sz="2800" b="1" dirty="0">
                <a:solidFill>
                  <a:schemeClr val="tx1"/>
                </a:solidFill>
              </a:rPr>
              <a:t>declaratively configure </a:t>
            </a:r>
            <a:r>
              <a:rPr lang="en-US" sz="2800" dirty="0">
                <a:solidFill>
                  <a:schemeClr val="tx1"/>
                </a:solidFill>
              </a:rPr>
              <a:t>VMs / physical hosts</a:t>
            </a:r>
            <a:br>
              <a:rPr lang="en-US" sz="2800" dirty="0">
                <a:solidFill>
                  <a:schemeClr val="tx1"/>
                </a:solidFill>
              </a:rPr>
            </a:br>
            <a:endParaRPr lang="en-US" sz="2800" dirty="0">
              <a:solidFill>
                <a:schemeClr val="tx1"/>
              </a:solidFill>
            </a:endParaRPr>
          </a:p>
          <a:p>
            <a:pPr>
              <a:spcAft>
                <a:spcPts val="1200"/>
              </a:spcAft>
            </a:pPr>
            <a:r>
              <a:rPr lang="en-US" sz="2800" dirty="0">
                <a:solidFill>
                  <a:schemeClr val="tx1"/>
                </a:solidFill>
              </a:rPr>
              <a:t>Use ARM templates to </a:t>
            </a:r>
            <a:r>
              <a:rPr lang="en-US" sz="2800" b="1" dirty="0">
                <a:solidFill>
                  <a:schemeClr val="tx1"/>
                </a:solidFill>
              </a:rPr>
              <a:t>declaratively configure </a:t>
            </a:r>
            <a:r>
              <a:rPr lang="en-US" sz="2800" dirty="0">
                <a:solidFill>
                  <a:schemeClr val="tx1"/>
                </a:solidFill>
              </a:rPr>
              <a:t>cloud resources</a:t>
            </a:r>
          </a:p>
          <a:p>
            <a:pPr>
              <a:spcAft>
                <a:spcPts val="1200"/>
              </a:spcAft>
            </a:pPr>
            <a:r>
              <a:rPr lang="en-US" sz="2800" dirty="0">
                <a:solidFill>
                  <a:schemeClr val="tx1"/>
                </a:solidFill>
              </a:rPr>
              <a:t>	- Create Azure VMs</a:t>
            </a:r>
          </a:p>
          <a:p>
            <a:pPr>
              <a:spcAft>
                <a:spcPts val="1200"/>
              </a:spcAft>
            </a:pPr>
            <a:r>
              <a:rPr lang="en-US" sz="2800" dirty="0">
                <a:solidFill>
                  <a:schemeClr val="tx1"/>
                </a:solidFill>
              </a:rPr>
              <a:t>	- Create Azure Networks</a:t>
            </a:r>
          </a:p>
          <a:p>
            <a:pPr>
              <a:spcAft>
                <a:spcPts val="1200"/>
              </a:spcAft>
            </a:pPr>
            <a:r>
              <a:rPr lang="en-US" sz="2800" dirty="0">
                <a:solidFill>
                  <a:schemeClr val="tx1"/>
                </a:solidFill>
              </a:rPr>
              <a:t>	- Create </a:t>
            </a:r>
            <a:r>
              <a:rPr lang="en-US" sz="2800" dirty="0" err="1">
                <a:solidFill>
                  <a:schemeClr val="tx1"/>
                </a:solidFill>
              </a:rPr>
              <a:t>Az</a:t>
            </a:r>
            <a:r>
              <a:rPr lang="en-US" sz="2800" dirty="0">
                <a:solidFill>
                  <a:schemeClr val="tx1"/>
                </a:solidFill>
              </a:rPr>
              <a:t> Storage accounts</a:t>
            </a:r>
          </a:p>
          <a:p>
            <a:pPr>
              <a:spcAft>
                <a:spcPts val="1200"/>
              </a:spcAft>
            </a:pPr>
            <a:r>
              <a:rPr lang="en-US" sz="2800" dirty="0">
                <a:solidFill>
                  <a:schemeClr val="tx1"/>
                </a:solidFill>
              </a:rPr>
              <a:t>	- Create </a:t>
            </a:r>
            <a:r>
              <a:rPr lang="en-US" sz="2800" dirty="0" err="1">
                <a:solidFill>
                  <a:schemeClr val="tx1"/>
                </a:solidFill>
              </a:rPr>
              <a:t>Az</a:t>
            </a:r>
            <a:r>
              <a:rPr lang="en-US" sz="2800" dirty="0">
                <a:solidFill>
                  <a:schemeClr val="tx1"/>
                </a:solidFill>
              </a:rPr>
              <a:t> Automation accounts</a:t>
            </a:r>
          </a:p>
          <a:p>
            <a:pPr>
              <a:spcAft>
                <a:spcPts val="1200"/>
              </a:spcAft>
            </a:pPr>
            <a:r>
              <a:rPr lang="en-US" sz="2800" dirty="0">
                <a:solidFill>
                  <a:schemeClr val="tx1"/>
                </a:solidFill>
              </a:rPr>
              <a:t>	</a:t>
            </a:r>
            <a:r>
              <a:rPr lang="en-US" sz="2800" b="1" dirty="0">
                <a:solidFill>
                  <a:schemeClr val="tx1"/>
                </a:solidFill>
              </a:rPr>
              <a:t>- Create Azure VMs configured to use Automation DSC for configuration management</a:t>
            </a:r>
            <a:endParaRPr lang="en-US" sz="1568" b="1" dirty="0"/>
          </a:p>
        </p:txBody>
      </p:sp>
    </p:spTree>
    <p:custDataLst>
      <p:tags r:id="rId1"/>
    </p:custDataLst>
    <p:extLst>
      <p:ext uri="{BB962C8B-B14F-4D97-AF65-F5344CB8AC3E}">
        <p14:creationId xmlns:p14="http://schemas.microsoft.com/office/powerpoint/2010/main" val="3812463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Onboarding Linux/On-</a:t>
            </a:r>
            <a:r>
              <a:rPr lang="en-US" dirty="0" err="1"/>
              <a:t>Prem</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08693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for DSC for Linux</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77511330"/>
              </p:ext>
            </p:extLst>
          </p:nvPr>
        </p:nvGraphicFramePr>
        <p:xfrm>
          <a:off x="874897" y="1629387"/>
          <a:ext cx="8947149" cy="4663440"/>
        </p:xfrm>
        <a:graphic>
          <a:graphicData uri="http://schemas.openxmlformats.org/drawingml/2006/table">
            <a:tbl>
              <a:tblPr/>
              <a:tblGrid>
                <a:gridCol w="3388300">
                  <a:extLst>
                    <a:ext uri="{9D8B030D-6E8A-4147-A177-3AD203B41FA5}">
                      <a16:colId xmlns:a16="http://schemas.microsoft.com/office/drawing/2014/main" val="1312867010"/>
                    </a:ext>
                  </a:extLst>
                </a:gridCol>
                <a:gridCol w="2576466">
                  <a:extLst>
                    <a:ext uri="{9D8B030D-6E8A-4147-A177-3AD203B41FA5}">
                      <a16:colId xmlns:a16="http://schemas.microsoft.com/office/drawing/2014/main" val="3238445818"/>
                    </a:ext>
                  </a:extLst>
                </a:gridCol>
                <a:gridCol w="2982383">
                  <a:extLst>
                    <a:ext uri="{9D8B030D-6E8A-4147-A177-3AD203B41FA5}">
                      <a16:colId xmlns:a16="http://schemas.microsoft.com/office/drawing/2014/main" val="3380818511"/>
                    </a:ext>
                  </a:extLst>
                </a:gridCol>
              </a:tblGrid>
              <a:tr h="0">
                <a:tc>
                  <a:txBody>
                    <a:bodyPr/>
                    <a:lstStyle/>
                    <a:p>
                      <a:r>
                        <a:rPr lang="en-US" b="1"/>
                        <a:t>Required package</a:t>
                      </a:r>
                      <a:endParaRPr lang="en-US"/>
                    </a:p>
                  </a:txBody>
                  <a:tcPr anchor="ctr">
                    <a:lnL>
                      <a:noFill/>
                    </a:lnL>
                    <a:lnR>
                      <a:noFill/>
                    </a:lnR>
                    <a:lnT>
                      <a:noFill/>
                    </a:lnT>
                    <a:lnB>
                      <a:noFill/>
                    </a:lnB>
                  </a:tcPr>
                </a:tc>
                <a:tc>
                  <a:txBody>
                    <a:bodyPr/>
                    <a:lstStyle/>
                    <a:p>
                      <a:r>
                        <a:rPr lang="en-US" b="1"/>
                        <a:t>Description</a:t>
                      </a:r>
                      <a:endParaRPr lang="en-US"/>
                    </a:p>
                  </a:txBody>
                  <a:tcPr anchor="ctr">
                    <a:lnL>
                      <a:noFill/>
                    </a:lnL>
                    <a:lnR>
                      <a:noFill/>
                    </a:lnR>
                    <a:lnT>
                      <a:noFill/>
                    </a:lnT>
                    <a:lnB>
                      <a:noFill/>
                    </a:lnB>
                  </a:tcPr>
                </a:tc>
                <a:tc>
                  <a:txBody>
                    <a:bodyPr/>
                    <a:lstStyle/>
                    <a:p>
                      <a:r>
                        <a:rPr lang="en-US" b="1"/>
                        <a:t>Minimum version</a:t>
                      </a:r>
                      <a:endParaRPr lang="en-US"/>
                    </a:p>
                  </a:txBody>
                  <a:tcPr anchor="ctr">
                    <a:lnL>
                      <a:noFill/>
                    </a:lnL>
                    <a:lnR>
                      <a:noFill/>
                    </a:lnR>
                    <a:lnT>
                      <a:noFill/>
                    </a:lnT>
                    <a:lnB>
                      <a:noFill/>
                    </a:lnB>
                  </a:tcPr>
                </a:tc>
                <a:extLst>
                  <a:ext uri="{0D108BD9-81ED-4DB2-BD59-A6C34878D82A}">
                    <a16:rowId xmlns:a16="http://schemas.microsoft.com/office/drawing/2014/main" val="3872817197"/>
                  </a:ext>
                </a:extLst>
              </a:tr>
              <a:tr h="0">
                <a:tc>
                  <a:txBody>
                    <a:bodyPr/>
                    <a:lstStyle/>
                    <a:p>
                      <a:r>
                        <a:rPr lang="en-US"/>
                        <a:t>Glibc</a:t>
                      </a:r>
                    </a:p>
                  </a:txBody>
                  <a:tcPr anchor="ctr">
                    <a:lnL>
                      <a:noFill/>
                    </a:lnL>
                    <a:lnR>
                      <a:noFill/>
                    </a:lnR>
                    <a:lnT>
                      <a:noFill/>
                    </a:lnT>
                    <a:lnB>
                      <a:noFill/>
                    </a:lnB>
                  </a:tcPr>
                </a:tc>
                <a:tc>
                  <a:txBody>
                    <a:bodyPr/>
                    <a:lstStyle/>
                    <a:p>
                      <a:r>
                        <a:rPr lang="en-US"/>
                        <a:t>GNU C Library</a:t>
                      </a:r>
                    </a:p>
                  </a:txBody>
                  <a:tcPr anchor="ctr">
                    <a:lnL>
                      <a:noFill/>
                    </a:lnL>
                    <a:lnR>
                      <a:noFill/>
                    </a:lnR>
                    <a:lnT>
                      <a:noFill/>
                    </a:lnT>
                    <a:lnB>
                      <a:noFill/>
                    </a:lnB>
                  </a:tcPr>
                </a:tc>
                <a:tc>
                  <a:txBody>
                    <a:bodyPr/>
                    <a:lstStyle/>
                    <a:p>
                      <a:r>
                        <a:rPr lang="en-US"/>
                        <a:t>2.4 - 31.30</a:t>
                      </a:r>
                    </a:p>
                  </a:txBody>
                  <a:tcPr anchor="ctr">
                    <a:lnL>
                      <a:noFill/>
                    </a:lnL>
                    <a:lnR>
                      <a:noFill/>
                    </a:lnR>
                    <a:lnT>
                      <a:noFill/>
                    </a:lnT>
                    <a:lnB>
                      <a:noFill/>
                    </a:lnB>
                  </a:tcPr>
                </a:tc>
                <a:extLst>
                  <a:ext uri="{0D108BD9-81ED-4DB2-BD59-A6C34878D82A}">
                    <a16:rowId xmlns:a16="http://schemas.microsoft.com/office/drawing/2014/main" val="3204025322"/>
                  </a:ext>
                </a:extLst>
              </a:tr>
              <a:tr h="0">
                <a:tc>
                  <a:txBody>
                    <a:bodyPr/>
                    <a:lstStyle/>
                    <a:p>
                      <a:r>
                        <a:rPr lang="en-US"/>
                        <a:t>python</a:t>
                      </a:r>
                    </a:p>
                  </a:txBody>
                  <a:tcPr anchor="ctr">
                    <a:lnL>
                      <a:noFill/>
                    </a:lnL>
                    <a:lnR>
                      <a:noFill/>
                    </a:lnR>
                    <a:lnT>
                      <a:noFill/>
                    </a:lnT>
                    <a:lnB>
                      <a:noFill/>
                    </a:lnB>
                  </a:tcPr>
                </a:tc>
                <a:tc>
                  <a:txBody>
                    <a:bodyPr/>
                    <a:lstStyle/>
                    <a:p>
                      <a:r>
                        <a:rPr lang="en-US"/>
                        <a:t>Python</a:t>
                      </a:r>
                    </a:p>
                  </a:txBody>
                  <a:tcPr anchor="ctr">
                    <a:lnL>
                      <a:noFill/>
                    </a:lnL>
                    <a:lnR>
                      <a:noFill/>
                    </a:lnR>
                    <a:lnT>
                      <a:noFill/>
                    </a:lnT>
                    <a:lnB>
                      <a:noFill/>
                    </a:lnB>
                  </a:tcPr>
                </a:tc>
                <a:tc>
                  <a:txBody>
                    <a:bodyPr/>
                    <a:lstStyle/>
                    <a:p>
                      <a:r>
                        <a:rPr lang="en-US"/>
                        <a:t>2.4 - 3.4</a:t>
                      </a:r>
                    </a:p>
                  </a:txBody>
                  <a:tcPr anchor="ctr">
                    <a:lnL>
                      <a:noFill/>
                    </a:lnL>
                    <a:lnR>
                      <a:noFill/>
                    </a:lnR>
                    <a:lnT>
                      <a:noFill/>
                    </a:lnT>
                    <a:lnB>
                      <a:noFill/>
                    </a:lnB>
                  </a:tcPr>
                </a:tc>
                <a:extLst>
                  <a:ext uri="{0D108BD9-81ED-4DB2-BD59-A6C34878D82A}">
                    <a16:rowId xmlns:a16="http://schemas.microsoft.com/office/drawing/2014/main" val="1595755134"/>
                  </a:ext>
                </a:extLst>
              </a:tr>
              <a:tr h="0">
                <a:tc>
                  <a:txBody>
                    <a:bodyPr/>
                    <a:lstStyle/>
                    <a:p>
                      <a:r>
                        <a:rPr lang="en-US"/>
                        <a:t>omi</a:t>
                      </a:r>
                    </a:p>
                  </a:txBody>
                  <a:tcPr anchor="ctr">
                    <a:lnL>
                      <a:noFill/>
                    </a:lnL>
                    <a:lnR>
                      <a:noFill/>
                    </a:lnR>
                    <a:lnT>
                      <a:noFill/>
                    </a:lnT>
                    <a:lnB>
                      <a:noFill/>
                    </a:lnB>
                  </a:tcPr>
                </a:tc>
                <a:tc>
                  <a:txBody>
                    <a:bodyPr/>
                    <a:lstStyle/>
                    <a:p>
                      <a:r>
                        <a:rPr lang="en-US"/>
                        <a:t>Open Management Infrastructure</a:t>
                      </a:r>
                    </a:p>
                  </a:txBody>
                  <a:tcPr anchor="ctr">
                    <a:lnL>
                      <a:noFill/>
                    </a:lnL>
                    <a:lnR>
                      <a:noFill/>
                    </a:lnR>
                    <a:lnT>
                      <a:noFill/>
                    </a:lnT>
                    <a:lnB>
                      <a:noFill/>
                    </a:lnB>
                  </a:tcPr>
                </a:tc>
                <a:tc>
                  <a:txBody>
                    <a:bodyPr/>
                    <a:lstStyle/>
                    <a:p>
                      <a:r>
                        <a:rPr lang="en-US"/>
                        <a:t>1.0.8-4</a:t>
                      </a:r>
                    </a:p>
                  </a:txBody>
                  <a:tcPr anchor="ctr">
                    <a:lnL>
                      <a:noFill/>
                    </a:lnL>
                    <a:lnR>
                      <a:noFill/>
                    </a:lnR>
                    <a:lnT>
                      <a:noFill/>
                    </a:lnT>
                    <a:lnB>
                      <a:noFill/>
                    </a:lnB>
                  </a:tcPr>
                </a:tc>
                <a:extLst>
                  <a:ext uri="{0D108BD9-81ED-4DB2-BD59-A6C34878D82A}">
                    <a16:rowId xmlns:a16="http://schemas.microsoft.com/office/drawing/2014/main" val="4241930611"/>
                  </a:ext>
                </a:extLst>
              </a:tr>
              <a:tr h="0">
                <a:tc>
                  <a:txBody>
                    <a:bodyPr/>
                    <a:lstStyle/>
                    <a:p>
                      <a:r>
                        <a:rPr lang="en-US"/>
                        <a:t>openssl</a:t>
                      </a:r>
                    </a:p>
                  </a:txBody>
                  <a:tcPr anchor="ctr">
                    <a:lnL>
                      <a:noFill/>
                    </a:lnL>
                    <a:lnR>
                      <a:noFill/>
                    </a:lnR>
                    <a:lnT>
                      <a:noFill/>
                    </a:lnT>
                    <a:lnB>
                      <a:noFill/>
                    </a:lnB>
                  </a:tcPr>
                </a:tc>
                <a:tc>
                  <a:txBody>
                    <a:bodyPr/>
                    <a:lstStyle/>
                    <a:p>
                      <a:r>
                        <a:rPr lang="en-US"/>
                        <a:t>OpenSSL Libraries</a:t>
                      </a:r>
                    </a:p>
                  </a:txBody>
                  <a:tcPr anchor="ctr">
                    <a:lnL>
                      <a:noFill/>
                    </a:lnL>
                    <a:lnR>
                      <a:noFill/>
                    </a:lnR>
                    <a:lnT>
                      <a:noFill/>
                    </a:lnT>
                    <a:lnB>
                      <a:noFill/>
                    </a:lnB>
                  </a:tcPr>
                </a:tc>
                <a:tc>
                  <a:txBody>
                    <a:bodyPr/>
                    <a:lstStyle/>
                    <a:p>
                      <a:r>
                        <a:rPr lang="en-US"/>
                        <a:t>0.9.8e or 1.0</a:t>
                      </a:r>
                    </a:p>
                  </a:txBody>
                  <a:tcPr anchor="ctr">
                    <a:lnL>
                      <a:noFill/>
                    </a:lnL>
                    <a:lnR>
                      <a:noFill/>
                    </a:lnR>
                    <a:lnT>
                      <a:noFill/>
                    </a:lnT>
                    <a:lnB>
                      <a:noFill/>
                    </a:lnB>
                  </a:tcPr>
                </a:tc>
                <a:extLst>
                  <a:ext uri="{0D108BD9-81ED-4DB2-BD59-A6C34878D82A}">
                    <a16:rowId xmlns:a16="http://schemas.microsoft.com/office/drawing/2014/main" val="659237221"/>
                  </a:ext>
                </a:extLst>
              </a:tr>
              <a:tr h="0">
                <a:tc>
                  <a:txBody>
                    <a:bodyPr/>
                    <a:lstStyle/>
                    <a:p>
                      <a:r>
                        <a:rPr lang="en-US"/>
                        <a:t>python-ctypes</a:t>
                      </a:r>
                    </a:p>
                  </a:txBody>
                  <a:tcPr anchor="ctr">
                    <a:lnL>
                      <a:noFill/>
                    </a:lnL>
                    <a:lnR>
                      <a:noFill/>
                    </a:lnR>
                    <a:lnT>
                      <a:noFill/>
                    </a:lnT>
                    <a:lnB>
                      <a:noFill/>
                    </a:lnB>
                  </a:tcPr>
                </a:tc>
                <a:tc>
                  <a:txBody>
                    <a:bodyPr/>
                    <a:lstStyle/>
                    <a:p>
                      <a:r>
                        <a:rPr lang="en-US"/>
                        <a:t>Python CTypes library</a:t>
                      </a:r>
                    </a:p>
                  </a:txBody>
                  <a:tcPr anchor="ctr">
                    <a:lnL>
                      <a:noFill/>
                    </a:lnL>
                    <a:lnR>
                      <a:noFill/>
                    </a:lnR>
                    <a:lnT>
                      <a:noFill/>
                    </a:lnT>
                    <a:lnB>
                      <a:noFill/>
                    </a:lnB>
                  </a:tcPr>
                </a:tc>
                <a:tc>
                  <a:txBody>
                    <a:bodyPr/>
                    <a:lstStyle/>
                    <a:p>
                      <a:r>
                        <a:rPr lang="en-US"/>
                        <a:t>Must match Python version</a:t>
                      </a:r>
                    </a:p>
                  </a:txBody>
                  <a:tcPr anchor="ctr">
                    <a:lnL>
                      <a:noFill/>
                    </a:lnL>
                    <a:lnR>
                      <a:noFill/>
                    </a:lnR>
                    <a:lnT>
                      <a:noFill/>
                    </a:lnT>
                    <a:lnB>
                      <a:noFill/>
                    </a:lnB>
                  </a:tcPr>
                </a:tc>
                <a:extLst>
                  <a:ext uri="{0D108BD9-81ED-4DB2-BD59-A6C34878D82A}">
                    <a16:rowId xmlns:a16="http://schemas.microsoft.com/office/drawing/2014/main" val="2625837483"/>
                  </a:ext>
                </a:extLst>
              </a:tr>
              <a:tr h="0">
                <a:tc>
                  <a:txBody>
                    <a:bodyPr/>
                    <a:lstStyle/>
                    <a:p>
                      <a:r>
                        <a:rPr lang="en-US"/>
                        <a:t>libcurl</a:t>
                      </a:r>
                    </a:p>
                  </a:txBody>
                  <a:tcPr anchor="ctr">
                    <a:lnL>
                      <a:noFill/>
                    </a:lnL>
                    <a:lnR>
                      <a:noFill/>
                    </a:lnR>
                    <a:lnT>
                      <a:noFill/>
                    </a:lnT>
                    <a:lnB>
                      <a:noFill/>
                    </a:lnB>
                  </a:tcPr>
                </a:tc>
                <a:tc>
                  <a:txBody>
                    <a:bodyPr/>
                    <a:lstStyle/>
                    <a:p>
                      <a:r>
                        <a:rPr lang="en-US"/>
                        <a:t>cURL http client library</a:t>
                      </a:r>
                    </a:p>
                  </a:txBody>
                  <a:tcPr anchor="ctr">
                    <a:lnL>
                      <a:noFill/>
                    </a:lnL>
                    <a:lnR>
                      <a:noFill/>
                    </a:lnR>
                    <a:lnT>
                      <a:noFill/>
                    </a:lnT>
                    <a:lnB>
                      <a:noFill/>
                    </a:lnB>
                  </a:tcPr>
                </a:tc>
                <a:tc>
                  <a:txBody>
                    <a:bodyPr/>
                    <a:lstStyle/>
                    <a:p>
                      <a:r>
                        <a:rPr lang="en-US" dirty="0"/>
                        <a:t>7.15.1</a:t>
                      </a:r>
                    </a:p>
                  </a:txBody>
                  <a:tcPr anchor="ctr">
                    <a:lnL>
                      <a:noFill/>
                    </a:lnL>
                    <a:lnR>
                      <a:noFill/>
                    </a:lnR>
                    <a:lnT>
                      <a:noFill/>
                    </a:lnT>
                    <a:lnB>
                      <a:noFill/>
                    </a:lnB>
                  </a:tcPr>
                </a:tc>
                <a:extLst>
                  <a:ext uri="{0D108BD9-81ED-4DB2-BD59-A6C34878D82A}">
                    <a16:rowId xmlns:a16="http://schemas.microsoft.com/office/drawing/2014/main" val="3823349938"/>
                  </a:ext>
                </a:extLst>
              </a:tr>
              <a:tr h="0">
                <a:tc>
                  <a:txBody>
                    <a:bodyPr/>
                    <a:lstStyle/>
                    <a:p>
                      <a:r>
                        <a:rPr lang="en-US" dirty="0"/>
                        <a:t>unzip</a:t>
                      </a:r>
                    </a:p>
                  </a:txBody>
                  <a:tcPr anchor="ctr">
                    <a:lnL>
                      <a:noFill/>
                    </a:lnL>
                    <a:lnR>
                      <a:noFill/>
                    </a:lnR>
                    <a:lnT>
                      <a:noFill/>
                    </a:lnT>
                    <a:lnB>
                      <a:noFill/>
                    </a:lnB>
                  </a:tcPr>
                </a:tc>
                <a:tc>
                  <a:txBody>
                    <a:bodyPr/>
                    <a:lstStyle/>
                    <a:p>
                      <a:r>
                        <a:rPr lang="en-US" dirty="0"/>
                        <a:t>De-archiver for .zip files like resource modules</a:t>
                      </a:r>
                    </a:p>
                  </a:txBody>
                  <a:tcPr anchor="ctr">
                    <a:lnL>
                      <a:noFill/>
                    </a:lnL>
                    <a:lnR>
                      <a:noFill/>
                    </a:lnR>
                    <a:lnT>
                      <a:noFill/>
                    </a:lnT>
                    <a:lnB>
                      <a:noFill/>
                    </a:lnB>
                  </a:tcPr>
                </a:tc>
                <a:tc>
                  <a:txBody>
                    <a:bodyPr/>
                    <a:lstStyle/>
                    <a:p>
                      <a:r>
                        <a:rPr lang="en-US" dirty="0"/>
                        <a:t>n/a</a:t>
                      </a:r>
                    </a:p>
                  </a:txBody>
                  <a:tcPr anchor="ctr">
                    <a:lnL>
                      <a:noFill/>
                    </a:lnL>
                    <a:lnR>
                      <a:noFill/>
                    </a:lnR>
                    <a:lnT>
                      <a:noFill/>
                    </a:lnT>
                    <a:lnB>
                      <a:noFill/>
                    </a:lnB>
                  </a:tcPr>
                </a:tc>
                <a:extLst>
                  <a:ext uri="{0D108BD9-81ED-4DB2-BD59-A6C34878D82A}">
                    <a16:rowId xmlns:a16="http://schemas.microsoft.com/office/drawing/2014/main" val="2150428354"/>
                  </a:ext>
                </a:extLst>
              </a:tr>
              <a:tr h="0">
                <a:tc>
                  <a:txBody>
                    <a:bodyPr/>
                    <a:lstStyle/>
                    <a:p>
                      <a:r>
                        <a:rPr lang="en-US" b="1" dirty="0">
                          <a:hlinkClick r:id="rId2"/>
                        </a:rPr>
                        <a:t>dsc-1.1.1.packages.tar.gz</a:t>
                      </a:r>
                      <a:r>
                        <a:rPr lang="en-US" dirty="0">
                          <a:hlinkClick r:id="rId2"/>
                        </a:rPr>
                        <a:t> </a:t>
                      </a:r>
                      <a:endParaRPr lang="en-US" dirty="0"/>
                    </a:p>
                  </a:txBody>
                  <a:tcPr anchor="ctr">
                    <a:lnL>
                      <a:noFill/>
                    </a:lnL>
                    <a:lnR>
                      <a:noFill/>
                    </a:lnR>
                    <a:lnT>
                      <a:noFill/>
                    </a:lnT>
                    <a:lnB>
                      <a:noFill/>
                    </a:lnB>
                  </a:tcPr>
                </a:tc>
                <a:tc>
                  <a:txBody>
                    <a:bodyPr/>
                    <a:lstStyle/>
                    <a:p>
                      <a:r>
                        <a:rPr lang="en-US" dirty="0"/>
                        <a:t>PowerShell DSC</a:t>
                      </a:r>
                    </a:p>
                  </a:txBody>
                  <a:tcPr anchor="ctr">
                    <a:lnL>
                      <a:noFill/>
                    </a:lnL>
                    <a:lnR>
                      <a:noFill/>
                    </a:lnR>
                    <a:lnT>
                      <a:noFill/>
                    </a:lnT>
                    <a:lnB>
                      <a:noFill/>
                    </a:lnB>
                  </a:tcPr>
                </a:tc>
                <a:tc>
                  <a:txBody>
                    <a:bodyPr/>
                    <a:lstStyle/>
                    <a:p>
                      <a:r>
                        <a:rPr lang="en-US" dirty="0"/>
                        <a:t>1.1.1</a:t>
                      </a:r>
                    </a:p>
                  </a:txBody>
                  <a:tcPr anchor="ctr">
                    <a:lnL>
                      <a:noFill/>
                    </a:lnL>
                    <a:lnR>
                      <a:noFill/>
                    </a:lnR>
                    <a:lnT>
                      <a:noFill/>
                    </a:lnT>
                    <a:lnB>
                      <a:noFill/>
                    </a:lnB>
                  </a:tcPr>
                </a:tc>
                <a:extLst>
                  <a:ext uri="{0D108BD9-81ED-4DB2-BD59-A6C34878D82A}">
                    <a16:rowId xmlns:a16="http://schemas.microsoft.com/office/drawing/2014/main" val="1011802592"/>
                  </a:ext>
                </a:extLst>
              </a:tr>
            </a:tbl>
          </a:graphicData>
        </a:graphic>
      </p:graphicFrame>
    </p:spTree>
    <p:extLst>
      <p:ext uri="{BB962C8B-B14F-4D97-AF65-F5344CB8AC3E}">
        <p14:creationId xmlns:p14="http://schemas.microsoft.com/office/powerpoint/2010/main" val="358004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PowerShell DSC for Linux</a:t>
            </a:r>
          </a:p>
        </p:txBody>
      </p:sp>
      <p:sp>
        <p:nvSpPr>
          <p:cNvPr id="3" name="Content Placeholder 2"/>
          <p:cNvSpPr>
            <a:spLocks noGrp="1"/>
          </p:cNvSpPr>
          <p:nvPr>
            <p:ph idx="1"/>
          </p:nvPr>
        </p:nvSpPr>
        <p:spPr>
          <a:xfrm>
            <a:off x="1103312" y="2052918"/>
            <a:ext cx="10060407" cy="4609139"/>
          </a:xfrm>
        </p:spPr>
        <p:txBody>
          <a:bodyPr>
            <a:noAutofit/>
          </a:bodyPr>
          <a:lstStyle/>
          <a:p>
            <a:r>
              <a:rPr lang="en-US" sz="1400" dirty="0" err="1"/>
              <a:t>sudo</a:t>
            </a:r>
            <a:r>
              <a:rPr lang="en-US" sz="1400" dirty="0"/>
              <a:t> apt-get -y Glibc</a:t>
            </a:r>
          </a:p>
          <a:p>
            <a:r>
              <a:rPr lang="en-US" sz="1400" dirty="0" err="1"/>
              <a:t>sudo</a:t>
            </a:r>
            <a:r>
              <a:rPr lang="en-US" sz="1400" dirty="0"/>
              <a:t> apt-get -y python</a:t>
            </a:r>
          </a:p>
          <a:p>
            <a:r>
              <a:rPr lang="en-US" sz="1400" dirty="0" err="1"/>
              <a:t>sudo</a:t>
            </a:r>
            <a:r>
              <a:rPr lang="en-US" sz="1400" dirty="0"/>
              <a:t> apt-get -y </a:t>
            </a:r>
            <a:r>
              <a:rPr lang="en-US" sz="1400" dirty="0" err="1"/>
              <a:t>omi</a:t>
            </a:r>
            <a:endParaRPr lang="en-US" sz="1400" dirty="0"/>
          </a:p>
          <a:p>
            <a:r>
              <a:rPr lang="en-US" sz="1400" dirty="0" err="1"/>
              <a:t>sudo</a:t>
            </a:r>
            <a:r>
              <a:rPr lang="en-US" sz="1400" dirty="0"/>
              <a:t> apt-get -y </a:t>
            </a:r>
            <a:r>
              <a:rPr lang="en-US" sz="1400" dirty="0" err="1"/>
              <a:t>openssl</a:t>
            </a:r>
            <a:endParaRPr lang="en-US" sz="1400" dirty="0"/>
          </a:p>
          <a:p>
            <a:r>
              <a:rPr lang="en-US" sz="1400" dirty="0" err="1"/>
              <a:t>sudo</a:t>
            </a:r>
            <a:r>
              <a:rPr lang="en-US" sz="1400" dirty="0"/>
              <a:t> apt-get -y python-</a:t>
            </a:r>
            <a:r>
              <a:rPr lang="en-US" sz="1400" dirty="0" err="1"/>
              <a:t>ctypes</a:t>
            </a:r>
            <a:endParaRPr lang="en-US" sz="1400" dirty="0"/>
          </a:p>
          <a:p>
            <a:r>
              <a:rPr lang="en-US" sz="1400" dirty="0" err="1"/>
              <a:t>sudo</a:t>
            </a:r>
            <a:r>
              <a:rPr lang="en-US" sz="1400" dirty="0"/>
              <a:t> apt-get -y </a:t>
            </a:r>
            <a:r>
              <a:rPr lang="en-US" sz="1400" dirty="0" err="1"/>
              <a:t>libcurl</a:t>
            </a:r>
            <a:endParaRPr lang="en-US" sz="1400" dirty="0"/>
          </a:p>
          <a:p>
            <a:r>
              <a:rPr lang="en-US" sz="1400" dirty="0" err="1"/>
              <a:t>sudo</a:t>
            </a:r>
            <a:r>
              <a:rPr lang="en-US" sz="1400" dirty="0"/>
              <a:t> apt-get -y unzip</a:t>
            </a:r>
          </a:p>
          <a:p>
            <a:r>
              <a:rPr lang="en-US" sz="1400" dirty="0" err="1"/>
              <a:t>mkdir</a:t>
            </a:r>
            <a:r>
              <a:rPr lang="en-US" sz="1400" dirty="0"/>
              <a:t> /Downloads</a:t>
            </a:r>
          </a:p>
          <a:p>
            <a:r>
              <a:rPr lang="en-US" sz="1400" dirty="0"/>
              <a:t>cd /Downloads</a:t>
            </a:r>
          </a:p>
          <a:p>
            <a:r>
              <a:rPr lang="en-US" sz="1400" dirty="0" err="1"/>
              <a:t>sudo</a:t>
            </a:r>
            <a:r>
              <a:rPr lang="en-US" sz="1400" dirty="0"/>
              <a:t> curl -O </a:t>
            </a:r>
            <a:r>
              <a:rPr lang="en-US" sz="1400" dirty="0">
                <a:hlinkClick r:id="rId2"/>
              </a:rPr>
              <a:t>https://github.com/Microsoft/PowerShell-DSC-for-Linux/releases/download/v1.1.1-70/dsc-1.1.1.packages.tar.gz</a:t>
            </a:r>
            <a:endParaRPr lang="en-US" sz="1400" dirty="0"/>
          </a:p>
          <a:p>
            <a:endParaRPr lang="en-US" sz="1400" dirty="0"/>
          </a:p>
          <a:p>
            <a:r>
              <a:rPr lang="en-US" sz="1400" dirty="0" err="1"/>
              <a:t>sudo</a:t>
            </a:r>
            <a:r>
              <a:rPr lang="en-US" sz="1400" dirty="0"/>
              <a:t> tar -</a:t>
            </a:r>
            <a:r>
              <a:rPr lang="en-US" sz="1400" dirty="0" err="1"/>
              <a:t>xzvf</a:t>
            </a:r>
            <a:r>
              <a:rPr lang="en-US" sz="1400" dirty="0"/>
              <a:t> dsc-1.1.1.packages.tar.gz ; mv ./</a:t>
            </a:r>
            <a:r>
              <a:rPr lang="en-US" sz="1400" dirty="0" err="1"/>
              <a:t>dsc</a:t>
            </a:r>
            <a:r>
              <a:rPr lang="en-US" sz="1400" dirty="0"/>
              <a:t>/* ./ ; make ; make </a:t>
            </a:r>
            <a:r>
              <a:rPr lang="en-US" sz="1400" dirty="0" err="1"/>
              <a:t>reg</a:t>
            </a:r>
            <a:endParaRPr lang="en-US" sz="1400" dirty="0"/>
          </a:p>
          <a:p>
            <a:r>
              <a:rPr lang="en-US" sz="1400" dirty="0"/>
              <a:t>You will also need an </a:t>
            </a:r>
            <a:r>
              <a:rPr lang="en-US" sz="1400" dirty="0" err="1"/>
              <a:t>omiserver</a:t>
            </a:r>
            <a:r>
              <a:rPr lang="en-US" sz="1400" dirty="0"/>
              <a:t> startup script as well. </a:t>
            </a:r>
          </a:p>
        </p:txBody>
      </p:sp>
    </p:spTree>
    <p:extLst>
      <p:ext uri="{BB962C8B-B14F-4D97-AF65-F5344CB8AC3E}">
        <p14:creationId xmlns:p14="http://schemas.microsoft.com/office/powerpoint/2010/main" val="2462030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Register.py to onboard</a:t>
            </a:r>
          </a:p>
        </p:txBody>
      </p:sp>
      <p:sp>
        <p:nvSpPr>
          <p:cNvPr id="3" name="Content Placeholder 2"/>
          <p:cNvSpPr>
            <a:spLocks noGrp="1"/>
          </p:cNvSpPr>
          <p:nvPr>
            <p:ph idx="1"/>
          </p:nvPr>
        </p:nvSpPr>
        <p:spPr>
          <a:xfrm>
            <a:off x="1103312" y="2052919"/>
            <a:ext cx="8946541" cy="1715214"/>
          </a:xfrm>
        </p:spPr>
        <p:txBody>
          <a:bodyPr/>
          <a:lstStyle/>
          <a:p>
            <a:r>
              <a:rPr lang="en-US" dirty="0"/>
              <a:t>Configures to pull from Azure Automation DSC</a:t>
            </a:r>
          </a:p>
          <a:p>
            <a:r>
              <a:rPr lang="en-US" dirty="0"/>
              <a:t>Configures to report to Azure Automation DSC</a:t>
            </a:r>
          </a:p>
          <a:p>
            <a:r>
              <a:rPr lang="en-US" dirty="0"/>
              <a:t>/opt/microsoft/dsc/Scripts/Register.py  &lt;Automation account registration key&gt;  &lt;Automation account registration URL&gt;</a:t>
            </a:r>
          </a:p>
        </p:txBody>
      </p:sp>
      <p:pic>
        <p:nvPicPr>
          <p:cNvPr id="6" name="Picture 5"/>
          <p:cNvPicPr>
            <a:picLocks noChangeAspect="1"/>
          </p:cNvPicPr>
          <p:nvPr/>
        </p:nvPicPr>
        <p:blipFill>
          <a:blip r:embed="rId2"/>
          <a:stretch>
            <a:fillRect/>
          </a:stretch>
        </p:blipFill>
        <p:spPr>
          <a:xfrm>
            <a:off x="1103312" y="3863895"/>
            <a:ext cx="10233170" cy="2481184"/>
          </a:xfrm>
          <a:prstGeom prst="rect">
            <a:avLst/>
          </a:prstGeom>
        </p:spPr>
      </p:pic>
    </p:spTree>
    <p:extLst>
      <p:ext uri="{BB962C8B-B14F-4D97-AF65-F5344CB8AC3E}">
        <p14:creationId xmlns:p14="http://schemas.microsoft.com/office/powerpoint/2010/main" val="819802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239" y="366454"/>
            <a:ext cx="10378447" cy="823041"/>
          </a:xfrm>
        </p:spPr>
        <p:txBody>
          <a:bodyPr>
            <a:normAutofit/>
          </a:bodyPr>
          <a:lstStyle/>
          <a:p>
            <a:r>
              <a:rPr lang="en-US" dirty="0">
                <a:solidFill>
                  <a:schemeClr val="tx1"/>
                </a:solidFill>
              </a:rPr>
              <a:t>Azure DSC </a:t>
            </a:r>
            <a:r>
              <a:rPr lang="en-US" dirty="0" err="1">
                <a:solidFill>
                  <a:schemeClr val="tx1"/>
                </a:solidFill>
              </a:rPr>
              <a:t>Gotachas</a:t>
            </a:r>
            <a:endParaRPr lang="en-US" dirty="0">
              <a:solidFill>
                <a:schemeClr val="tx1"/>
              </a:solidFill>
            </a:endParaRPr>
          </a:p>
        </p:txBody>
      </p:sp>
      <p:sp>
        <p:nvSpPr>
          <p:cNvPr id="4" name="Text Placeholder 2"/>
          <p:cNvSpPr txBox="1">
            <a:spLocks/>
          </p:cNvSpPr>
          <p:nvPr/>
        </p:nvSpPr>
        <p:spPr>
          <a:xfrm>
            <a:off x="269239" y="1189495"/>
            <a:ext cx="11653523" cy="5504603"/>
          </a:xfrm>
          <a:prstGeom prst="rect">
            <a:avLst/>
          </a:prstGeom>
        </p:spPr>
        <p:txBody>
          <a:bodyPr vert="horz" lIns="91440" tIns="45720" rIns="91440" bIns="45720" rtlCol="0" anchor="t"/>
          <a:lstStyle>
            <a:defPPr>
              <a:defRPr lang="en-US"/>
            </a:defPPr>
            <a:lvl1pPr marL="0" algn="l" defTabSz="914400" rtl="0" eaLnBrk="1" latinLnBrk="0" hangingPunct="1">
              <a:defRPr sz="1100" b="0" i="0" kern="1200">
                <a:solidFill>
                  <a:schemeClr val="tx1">
                    <a:tint val="75000"/>
                    <a:alpha val="6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spcAft>
                <a:spcPts val="1200"/>
              </a:spcAft>
              <a:buFont typeface="Arial" panose="020B0604020202020204" pitchFamily="34" charset="0"/>
              <a:buChar char="•"/>
            </a:pPr>
            <a:r>
              <a:rPr lang="en-US" sz="2400" dirty="0">
                <a:solidFill>
                  <a:schemeClr val="tx1"/>
                </a:solidFill>
              </a:rPr>
              <a:t>Node Configurations (MOFs), not Configurations, are what should be assigned to nodes in Automation DSC</a:t>
            </a:r>
          </a:p>
          <a:p>
            <a:pPr marL="457200" indent="-457200">
              <a:spcAft>
                <a:spcPts val="1200"/>
              </a:spcAft>
              <a:buFont typeface="Arial" panose="020B0604020202020204" pitchFamily="34" charset="0"/>
              <a:buChar char="•"/>
            </a:pPr>
            <a:r>
              <a:rPr lang="en-US" sz="2400" dirty="0">
                <a:solidFill>
                  <a:schemeClr val="tx1"/>
                </a:solidFill>
              </a:rPr>
              <a:t>Node Configurations (MOFs) are </a:t>
            </a:r>
            <a:r>
              <a:rPr lang="en-US" sz="2400" dirty="0" err="1">
                <a:solidFill>
                  <a:schemeClr val="tx1"/>
                </a:solidFill>
              </a:rPr>
              <a:t>namespaced</a:t>
            </a:r>
            <a:r>
              <a:rPr lang="en-US" sz="2400" dirty="0">
                <a:solidFill>
                  <a:schemeClr val="tx1"/>
                </a:solidFill>
              </a:rPr>
              <a:t> by configuration name in Automation DSC (ex: </a:t>
            </a:r>
            <a:r>
              <a:rPr lang="en-US" sz="2400" dirty="0" err="1">
                <a:solidFill>
                  <a:schemeClr val="tx1"/>
                </a:solidFill>
              </a:rPr>
              <a:t>MyConfiguration.webserver</a:t>
            </a:r>
            <a:r>
              <a:rPr lang="en-US" sz="2400" dirty="0">
                <a:solidFill>
                  <a:schemeClr val="tx1"/>
                </a:solidFill>
              </a:rPr>
              <a:t>)</a:t>
            </a:r>
          </a:p>
          <a:p>
            <a:pPr marL="457200" indent="-457200">
              <a:spcAft>
                <a:spcPts val="1200"/>
              </a:spcAft>
              <a:buFont typeface="Arial" panose="020B0604020202020204" pitchFamily="34" charset="0"/>
              <a:buChar char="•"/>
            </a:pPr>
            <a:r>
              <a:rPr lang="en-US" sz="2400" dirty="0">
                <a:solidFill>
                  <a:schemeClr val="tx1"/>
                </a:solidFill>
              </a:rPr>
              <a:t>Only machines with WMF 5 installed can communicate with Automation DSC</a:t>
            </a:r>
          </a:p>
          <a:p>
            <a:pPr marL="457200" indent="-457200">
              <a:spcAft>
                <a:spcPts val="1200"/>
              </a:spcAft>
              <a:buFont typeface="Arial" panose="020B0604020202020204" pitchFamily="34" charset="0"/>
              <a:buChar char="•"/>
            </a:pPr>
            <a:r>
              <a:rPr lang="en-US" sz="2400" dirty="0">
                <a:solidFill>
                  <a:schemeClr val="tx1"/>
                </a:solidFill>
              </a:rPr>
              <a:t>Automation DSC does not currently support composite configurations or partial configurations (but does support composite resources)</a:t>
            </a:r>
          </a:p>
          <a:p>
            <a:pPr marL="457200" indent="-457200">
              <a:spcAft>
                <a:spcPts val="1200"/>
              </a:spcAft>
              <a:buFont typeface="Arial" panose="020B0604020202020204" pitchFamily="34" charset="0"/>
              <a:buChar char="•"/>
            </a:pPr>
            <a:r>
              <a:rPr lang="en-US" sz="2400" dirty="0">
                <a:solidFill>
                  <a:schemeClr val="tx1"/>
                </a:solidFill>
              </a:rPr>
              <a:t>Currently, nodes must be reregistered with Automation DSC after one year, due to certificate expiration</a:t>
            </a:r>
          </a:p>
          <a:p>
            <a:pPr marL="457200" indent="-457200">
              <a:spcAft>
                <a:spcPts val="1200"/>
              </a:spcAft>
              <a:buFont typeface="Arial" panose="020B0604020202020204" pitchFamily="34" charset="0"/>
              <a:buChar char="•"/>
            </a:pPr>
            <a:r>
              <a:rPr lang="en-US" sz="2400" dirty="0">
                <a:solidFill>
                  <a:schemeClr val="tx1"/>
                </a:solidFill>
              </a:rPr>
              <a:t>Compiling Configurations that use credentials in Automation DSC requires passing in </a:t>
            </a:r>
            <a:r>
              <a:rPr lang="en-US" sz="2400" dirty="0" err="1">
                <a:solidFill>
                  <a:schemeClr val="tx1"/>
                </a:solidFill>
              </a:rPr>
              <a:t>ConfigurationData</a:t>
            </a:r>
            <a:r>
              <a:rPr lang="en-US" sz="2400" dirty="0">
                <a:solidFill>
                  <a:schemeClr val="tx1"/>
                </a:solidFill>
              </a:rPr>
              <a:t> via PS cmdlets</a:t>
            </a:r>
          </a:p>
        </p:txBody>
      </p:sp>
    </p:spTree>
    <p:custDataLst>
      <p:tags r:id="rId1"/>
    </p:custDataLst>
    <p:extLst>
      <p:ext uri="{BB962C8B-B14F-4D97-AF65-F5344CB8AC3E}">
        <p14:creationId xmlns:p14="http://schemas.microsoft.com/office/powerpoint/2010/main" val="1753215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 Review</a:t>
            </a:r>
          </a:p>
        </p:txBody>
      </p:sp>
      <p:sp>
        <p:nvSpPr>
          <p:cNvPr id="5" name="Text Placeholder 4"/>
          <p:cNvSpPr>
            <a:spLocks noGrp="1"/>
          </p:cNvSpPr>
          <p:nvPr>
            <p:ph idx="1"/>
          </p:nvPr>
        </p:nvSpPr>
        <p:spPr>
          <a:xfrm>
            <a:off x="707367" y="1639020"/>
            <a:ext cx="9730596" cy="4848044"/>
          </a:xfrm>
        </p:spPr>
        <p:txBody>
          <a:bodyPr>
            <a:normAutofit fontScale="92500" lnSpcReduction="10000"/>
          </a:bodyPr>
          <a:lstStyle/>
          <a:p>
            <a:pPr marL="0" indent="0">
              <a:buNone/>
            </a:pP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Session Objective(s): </a:t>
            </a:r>
          </a:p>
          <a:p>
            <a:r>
              <a:rPr lang="en-US" sz="2000" dirty="0"/>
              <a:t>Provide an overview of Azure Automation</a:t>
            </a:r>
          </a:p>
          <a:p>
            <a:r>
              <a:rPr lang="en-US" sz="2000" dirty="0"/>
              <a:t>Demonstrate heterogeneous IT management using PowerShell and PowerShell DSC in Azure Automation</a:t>
            </a:r>
          </a:p>
          <a:p>
            <a:pPr marL="0" indent="0">
              <a:buNone/>
            </a:pPr>
            <a:endParaRPr lang="en-US" sz="2000" dirty="0"/>
          </a:p>
          <a:p>
            <a:pPr marL="0" indent="0">
              <a:buNone/>
            </a:pP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Key Takeaways</a:t>
            </a:r>
          </a:p>
          <a:p>
            <a:r>
              <a:rPr lang="en-US" u="sng" dirty="0"/>
              <a:t>Azure Automation provides PowerShell as a Service</a:t>
            </a:r>
            <a:r>
              <a:rPr lang="en-US" dirty="0"/>
              <a:t> -- a central, secure location for all your PowerShell assets, executions, and reports, that is scalable, reliable and highly-available</a:t>
            </a:r>
          </a:p>
          <a:p>
            <a:pPr marL="342900" lvl="1" indent="-342900"/>
            <a:r>
              <a:rPr lang="en-US" sz="2200" dirty="0"/>
              <a:t>Azure Automation DSC provides a reliable, highly-available, scalable DSC pull and reporting service that can be used to deliver, monitor, and update infrastructure aligned with IT rules</a:t>
            </a:r>
            <a:endParaRPr lang="en-US" dirty="0"/>
          </a:p>
          <a:p>
            <a:pPr marL="182880" lvl="1">
              <a:spcBef>
                <a:spcPts val="1200"/>
              </a:spcBef>
              <a:spcAft>
                <a:spcPts val="200"/>
              </a:spcAft>
            </a:pPr>
            <a:r>
              <a:rPr lang="en-US" sz="2200" dirty="0"/>
              <a:t>Azure Automation simplifies automation and configuration across clouds, platforms, and datacenters</a:t>
            </a:r>
            <a:endParaRPr lang="en-US" sz="2000" dirty="0"/>
          </a:p>
          <a:p>
            <a:pPr lvl="1"/>
            <a:endParaRPr lang="en-US" dirty="0"/>
          </a:p>
        </p:txBody>
      </p:sp>
    </p:spTree>
    <p:extLst>
      <p:ext uri="{BB962C8B-B14F-4D97-AF65-F5344CB8AC3E}">
        <p14:creationId xmlns:p14="http://schemas.microsoft.com/office/powerpoint/2010/main" val="3897423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835" y="739726"/>
            <a:ext cx="11757205" cy="4332720"/>
          </a:xfrm>
        </p:spPr>
        <p:txBody>
          <a:bodyPr>
            <a:normAutofit fontScale="90000"/>
          </a:bodyPr>
          <a:lstStyle/>
          <a:p>
            <a:r>
              <a:rPr lang="en-US" dirty="0"/>
              <a:t>Join the Monthly Automation calls</a:t>
            </a:r>
            <a:br>
              <a:rPr lang="en-US" dirty="0"/>
            </a:br>
            <a:br>
              <a:rPr lang="en-US" sz="3529" dirty="0"/>
            </a:br>
            <a:r>
              <a:rPr lang="en-US" sz="3529" dirty="0"/>
              <a:t>If interested, see us later to be added to the monthly invite.</a:t>
            </a:r>
            <a:br>
              <a:rPr lang="en-US" dirty="0"/>
            </a:br>
            <a:endParaRPr lang="en-US" dirty="0"/>
          </a:p>
        </p:txBody>
      </p:sp>
    </p:spTree>
    <p:extLst>
      <p:ext uri="{BB962C8B-B14F-4D97-AF65-F5344CB8AC3E}">
        <p14:creationId xmlns:p14="http://schemas.microsoft.com/office/powerpoint/2010/main" val="553363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285" y="907214"/>
            <a:ext cx="8825657" cy="813547"/>
          </a:xfrm>
        </p:spPr>
        <p:txBody>
          <a:bodyPr/>
          <a:lstStyle/>
          <a:p>
            <a:br>
              <a:rPr lang="en-US" dirty="0"/>
            </a:br>
            <a:br>
              <a:rPr lang="en-US" dirty="0"/>
            </a:br>
            <a:r>
              <a:rPr lang="en-US" dirty="0"/>
              <a:t>OMS Team blog</a:t>
            </a:r>
          </a:p>
        </p:txBody>
      </p:sp>
      <p:sp>
        <p:nvSpPr>
          <p:cNvPr id="5" name="Text Placeholder 4"/>
          <p:cNvSpPr>
            <a:spLocks noGrp="1"/>
          </p:cNvSpPr>
          <p:nvPr>
            <p:ph type="body" idx="1"/>
          </p:nvPr>
        </p:nvSpPr>
        <p:spPr>
          <a:xfrm>
            <a:off x="549837" y="2451040"/>
            <a:ext cx="8825658" cy="860400"/>
          </a:xfrm>
        </p:spPr>
        <p:txBody>
          <a:bodyPr/>
          <a:lstStyle/>
          <a:p>
            <a:r>
              <a:rPr lang="en-US" dirty="0"/>
              <a:t>Http://aka.ms/omsblog</a:t>
            </a:r>
          </a:p>
        </p:txBody>
      </p:sp>
      <p:pic>
        <p:nvPicPr>
          <p:cNvPr id="6" name="Picture 5"/>
          <p:cNvPicPr>
            <a:picLocks noChangeAspect="1"/>
          </p:cNvPicPr>
          <p:nvPr/>
        </p:nvPicPr>
        <p:blipFill>
          <a:blip r:embed="rId2"/>
          <a:stretch>
            <a:fillRect/>
          </a:stretch>
        </p:blipFill>
        <p:spPr>
          <a:xfrm>
            <a:off x="4424083" y="1804028"/>
            <a:ext cx="7022548" cy="4078306"/>
          </a:xfrm>
          <a:prstGeom prst="rect">
            <a:avLst/>
          </a:prstGeom>
        </p:spPr>
      </p:pic>
    </p:spTree>
    <p:extLst>
      <p:ext uri="{BB962C8B-B14F-4D97-AF65-F5344CB8AC3E}">
        <p14:creationId xmlns:p14="http://schemas.microsoft.com/office/powerpoint/2010/main" val="3328501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932" y="1155559"/>
            <a:ext cx="8825657" cy="1019297"/>
          </a:xfrm>
        </p:spPr>
        <p:txBody>
          <a:bodyPr/>
          <a:lstStyle/>
          <a:p>
            <a:r>
              <a:rPr lang="en-US" dirty="0"/>
              <a:t>Try OMS</a:t>
            </a:r>
          </a:p>
        </p:txBody>
      </p:sp>
      <p:sp>
        <p:nvSpPr>
          <p:cNvPr id="5" name="Text Placeholder 4"/>
          <p:cNvSpPr>
            <a:spLocks noGrp="1"/>
          </p:cNvSpPr>
          <p:nvPr>
            <p:ph type="body" idx="1"/>
          </p:nvPr>
        </p:nvSpPr>
        <p:spPr>
          <a:xfrm>
            <a:off x="766932" y="2508048"/>
            <a:ext cx="8825658" cy="860400"/>
          </a:xfrm>
        </p:spPr>
        <p:txBody>
          <a:bodyPr/>
          <a:lstStyle/>
          <a:p>
            <a:r>
              <a:rPr lang="en-US" dirty="0"/>
              <a:t>Http:/Aka.ms/</a:t>
            </a:r>
            <a:r>
              <a:rPr lang="en-US" dirty="0" err="1"/>
              <a:t>getoms</a:t>
            </a:r>
            <a:endParaRPr lang="en-US" dirty="0"/>
          </a:p>
          <a:p>
            <a:endParaRPr lang="en-US" dirty="0"/>
          </a:p>
        </p:txBody>
      </p:sp>
      <p:pic>
        <p:nvPicPr>
          <p:cNvPr id="6" name="Picture 5"/>
          <p:cNvPicPr>
            <a:picLocks noChangeAspect="1"/>
          </p:cNvPicPr>
          <p:nvPr/>
        </p:nvPicPr>
        <p:blipFill>
          <a:blip r:embed="rId2"/>
          <a:stretch>
            <a:fillRect/>
          </a:stretch>
        </p:blipFill>
        <p:spPr>
          <a:xfrm>
            <a:off x="4403912" y="1488751"/>
            <a:ext cx="7234045" cy="4433819"/>
          </a:xfrm>
          <a:prstGeom prst="rect">
            <a:avLst/>
          </a:prstGeom>
        </p:spPr>
      </p:pic>
    </p:spTree>
    <p:extLst>
      <p:ext uri="{BB962C8B-B14F-4D97-AF65-F5344CB8AC3E}">
        <p14:creationId xmlns:p14="http://schemas.microsoft.com/office/powerpoint/2010/main" val="5203380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90962" y="1710853"/>
            <a:ext cx="9404723" cy="1400331"/>
          </a:xfrm>
        </p:spPr>
        <p:txBody>
          <a:bodyPr/>
          <a:lstStyle/>
          <a:p>
            <a:r>
              <a:rPr lang="en-US" dirty="0"/>
              <a:t>PowerShell</a:t>
            </a:r>
            <a:br>
              <a:rPr lang="en-US" dirty="0"/>
            </a:br>
            <a:r>
              <a:rPr lang="en-US" b="1" dirty="0"/>
              <a:t>Open Source</a:t>
            </a:r>
            <a:br>
              <a:rPr lang="en-US" dirty="0"/>
            </a:br>
            <a:endParaRPr lang="en-US" dirty="0"/>
          </a:p>
        </p:txBody>
      </p:sp>
    </p:spTree>
    <p:extLst>
      <p:ext uri="{BB962C8B-B14F-4D97-AF65-F5344CB8AC3E}">
        <p14:creationId xmlns:p14="http://schemas.microsoft.com/office/powerpoint/2010/main" val="14367097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69239" y="1636151"/>
            <a:ext cx="11651870" cy="4855634"/>
          </a:xfrm>
        </p:spPr>
        <p:txBody>
          <a:bodyPr/>
          <a:lstStyle/>
          <a:p>
            <a:r>
              <a:rPr lang="en-US" sz="3529" dirty="0"/>
              <a:t>2006: PowerShell v1 </a:t>
            </a:r>
            <a:r>
              <a:rPr lang="en-US" sz="3529" dirty="0">
                <a:sym typeface="Wingdings" panose="05000000000000000000" pitchFamily="2" charset="2"/>
              </a:rPr>
              <a:t> 2016: PowerShell v5</a:t>
            </a:r>
            <a:endParaRPr lang="en-US" sz="3529" dirty="0"/>
          </a:p>
          <a:p>
            <a:pPr lvl="1"/>
            <a:r>
              <a:rPr lang="en-US" sz="2745" dirty="0"/>
              <a:t>WMF provides </a:t>
            </a:r>
            <a:r>
              <a:rPr lang="en-US" sz="2745" dirty="0" err="1"/>
              <a:t>downlevel</a:t>
            </a:r>
            <a:r>
              <a:rPr lang="en-US" sz="2745" dirty="0"/>
              <a:t> support</a:t>
            </a:r>
          </a:p>
          <a:p>
            <a:pPr lvl="1"/>
            <a:r>
              <a:rPr lang="en-US" sz="2745" dirty="0"/>
              <a:t>Windows not has over 3000 cmdlets</a:t>
            </a:r>
          </a:p>
          <a:p>
            <a:pPr lvl="1"/>
            <a:r>
              <a:rPr lang="en-US" sz="2745" dirty="0"/>
              <a:t>Not just a shell: task-based scripting language</a:t>
            </a:r>
          </a:p>
          <a:p>
            <a:pPr marL="905377" lvl="1" indent="-448193">
              <a:buFont typeface="Arial" panose="020B0604020202020204" pitchFamily="34" charset="0"/>
              <a:buChar char="•"/>
            </a:pPr>
            <a:r>
              <a:rPr lang="en-US" sz="3137" dirty="0"/>
              <a:t>Desired State Configuration</a:t>
            </a:r>
          </a:p>
          <a:p>
            <a:pPr marL="905377" lvl="1" indent="-448193">
              <a:buFont typeface="Arial" panose="020B0604020202020204" pitchFamily="34" charset="0"/>
              <a:buChar char="•"/>
            </a:pPr>
            <a:r>
              <a:rPr lang="en-US" sz="3137" dirty="0"/>
              <a:t>Pester</a:t>
            </a:r>
          </a:p>
          <a:p>
            <a:pPr marL="905377" lvl="1" indent="-448193">
              <a:buFont typeface="Arial" panose="020B0604020202020204" pitchFamily="34" charset="0"/>
              <a:buChar char="•"/>
            </a:pPr>
            <a:r>
              <a:rPr lang="en-US" sz="3137" dirty="0"/>
              <a:t>Moving beyond Windows: </a:t>
            </a:r>
          </a:p>
          <a:p>
            <a:pPr marL="1362560" lvl="2" indent="-448193">
              <a:buFont typeface="Arial" panose="020B0604020202020204" pitchFamily="34" charset="0"/>
              <a:buChar char="•"/>
            </a:pPr>
            <a:r>
              <a:rPr lang="en-US" sz="3137" dirty="0"/>
              <a:t>PowerShell Gallery</a:t>
            </a:r>
          </a:p>
          <a:p>
            <a:pPr marL="1362560" lvl="2" indent="-448193">
              <a:buFont typeface="Arial" panose="020B0604020202020204" pitchFamily="34" charset="0"/>
              <a:buChar char="•"/>
            </a:pPr>
            <a:r>
              <a:rPr lang="en-US" sz="3137" dirty="0"/>
              <a:t>Azure Automation</a:t>
            </a:r>
          </a:p>
          <a:p>
            <a:endParaRPr lang="en-US" sz="3137" dirty="0"/>
          </a:p>
          <a:p>
            <a:endParaRPr lang="en-US" sz="4312" dirty="0"/>
          </a:p>
          <a:p>
            <a:pPr lvl="1"/>
            <a:endParaRPr lang="en-US" sz="2745" dirty="0"/>
          </a:p>
        </p:txBody>
      </p:sp>
      <p:sp>
        <p:nvSpPr>
          <p:cNvPr id="4" name="Title 3"/>
          <p:cNvSpPr>
            <a:spLocks noGrp="1"/>
          </p:cNvSpPr>
          <p:nvPr>
            <p:ph type="title"/>
          </p:nvPr>
        </p:nvSpPr>
        <p:spPr>
          <a:xfrm>
            <a:off x="646113" y="453141"/>
            <a:ext cx="9857309" cy="809500"/>
          </a:xfrm>
        </p:spPr>
        <p:txBody>
          <a:bodyPr/>
          <a:lstStyle/>
          <a:p>
            <a:r>
              <a:rPr lang="en-US" sz="4704" b="1" dirty="0"/>
              <a:t>PowerShell Sustained Investment</a:t>
            </a:r>
          </a:p>
        </p:txBody>
      </p:sp>
    </p:spTree>
    <p:extLst>
      <p:ext uri="{BB962C8B-B14F-4D97-AF65-F5344CB8AC3E}">
        <p14:creationId xmlns:p14="http://schemas.microsoft.com/office/powerpoint/2010/main" val="2026685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69239" y="1860257"/>
            <a:ext cx="11651870" cy="4332720"/>
          </a:xfrm>
        </p:spPr>
        <p:txBody>
          <a:bodyPr/>
          <a:lstStyle/>
          <a:p>
            <a:r>
              <a:rPr lang="en-US" sz="2353" dirty="0"/>
              <a:t>Availability of PowerShell on Linux and Mac</a:t>
            </a:r>
          </a:p>
          <a:p>
            <a:pPr lvl="1"/>
            <a:r>
              <a:rPr lang="en-US" sz="2353" dirty="0"/>
              <a:t>Ubuntu 14.04/16.04</a:t>
            </a:r>
          </a:p>
          <a:p>
            <a:pPr lvl="1"/>
            <a:r>
              <a:rPr lang="en-US" sz="2353" dirty="0"/>
              <a:t>CentOS 7.1</a:t>
            </a:r>
          </a:p>
          <a:p>
            <a:pPr lvl="1"/>
            <a:r>
              <a:rPr lang="en-US" sz="2353" dirty="0"/>
              <a:t>RHEL 7</a:t>
            </a:r>
          </a:p>
          <a:p>
            <a:pPr lvl="1"/>
            <a:r>
              <a:rPr lang="en-US" sz="2353" dirty="0"/>
              <a:t>Mac OS X 10.11</a:t>
            </a:r>
          </a:p>
          <a:p>
            <a:r>
              <a:rPr lang="en-US" sz="2353" dirty="0"/>
              <a:t>We’re open sourcing Windows PowerShell (.NET) and PowerShell Core (.NET Core)</a:t>
            </a:r>
          </a:p>
          <a:p>
            <a:pPr lvl="1"/>
            <a:r>
              <a:rPr lang="en-US" sz="2353" dirty="0"/>
              <a:t>Single codebase for Windows and *nix editions</a:t>
            </a:r>
          </a:p>
          <a:p>
            <a:pPr lvl="1"/>
            <a:r>
              <a:rPr lang="en-US" sz="2353" dirty="0"/>
              <a:t>Alpha / developer preview builds w/ community support</a:t>
            </a:r>
          </a:p>
          <a:p>
            <a:pPr lvl="1"/>
            <a:r>
              <a:rPr lang="en-US" sz="2353" dirty="0"/>
              <a:t>One repository: </a:t>
            </a:r>
            <a:r>
              <a:rPr lang="en-US" sz="2353" dirty="0">
                <a:hlinkClick r:id="rId3"/>
              </a:rPr>
              <a:t>https://github.com/PowerShell/PowerShell</a:t>
            </a:r>
            <a:endParaRPr lang="en-US" sz="2353" dirty="0"/>
          </a:p>
          <a:p>
            <a:pPr lvl="1"/>
            <a:r>
              <a:rPr lang="en-US" sz="2353" dirty="0"/>
              <a:t>MIT License</a:t>
            </a:r>
          </a:p>
        </p:txBody>
      </p:sp>
      <p:sp>
        <p:nvSpPr>
          <p:cNvPr id="4" name="Title 3"/>
          <p:cNvSpPr>
            <a:spLocks noGrp="1"/>
          </p:cNvSpPr>
          <p:nvPr>
            <p:ph type="title"/>
          </p:nvPr>
        </p:nvSpPr>
        <p:spPr>
          <a:xfrm>
            <a:off x="646113" y="453141"/>
            <a:ext cx="9404723" cy="809500"/>
          </a:xfrm>
        </p:spPr>
        <p:txBody>
          <a:bodyPr/>
          <a:lstStyle/>
          <a:p>
            <a:r>
              <a:rPr lang="en-US" sz="4704" b="1" dirty="0"/>
              <a:t>What’s going on</a:t>
            </a:r>
          </a:p>
        </p:txBody>
      </p:sp>
    </p:spTree>
    <p:extLst>
      <p:ext uri="{BB962C8B-B14F-4D97-AF65-F5344CB8AC3E}">
        <p14:creationId xmlns:p14="http://schemas.microsoft.com/office/powerpoint/2010/main" val="3692725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43941" y="440918"/>
            <a:ext cx="11651870" cy="5984572"/>
          </a:xfrm>
        </p:spPr>
        <p:txBody>
          <a:bodyPr/>
          <a:lstStyle/>
          <a:p>
            <a:r>
              <a:rPr lang="en-US" sz="3600" dirty="0">
                <a:solidFill>
                  <a:schemeClr val="tx1">
                    <a:lumMod val="95000"/>
                  </a:schemeClr>
                </a:solidFill>
              </a:rPr>
              <a:t>PowerShell Core enables heterogeneous management</a:t>
            </a:r>
          </a:p>
          <a:p>
            <a:pPr marL="793328" lvl="1" indent="-336145">
              <a:buFont typeface="Arial" panose="020B0604020202020204" pitchFamily="34" charset="0"/>
              <a:buChar char="•"/>
            </a:pPr>
            <a:r>
              <a:rPr lang="en-US" sz="2431" dirty="0">
                <a:solidFill>
                  <a:schemeClr val="tx1">
                    <a:lumMod val="95000"/>
                  </a:schemeClr>
                </a:solidFill>
              </a:rPr>
              <a:t>Azure, AWS, VMWare, Chef</a:t>
            </a:r>
          </a:p>
          <a:p>
            <a:pPr marL="793328" lvl="1" indent="-336145">
              <a:buFont typeface="Arial" panose="020B0604020202020204" pitchFamily="34" charset="0"/>
              <a:buChar char="•"/>
            </a:pPr>
            <a:r>
              <a:rPr lang="en-US" sz="2431" dirty="0" err="1">
                <a:solidFill>
                  <a:schemeClr val="tx1">
                    <a:lumMod val="95000"/>
                  </a:schemeClr>
                </a:solidFill>
              </a:rPr>
              <a:t>OpenSSH</a:t>
            </a:r>
            <a:r>
              <a:rPr lang="en-US" sz="2431" dirty="0">
                <a:solidFill>
                  <a:schemeClr val="tx1">
                    <a:lumMod val="95000"/>
                  </a:schemeClr>
                </a:solidFill>
              </a:rPr>
              <a:t> (including PSRP support)</a:t>
            </a:r>
          </a:p>
          <a:p>
            <a:r>
              <a:rPr lang="en-US" sz="3400" dirty="0">
                <a:solidFill>
                  <a:schemeClr val="tx1">
                    <a:lumMod val="95000"/>
                  </a:schemeClr>
                </a:solidFill>
              </a:rPr>
              <a:t>PowerShell and Microsoft are good citizens in a Linux world</a:t>
            </a:r>
          </a:p>
          <a:p>
            <a:pPr marL="793328" lvl="1" indent="-336145">
              <a:buFont typeface="Arial" panose="020B0604020202020204" pitchFamily="34" charset="0"/>
              <a:buChar char="•"/>
            </a:pPr>
            <a:r>
              <a:rPr lang="en-US" sz="2431" dirty="0">
                <a:solidFill>
                  <a:schemeClr val="tx1">
                    <a:lumMod val="95000"/>
                  </a:schemeClr>
                </a:solidFill>
              </a:rPr>
              <a:t>Easy to wrap native Linux binaries (</a:t>
            </a:r>
            <a:r>
              <a:rPr lang="en-US" sz="2431" dirty="0" err="1">
                <a:solidFill>
                  <a:schemeClr val="tx1">
                    <a:lumMod val="95000"/>
                  </a:schemeClr>
                </a:solidFill>
              </a:rPr>
              <a:t>crontab</a:t>
            </a:r>
            <a:r>
              <a:rPr lang="en-US" sz="2431" dirty="0">
                <a:solidFill>
                  <a:schemeClr val="tx1">
                    <a:lumMod val="95000"/>
                  </a:schemeClr>
                </a:solidFill>
              </a:rPr>
              <a:t>, Python) </a:t>
            </a:r>
          </a:p>
          <a:p>
            <a:pPr marL="793328" lvl="1" indent="-336145">
              <a:buFont typeface="Arial" panose="020B0604020202020204" pitchFamily="34" charset="0"/>
              <a:buChar char="•"/>
            </a:pPr>
            <a:r>
              <a:rPr lang="en-US" sz="2431" dirty="0" err="1">
                <a:solidFill>
                  <a:schemeClr val="tx1">
                    <a:lumMod val="95000"/>
                  </a:schemeClr>
                </a:solidFill>
              </a:rPr>
              <a:t>Templatizing</a:t>
            </a:r>
            <a:r>
              <a:rPr lang="en-US" sz="2431" dirty="0">
                <a:solidFill>
                  <a:schemeClr val="tx1">
                    <a:lumMod val="95000"/>
                  </a:schemeClr>
                </a:solidFill>
              </a:rPr>
              <a:t> configuration files (Apache)</a:t>
            </a:r>
          </a:p>
          <a:p>
            <a:pPr marL="793328" lvl="1" indent="-336145">
              <a:buFont typeface="Arial" panose="020B0604020202020204" pitchFamily="34" charset="0"/>
              <a:buChar char="•"/>
            </a:pPr>
            <a:r>
              <a:rPr lang="en-US" sz="2431" dirty="0">
                <a:solidFill>
                  <a:schemeClr val="tx1">
                    <a:lumMod val="95000"/>
                  </a:schemeClr>
                </a:solidFill>
              </a:rPr>
              <a:t>Editor Services working with multiple editors (VS Code, Sublime Text)</a:t>
            </a:r>
          </a:p>
          <a:p>
            <a:r>
              <a:rPr lang="en-US" sz="4000" dirty="0">
                <a:solidFill>
                  <a:schemeClr val="tx1">
                    <a:lumMod val="95000"/>
                  </a:schemeClr>
                </a:solidFill>
              </a:rPr>
              <a:t>PowerShell is cool and unique</a:t>
            </a:r>
          </a:p>
          <a:p>
            <a:pPr marL="737304" lvl="1" indent="-280121">
              <a:buFont typeface="Arial" panose="020B0604020202020204" pitchFamily="34" charset="0"/>
              <a:buChar char="•"/>
            </a:pPr>
            <a:r>
              <a:rPr lang="en-US" dirty="0"/>
              <a:t>Structured data as objects</a:t>
            </a:r>
          </a:p>
          <a:p>
            <a:pPr marL="737304" lvl="1" indent="-280121">
              <a:buFont typeface="Arial" panose="020B0604020202020204" pitchFamily="34" charset="0"/>
              <a:buChar char="•"/>
            </a:pPr>
            <a:r>
              <a:rPr lang="en-US" dirty="0"/>
              <a:t>REALLY easy to wrap native Linux binaries that output JSON (</a:t>
            </a:r>
            <a:r>
              <a:rPr lang="en-US" dirty="0" err="1"/>
              <a:t>journalctl</a:t>
            </a:r>
            <a:r>
              <a:rPr lang="en-US" dirty="0"/>
              <a:t>)</a:t>
            </a:r>
          </a:p>
          <a:p>
            <a:pPr marL="737304" lvl="1" indent="-280121">
              <a:buFont typeface="Arial" panose="020B0604020202020204" pitchFamily="34" charset="0"/>
              <a:buChar char="•"/>
            </a:pPr>
            <a:r>
              <a:rPr lang="en-US" dirty="0"/>
              <a:t>Awesome as a REST shell</a:t>
            </a:r>
          </a:p>
          <a:p>
            <a:pPr lvl="1"/>
            <a:endParaRPr lang="en-US" dirty="0"/>
          </a:p>
          <a:p>
            <a:pPr lvl="1"/>
            <a:endParaRPr lang="en-US" dirty="0"/>
          </a:p>
        </p:txBody>
      </p:sp>
    </p:spTree>
    <p:extLst>
      <p:ext uri="{BB962C8B-B14F-4D97-AF65-F5344CB8AC3E}">
        <p14:creationId xmlns:p14="http://schemas.microsoft.com/office/powerpoint/2010/main" val="3097948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8596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3|6.3|10.2"/>
</p:tagLst>
</file>

<file path=ppt/tags/tag2.xml><?xml version="1.0" encoding="utf-8"?>
<p:tagLst xmlns:a="http://schemas.openxmlformats.org/drawingml/2006/main" xmlns:r="http://schemas.openxmlformats.org/officeDocument/2006/relationships" xmlns:p="http://schemas.openxmlformats.org/presentationml/2006/main">
  <p:tag name="TIMING" val="|1.3|6.3|10.2"/>
</p:tagLst>
</file>

<file path=ppt/tags/tag3.xml><?xml version="1.0" encoding="utf-8"?>
<p:tagLst xmlns:a="http://schemas.openxmlformats.org/drawingml/2006/main" xmlns:r="http://schemas.openxmlformats.org/officeDocument/2006/relationships" xmlns:p="http://schemas.openxmlformats.org/presentationml/2006/main">
  <p:tag name="TIMING" val="|1.3|6.3|10.2"/>
</p:tagLst>
</file>

<file path=ppt/tags/tag4.xml><?xml version="1.0" encoding="utf-8"?>
<p:tagLst xmlns:a="http://schemas.openxmlformats.org/drawingml/2006/main" xmlns:r="http://schemas.openxmlformats.org/officeDocument/2006/relationships" xmlns:p="http://schemas.openxmlformats.org/presentationml/2006/main">
  <p:tag name="TIMING" val="|1.3|6.3|10.2"/>
</p:tagLst>
</file>

<file path=ppt/tags/tag5.xml><?xml version="1.0" encoding="utf-8"?>
<p:tagLst xmlns:a="http://schemas.openxmlformats.org/drawingml/2006/main" xmlns:r="http://schemas.openxmlformats.org/officeDocument/2006/relationships" xmlns:p="http://schemas.openxmlformats.org/presentationml/2006/main">
  <p:tag name="TIMING" val="|1.3|6.3|10.2"/>
</p:tagLst>
</file>

<file path=ppt/tags/tag6.xml><?xml version="1.0" encoding="utf-8"?>
<p:tagLst xmlns:a="http://schemas.openxmlformats.org/drawingml/2006/main" xmlns:r="http://schemas.openxmlformats.org/officeDocument/2006/relationships" xmlns:p="http://schemas.openxmlformats.org/presentationml/2006/main">
  <p:tag name="TIMING" val="|1.3|6.3|10.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7263</TotalTime>
  <Words>3703</Words>
  <Application>Microsoft Office PowerPoint</Application>
  <PresentationFormat>Widescreen</PresentationFormat>
  <Paragraphs>548</Paragraphs>
  <Slides>46</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Century Gothic</vt:lpstr>
      <vt:lpstr>Segoe UI</vt:lpstr>
      <vt:lpstr>Segoe UI Light</vt:lpstr>
      <vt:lpstr>Wingdings</vt:lpstr>
      <vt:lpstr>Wingdings 3</vt:lpstr>
      <vt:lpstr>Ion</vt:lpstr>
      <vt:lpstr>Configuration Management with Azure Automation DSC</vt:lpstr>
      <vt:lpstr>Session Objectives And Takeaways</vt:lpstr>
      <vt:lpstr>The Problem*</vt:lpstr>
      <vt:lpstr>The Problem – In Detail</vt:lpstr>
      <vt:lpstr>Azure Automation Overview</vt:lpstr>
      <vt:lpstr>Process &amp; desired state automation that simplifies cloud &amp; on-premises management</vt:lpstr>
      <vt:lpstr>Operations Management Suite</vt:lpstr>
      <vt:lpstr>PowerShell++</vt:lpstr>
      <vt:lpstr>PowerShell, as a service</vt:lpstr>
      <vt:lpstr>Automation Features</vt:lpstr>
      <vt:lpstr>Browse Runbook Gallery</vt:lpstr>
      <vt:lpstr>Import Module from Gallery</vt:lpstr>
      <vt:lpstr>PowerShell ISE Add-On</vt:lpstr>
      <vt:lpstr>Source Control</vt:lpstr>
      <vt:lpstr>Downsides to only using Runbooks</vt:lpstr>
      <vt:lpstr>Azure Automation DSC</vt:lpstr>
      <vt:lpstr>PowerShell Desired State Configuration: Overview</vt:lpstr>
      <vt:lpstr>PS DSC configuration management</vt:lpstr>
      <vt:lpstr>Configuration and Continuous Deployment</vt:lpstr>
      <vt:lpstr>PowerShell DSC Lifecycle</vt:lpstr>
      <vt:lpstr>PowerShell DSC</vt:lpstr>
      <vt:lpstr>Can PowerShell DSC be used at enterprise scale?</vt:lpstr>
      <vt:lpstr>Using PS DSC requires management of lots of items</vt:lpstr>
      <vt:lpstr>Not manageable at scale</vt:lpstr>
      <vt:lpstr>Azure Automation DSC</vt:lpstr>
      <vt:lpstr>Azure Automation DSC</vt:lpstr>
      <vt:lpstr>Azure Automation DSC</vt:lpstr>
      <vt:lpstr>Azure Automation Resource Tree</vt:lpstr>
      <vt:lpstr>Configuring Automation DSC</vt:lpstr>
      <vt:lpstr>Finding new DSC Resources</vt:lpstr>
      <vt:lpstr>DSC and Runbooks – better together</vt:lpstr>
      <vt:lpstr>Azure Resource Manager templates vs DSC</vt:lpstr>
      <vt:lpstr>Onboarding Linux/On-Prem</vt:lpstr>
      <vt:lpstr>Requirements for DSC for Linux</vt:lpstr>
      <vt:lpstr>Installing PowerShell DSC for Linux</vt:lpstr>
      <vt:lpstr>Use Register.py to onboard</vt:lpstr>
      <vt:lpstr>Azure DSC Gotachas</vt:lpstr>
      <vt:lpstr>In Review</vt:lpstr>
      <vt:lpstr>Join the Monthly Automation calls  If interested, see us later to be added to the monthly invite. </vt:lpstr>
      <vt:lpstr>  OMS Team blog</vt:lpstr>
      <vt:lpstr>Try OMS</vt:lpstr>
      <vt:lpstr>PowerShell Open Source </vt:lpstr>
      <vt:lpstr>PowerShell Sustained Investment</vt:lpstr>
      <vt:lpstr>What’s going 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PowerShell Summit Europe 2015</dc:title>
  <dc:creator>Mark Gray</dc:creator>
  <cp:lastModifiedBy>ed wilson</cp:lastModifiedBy>
  <cp:revision>202</cp:revision>
  <dcterms:created xsi:type="dcterms:W3CDTF">2015-09-04T18:13:43Z</dcterms:created>
  <dcterms:modified xsi:type="dcterms:W3CDTF">2016-08-21T15:33:15Z</dcterms:modified>
</cp:coreProperties>
</file>